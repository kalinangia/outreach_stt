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56" r:id="rId2"/>
    <p:sldId id="290" r:id="rId3"/>
    <p:sldId id="291" r:id="rId4"/>
    <p:sldId id="292" r:id="rId5"/>
    <p:sldId id="293" r:id="rId6"/>
    <p:sldId id="294" r:id="rId7"/>
    <p:sldId id="295" r:id="rId8"/>
    <p:sldId id="286" r:id="rId9"/>
    <p:sldId id="285" r:id="rId10"/>
    <p:sldId id="287" r:id="rId11"/>
    <p:sldId id="288" r:id="rId12"/>
    <p:sldId id="257" r:id="rId13"/>
    <p:sldId id="258" r:id="rId14"/>
    <p:sldId id="259" r:id="rId15"/>
    <p:sldId id="260" r:id="rId16"/>
    <p:sldId id="261" r:id="rId17"/>
    <p:sldId id="262" r:id="rId18"/>
    <p:sldId id="263" r:id="rId19"/>
    <p:sldId id="276" r:id="rId20"/>
    <p:sldId id="264" r:id="rId21"/>
    <p:sldId id="265" r:id="rId22"/>
    <p:sldId id="266" r:id="rId23"/>
    <p:sldId id="267" r:id="rId24"/>
    <p:sldId id="268" r:id="rId25"/>
    <p:sldId id="269" r:id="rId26"/>
    <p:sldId id="270" r:id="rId27"/>
    <p:sldId id="271" r:id="rId28"/>
    <p:sldId id="272" r:id="rId29"/>
    <p:sldId id="273" r:id="rId30"/>
    <p:sldId id="274" r:id="rId31"/>
    <p:sldId id="278" r:id="rId32"/>
    <p:sldId id="277" r:id="rId33"/>
    <p:sldId id="280" r:id="rId34"/>
    <p:sldId id="296" r:id="rId35"/>
    <p:sldId id="284" r:id="rId36"/>
    <p:sldId id="297" r:id="rId37"/>
    <p:sldId id="299" r:id="rId38"/>
    <p:sldId id="298" r:id="rId39"/>
    <p:sldId id="281" r:id="rId40"/>
    <p:sldId id="289" r:id="rId41"/>
    <p:sldId id="282" r:id="rId42"/>
    <p:sldId id="283" r:id="rId4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5167B71-3CE5-49A7-BA21-D6DE4F018A52}">
          <p14:sldIdLst>
            <p14:sldId id="256"/>
            <p14:sldId id="290"/>
            <p14:sldId id="291"/>
            <p14:sldId id="292"/>
            <p14:sldId id="293"/>
            <p14:sldId id="294"/>
            <p14:sldId id="295"/>
            <p14:sldId id="286"/>
            <p14:sldId id="285"/>
            <p14:sldId id="287"/>
            <p14:sldId id="288"/>
            <p14:sldId id="257"/>
          </p14:sldIdLst>
        </p14:section>
        <p14:section name="Untitled Section" id="{4912165F-D97A-42EC-8EB2-22D400344855}">
          <p14:sldIdLst>
            <p14:sldId id="258"/>
            <p14:sldId id="259"/>
            <p14:sldId id="260"/>
            <p14:sldId id="261"/>
            <p14:sldId id="262"/>
            <p14:sldId id="263"/>
            <p14:sldId id="276"/>
            <p14:sldId id="264"/>
            <p14:sldId id="265"/>
            <p14:sldId id="266"/>
            <p14:sldId id="267"/>
            <p14:sldId id="268"/>
            <p14:sldId id="269"/>
            <p14:sldId id="270"/>
            <p14:sldId id="271"/>
            <p14:sldId id="272"/>
            <p14:sldId id="273"/>
            <p14:sldId id="274"/>
            <p14:sldId id="278"/>
            <p14:sldId id="277"/>
            <p14:sldId id="280"/>
            <p14:sldId id="296"/>
            <p14:sldId id="284"/>
            <p14:sldId id="297"/>
            <p14:sldId id="299"/>
            <p14:sldId id="298"/>
            <p14:sldId id="281"/>
            <p14:sldId id="289"/>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D9EA2E-752A-41CD-A91B-BE0275281382}" v="7" dt="2026-07-14T05:49:32.6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54"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IN" dirty="0">
                <a:solidFill>
                  <a:schemeClr val="tx2"/>
                </a:solidFill>
              </a:rPr>
              <a:t>Consensus WER</a:t>
            </a:r>
          </a:p>
        </c:rich>
      </c:tx>
      <c:overlay val="0"/>
    </c:title>
    <c:autoTitleDeleted val="0"/>
    <c:plotArea>
      <c:layout/>
      <c:barChart>
        <c:barDir val="bar"/>
        <c:grouping val="clustered"/>
        <c:varyColors val="1"/>
        <c:ser>
          <c:idx val="0"/>
          <c:order val="0"/>
          <c:tx>
            <c:strRef>
              <c:f>Sheet1!$B$1</c:f>
              <c:strCache>
                <c:ptCount val="1"/>
                <c:pt idx="0">
                  <c:v>Consensus WER</c:v>
                </c:pt>
              </c:strCache>
            </c:strRef>
          </c:tx>
          <c:invertIfNegative val="1"/>
          <c:cat>
            <c:strRef>
              <c:f>Sheet1!$A$2:$A$6</c:f>
              <c:strCache>
                <c:ptCount val="5"/>
                <c:pt idx="0">
                  <c:v>Garden2006 (Large Turbo)</c:v>
                </c:pt>
                <c:pt idx="1">
                  <c:v>abhi8799 (Large Turbo)</c:v>
                </c:pt>
                <c:pt idx="2">
                  <c:v>KaliNangia (Large Turbo)</c:v>
                </c:pt>
                <c:pt idx="3">
                  <c:v>KaliNangia (Medium)</c:v>
                </c:pt>
                <c:pt idx="4">
                  <c:v>abhi8799 (Small)</c:v>
                </c:pt>
              </c:strCache>
            </c:strRef>
          </c:cat>
          <c:val>
            <c:numRef>
              <c:f>Sheet1!$B$2:$B$6</c:f>
              <c:numCache>
                <c:formatCode>General</c:formatCode>
                <c:ptCount val="5"/>
                <c:pt idx="0">
                  <c:v>6.88E-2</c:v>
                </c:pt>
                <c:pt idx="1">
                  <c:v>0.58879999999999999</c:v>
                </c:pt>
                <c:pt idx="2">
                  <c:v>0.67569999999999997</c:v>
                </c:pt>
                <c:pt idx="3">
                  <c:v>0.73460000000000003</c:v>
                </c:pt>
                <c:pt idx="4">
                  <c:v>0.8659</c:v>
                </c:pt>
              </c:numCache>
            </c:numRef>
          </c:val>
          <c:extLst>
            <c:ext xmlns:c16="http://schemas.microsoft.com/office/drawing/2014/chart" uri="{C3380CC4-5D6E-409C-BE32-E72D297353CC}">
              <c16:uniqueId val="{00000000-6367-4BB0-86D5-4E3BC87F1730}"/>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200">
                <a:solidFill>
                  <a:srgbClr val="94A3B8"/>
                </a:solidFill>
                <a:latin typeface="Lato"/>
              </a:defRPr>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txPr>
          <a:bodyPr/>
          <a:lstStyle/>
          <a:p>
            <a:pPr>
              <a:defRPr sz="1200">
                <a:solidFill>
                  <a:srgbClr val="94A3B8"/>
                </a:solidFill>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5374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A2A4D-6C16-FD83-13D3-74E2E1AF90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B18C35-7B18-23A8-0779-ED19F19BC1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DF8F41-690A-EC18-6A1F-6FF569EC28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9D0A24-F1A6-FF0C-7E57-43214D097720}"/>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6076114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5B03C-F85B-7540-EA21-49F25C96AE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AF6369-86B8-BEA9-FE43-1730715B23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ACD8A4-0573-9AF9-2B32-22E0A6F601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D8CA47-D9A4-AB5E-D5B3-43F8A39EEB61}"/>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7831911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D2676-D4D4-BF27-D186-D4B7DB7337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EF3FB6-CFA4-4E79-A842-B927E15724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CE28E5-528D-3783-E073-895F9D87BE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922C44-5AC4-84A5-751B-BDD718BA57F2}"/>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0431595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C6274-94E2-2962-3FE8-2185E03259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C45DF8-9076-A1FB-0AE1-3CFFFAB1EE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D66D53-5DE5-98BB-1F18-75AB7E0B69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E13D9B-2741-103D-1CF0-3FD6D23088F1}"/>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6762442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B2CDC-76E7-058C-EA37-BDCD4B77BB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1574E3-FF08-D8D0-E201-0BADF7939F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27ADF0-3351-A26C-27EC-68BA4C9341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D1489D-BC9D-7930-9E03-1DC663581507}"/>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7536233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409EE-56E8-1C9C-0F28-32070EA478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40772A-AB1C-B4BE-0AA6-5ADFAD7B14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36CA29-55E5-6662-DD8D-12FB9B968E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64E69A-F626-FDF3-E7A0-5E89BDCFD393}"/>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30229823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F2C4B-F90C-A25B-1146-1A203FFB7C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015947-55A7-D231-6517-BF4581DA53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9421BC-2C6C-1A2D-A68E-F08ECE79F9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1DD4E7-1E18-CD28-DC48-A10B44C42E15}"/>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30567840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B9FD5-6CC6-51DF-0CDA-5ACFBD75F8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B831F-09EE-9817-7A86-09CCD7BFE1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40139E-DB8D-114F-46BD-1205BDF60C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4B3B60-104B-1F4D-4B7D-65FFC0DB06EC}"/>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39944255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C3DD6-57A5-FA5C-52C7-F29167620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11D268-11C7-F9CA-4997-3766260211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6B8D61-98E5-62CA-AE85-AE9A362901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7152B1-ED3E-A3B4-4369-E2DAF2145678}"/>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42288801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9F4A5-C8AD-5848-CECE-C293B2FB4A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F0D8D8-1A40-2CA5-EEAA-EDB4049FB4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16C556-4453-FFE4-877C-12FCC04A4F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227E8C-3E25-F557-12EA-48C171132F1D}"/>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5310402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1A47D-6F5D-7A07-91F2-D74E7A46E4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F633C8-6A31-9311-1DFC-C9E3E8BB7F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9EBD0B-5F18-7C26-66E6-4B25E4516D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2C7BB0-8B58-F0E4-8CFA-59A008AD5C1C}"/>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33021150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938CB-A428-5FE9-A43B-C9510794A4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6D1333-0BCF-CABA-6D8F-9DED937149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4866EC-768A-23F9-E198-DC1D3A4C63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DBB0C4-ED74-E3B9-308D-79EC6BEDAF99}"/>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29396921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F3E86-966B-C2E3-F3EE-31C0F3250C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5C90AC-1B05-162B-A22A-10FD17649D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EB9C81-2577-23AA-AB75-BEE94C00D4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CE6D95-25EA-88CA-19B9-2B0B7EB3AA5C}"/>
              </a:ext>
            </a:extLst>
          </p:cNvPr>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26015482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5C7DE-33B8-8EB6-DF49-ACD81A9CF4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1D1377-BDD1-6307-2BF1-34E7834622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32775E-094D-9E4C-1B7F-5C5A7823A3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D3E322-B25E-F6CB-6006-1357B429EA7B}"/>
              </a:ext>
            </a:extLst>
          </p:cNvPr>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3438550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9"/>
        </a:solidFill>
        <a:effectLst/>
      </p:bgPr>
    </p:bg>
    <p:spTree>
      <p:nvGrpSpPr>
        <p:cNvPr id="1" name=""/>
        <p:cNvGrpSpPr/>
        <p:nvPr/>
      </p:nvGrpSpPr>
      <p:grpSpPr>
        <a:xfrm>
          <a:off x="0" y="0"/>
          <a:ext cx="0" cy="0"/>
          <a:chOff x="0" y="0"/>
          <a:chExt cx="0" cy="0"/>
        </a:xfrm>
      </p:grpSpPr>
      <p:sp>
        <p:nvSpPr>
          <p:cNvPr id="2" name="Text 0"/>
          <p:cNvSpPr/>
          <p:nvPr/>
        </p:nvSpPr>
        <p:spPr>
          <a:xfrm>
            <a:off x="-420414" y="1668780"/>
            <a:ext cx="10332720" cy="1828800"/>
          </a:xfrm>
          <a:prstGeom prst="rect">
            <a:avLst/>
          </a:prstGeom>
          <a:noFill/>
          <a:ln/>
        </p:spPr>
        <p:txBody>
          <a:bodyPr wrap="square" rtlCol="0" anchor="ctr"/>
          <a:lstStyle/>
          <a:p>
            <a:pPr marL="0" indent="0" algn="ctr">
              <a:buNone/>
            </a:pPr>
            <a:endParaRPr lang="en-US" sz="4400" dirty="0"/>
          </a:p>
        </p:txBody>
      </p:sp>
      <p:sp>
        <p:nvSpPr>
          <p:cNvPr id="3" name="Text 1"/>
          <p:cNvSpPr/>
          <p:nvPr/>
        </p:nvSpPr>
        <p:spPr>
          <a:xfrm>
            <a:off x="914400" y="3474720"/>
            <a:ext cx="10332720" cy="731520"/>
          </a:xfrm>
          <a:prstGeom prst="rect">
            <a:avLst/>
          </a:prstGeom>
          <a:noFill/>
          <a:ln/>
        </p:spPr>
        <p:txBody>
          <a:bodyPr wrap="square" rtlCol="0" anchor="ctr"/>
          <a:lstStyle/>
          <a:p>
            <a:pPr marL="0" indent="0" algn="ctr">
              <a:buNone/>
            </a:pPr>
            <a:endParaRPr lang="en-US" sz="1800" dirty="0"/>
          </a:p>
        </p:txBody>
      </p:sp>
      <p:sp>
        <p:nvSpPr>
          <p:cNvPr id="4" name="Text 2"/>
          <p:cNvSpPr/>
          <p:nvPr/>
        </p:nvSpPr>
        <p:spPr>
          <a:xfrm>
            <a:off x="320040" y="388620"/>
            <a:ext cx="8503920" cy="548640"/>
          </a:xfrm>
          <a:prstGeom prst="rect">
            <a:avLst/>
          </a:prstGeom>
          <a:solidFill>
            <a:srgbClr val="162238"/>
          </a:solidFill>
          <a:ln/>
        </p:spPr>
        <p:txBody>
          <a:bodyPr wrap="square" rtlCol="0" anchor="ctr"/>
          <a:lstStyle/>
          <a:p>
            <a:pPr marL="0" indent="0" algn="ctr">
              <a:buNone/>
            </a:pPr>
            <a:r>
              <a:rPr lang="en-US" sz="2000" b="1" dirty="0">
                <a:solidFill>
                  <a:schemeClr val="bg1"/>
                </a:solidFill>
              </a:rPr>
              <a:t>Summer Internship</a:t>
            </a:r>
          </a:p>
        </p:txBody>
      </p:sp>
      <p:sp>
        <p:nvSpPr>
          <p:cNvPr id="5" name="TextBox 4">
            <a:extLst>
              <a:ext uri="{FF2B5EF4-FFF2-40B4-BE49-F238E27FC236}">
                <a16:creationId xmlns:a16="http://schemas.microsoft.com/office/drawing/2014/main" id="{6BB900E7-8B6D-E0EE-1441-373996AAF362}"/>
              </a:ext>
            </a:extLst>
          </p:cNvPr>
          <p:cNvSpPr txBox="1"/>
          <p:nvPr/>
        </p:nvSpPr>
        <p:spPr>
          <a:xfrm>
            <a:off x="1416205" y="1561171"/>
            <a:ext cx="6311590" cy="369332"/>
          </a:xfrm>
          <a:prstGeom prst="rect">
            <a:avLst/>
          </a:prstGeom>
          <a:noFill/>
        </p:spPr>
        <p:txBody>
          <a:bodyPr wrap="square" rtlCol="0">
            <a:spAutoFit/>
          </a:bodyPr>
          <a:lstStyle/>
          <a:p>
            <a:pPr algn="ctr"/>
            <a:r>
              <a:rPr lang="en-IN" dirty="0">
                <a:solidFill>
                  <a:schemeClr val="bg1"/>
                </a:solidFill>
              </a:rPr>
              <a:t>18</a:t>
            </a:r>
            <a:r>
              <a:rPr lang="en-IN" baseline="30000" dirty="0">
                <a:solidFill>
                  <a:schemeClr val="bg1"/>
                </a:solidFill>
              </a:rPr>
              <a:t>th</a:t>
            </a:r>
            <a:r>
              <a:rPr lang="en-IN" dirty="0">
                <a:solidFill>
                  <a:schemeClr val="bg1"/>
                </a:solidFill>
              </a:rPr>
              <a:t> May, 2026 – 17</a:t>
            </a:r>
            <a:r>
              <a:rPr lang="en-IN" baseline="30000" dirty="0">
                <a:solidFill>
                  <a:schemeClr val="bg1"/>
                </a:solidFill>
              </a:rPr>
              <a:t>th</a:t>
            </a:r>
            <a:r>
              <a:rPr lang="en-IN" dirty="0">
                <a:solidFill>
                  <a:schemeClr val="bg1"/>
                </a:solidFill>
              </a:rPr>
              <a:t> July,2026</a:t>
            </a:r>
          </a:p>
        </p:txBody>
      </p:sp>
      <p:sp>
        <p:nvSpPr>
          <p:cNvPr id="6" name="TextBox 5">
            <a:extLst>
              <a:ext uri="{FF2B5EF4-FFF2-40B4-BE49-F238E27FC236}">
                <a16:creationId xmlns:a16="http://schemas.microsoft.com/office/drawing/2014/main" id="{4C96D9A8-DA5F-172D-DC60-DDBF1B790F77}"/>
              </a:ext>
            </a:extLst>
          </p:cNvPr>
          <p:cNvSpPr txBox="1"/>
          <p:nvPr/>
        </p:nvSpPr>
        <p:spPr>
          <a:xfrm>
            <a:off x="914400" y="2122470"/>
            <a:ext cx="6311590" cy="369332"/>
          </a:xfrm>
          <a:prstGeom prst="rect">
            <a:avLst/>
          </a:prstGeom>
          <a:noFill/>
        </p:spPr>
        <p:txBody>
          <a:bodyPr wrap="square" rtlCol="0">
            <a:spAutoFit/>
          </a:bodyPr>
          <a:lstStyle/>
          <a:p>
            <a:pPr algn="ctr"/>
            <a:r>
              <a:rPr lang="en-IN" dirty="0">
                <a:solidFill>
                  <a:schemeClr val="bg1"/>
                </a:solidFill>
              </a:rPr>
              <a:t>Team Members : Abhishek Sinha, Kali Nangia, M. Akshay Kumar</a:t>
            </a:r>
          </a:p>
        </p:txBody>
      </p:sp>
      <p:sp>
        <p:nvSpPr>
          <p:cNvPr id="8" name="TextBox 7">
            <a:extLst>
              <a:ext uri="{FF2B5EF4-FFF2-40B4-BE49-F238E27FC236}">
                <a16:creationId xmlns:a16="http://schemas.microsoft.com/office/drawing/2014/main" id="{35CB84CB-7B61-108E-E0B8-E1986C6DB7EB}"/>
              </a:ext>
            </a:extLst>
          </p:cNvPr>
          <p:cNvSpPr txBox="1"/>
          <p:nvPr/>
        </p:nvSpPr>
        <p:spPr>
          <a:xfrm>
            <a:off x="977900" y="2693413"/>
            <a:ext cx="5965902" cy="369332"/>
          </a:xfrm>
          <a:prstGeom prst="rect">
            <a:avLst/>
          </a:prstGeom>
          <a:noFill/>
        </p:spPr>
        <p:txBody>
          <a:bodyPr wrap="square" rtlCol="0">
            <a:spAutoFit/>
          </a:bodyPr>
          <a:lstStyle/>
          <a:p>
            <a:pPr algn="ctr"/>
            <a:r>
              <a:rPr lang="en-IN" dirty="0">
                <a:solidFill>
                  <a:schemeClr val="bg1"/>
                </a:solidFill>
              </a:rPr>
              <a:t>            Reporting Manager : Karan Choudhary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365760"/>
          </a:xfrm>
          <a:prstGeom prst="rect">
            <a:avLst/>
          </a:prstGeom>
          <a:noFill/>
        </p:spPr>
        <p:txBody>
          <a:bodyPr wrap="square" lIns="0" tIns="0" rIns="0" bIns="0">
            <a:spAutoFit/>
          </a:bodyPr>
          <a:lstStyle/>
          <a:p>
            <a:r>
              <a:rPr sz="1000" b="1">
                <a:solidFill>
                  <a:srgbClr val="0D9488"/>
                </a:solidFill>
                <a:latin typeface="Calibri"/>
              </a:rPr>
              <a:t>PROJECT FOUNDATIONS</a:t>
            </a:r>
          </a:p>
        </p:txBody>
      </p:sp>
      <p:sp>
        <p:nvSpPr>
          <p:cNvPr id="3" name="TextBox 2"/>
          <p:cNvSpPr txBox="1"/>
          <p:nvPr/>
        </p:nvSpPr>
        <p:spPr>
          <a:xfrm>
            <a:off x="548640" y="594360"/>
            <a:ext cx="11064240" cy="731520"/>
          </a:xfrm>
          <a:prstGeom prst="rect">
            <a:avLst/>
          </a:prstGeom>
          <a:noFill/>
        </p:spPr>
        <p:txBody>
          <a:bodyPr wrap="square" lIns="0" tIns="0" rIns="0" bIns="0">
            <a:spAutoFit/>
          </a:bodyPr>
          <a:lstStyle/>
          <a:p>
            <a:r>
              <a:rPr sz="2800" b="1">
                <a:solidFill>
                  <a:srgbClr val="FFFFFF"/>
                </a:solidFill>
                <a:latin typeface="Trebuchet MS"/>
              </a:rPr>
              <a:t>Project Context &amp; Key Actors</a:t>
            </a:r>
          </a:p>
        </p:txBody>
      </p:sp>
      <p:sp>
        <p:nvSpPr>
          <p:cNvPr id="4" name="Rounded Rectangle 3"/>
          <p:cNvSpPr/>
          <p:nvPr/>
        </p:nvSpPr>
        <p:spPr>
          <a:xfrm>
            <a:off x="148641" y="1364100"/>
            <a:ext cx="2912060" cy="2900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41441" y="1650000"/>
            <a:ext cx="2717660" cy="1544012"/>
          </a:xfrm>
          <a:prstGeom prst="rect">
            <a:avLst/>
          </a:prstGeom>
          <a:noFill/>
        </p:spPr>
        <p:txBody>
          <a:bodyPr wrap="square" lIns="0" tIns="0" rIns="0" bIns="0">
            <a:spAutoFit/>
          </a:bodyPr>
          <a:lstStyle/>
          <a:p>
            <a:pPr>
              <a:spcAft>
                <a:spcPts val="1000"/>
              </a:spcAft>
            </a:pPr>
            <a:r>
              <a:rPr sz="1400" b="1" dirty="0">
                <a:solidFill>
                  <a:srgbClr val="FFFFFF"/>
                </a:solidFill>
                <a:latin typeface="Trebuchet MS"/>
              </a:rPr>
              <a:t>Akshay (Developer)</a:t>
            </a:r>
          </a:p>
          <a:p>
            <a:pPr>
              <a:spcAft>
                <a:spcPts val="600"/>
              </a:spcAft>
            </a:pPr>
            <a:r>
              <a:rPr sz="1050" dirty="0">
                <a:solidFill>
                  <a:srgbClr val="CBD5E1"/>
                </a:solidFill>
                <a:latin typeface="Calibri"/>
              </a:rPr>
              <a:t>•  Operator of the end-to-end engineering pipeline.</a:t>
            </a:r>
          </a:p>
          <a:p>
            <a:pPr>
              <a:spcAft>
                <a:spcPts val="600"/>
              </a:spcAft>
            </a:pPr>
            <a:r>
              <a:rPr sz="1050" dirty="0">
                <a:solidFill>
                  <a:srgbClr val="CBD5E1"/>
                </a:solidFill>
                <a:latin typeface="Calibri"/>
              </a:rPr>
              <a:t>•  Runs </a:t>
            </a:r>
            <a:r>
              <a:rPr sz="1050" dirty="0" err="1">
                <a:solidFill>
                  <a:srgbClr val="CBD5E1"/>
                </a:solidFill>
                <a:latin typeface="Calibri"/>
              </a:rPr>
              <a:t>yt_dlp</a:t>
            </a:r>
            <a:r>
              <a:rPr sz="1050" dirty="0">
                <a:solidFill>
                  <a:srgbClr val="CBD5E1"/>
                </a:solidFill>
                <a:latin typeface="Calibri"/>
              </a:rPr>
              <a:t> streams &amp; raw audio ingestion.</a:t>
            </a:r>
          </a:p>
          <a:p>
            <a:pPr>
              <a:spcAft>
                <a:spcPts val="600"/>
              </a:spcAft>
            </a:pPr>
            <a:r>
              <a:rPr sz="1050" dirty="0">
                <a:solidFill>
                  <a:srgbClr val="CBD5E1"/>
                </a:solidFill>
                <a:latin typeface="Calibri"/>
              </a:rPr>
              <a:t>•  Tuned Whisper Turbo &amp; evaluated Whisper Large.</a:t>
            </a:r>
          </a:p>
          <a:p>
            <a:pPr>
              <a:spcAft>
                <a:spcPts val="600"/>
              </a:spcAft>
            </a:pPr>
            <a:r>
              <a:rPr sz="1050" dirty="0">
                <a:solidFill>
                  <a:srgbClr val="CBD5E1"/>
                </a:solidFill>
                <a:latin typeface="Calibri"/>
              </a:rPr>
              <a:t>•  Configured Gemma LLM reference-free scoring.</a:t>
            </a:r>
          </a:p>
        </p:txBody>
      </p:sp>
      <p:sp>
        <p:nvSpPr>
          <p:cNvPr id="6" name="Rounded Rectangle 5"/>
          <p:cNvSpPr/>
          <p:nvPr/>
        </p:nvSpPr>
        <p:spPr>
          <a:xfrm>
            <a:off x="3210702" y="1403600"/>
            <a:ext cx="2872599" cy="2900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374513" y="1650000"/>
            <a:ext cx="3131573" cy="2900000"/>
          </a:xfrm>
          <a:prstGeom prst="rect">
            <a:avLst/>
          </a:prstGeom>
          <a:noFill/>
        </p:spPr>
        <p:txBody>
          <a:bodyPr wrap="square" lIns="0" tIns="0" rIns="0" bIns="0">
            <a:spAutoFit/>
          </a:bodyPr>
          <a:lstStyle/>
          <a:p>
            <a:pPr>
              <a:spcAft>
                <a:spcPts val="1000"/>
              </a:spcAft>
            </a:pPr>
            <a:r>
              <a:rPr sz="1400" b="1" dirty="0">
                <a:solidFill>
                  <a:srgbClr val="FFFFFF"/>
                </a:solidFill>
                <a:latin typeface="Trebuchet MS"/>
              </a:rPr>
              <a:t>Abhishek (Senior Advisor)</a:t>
            </a:r>
          </a:p>
          <a:p>
            <a:pPr>
              <a:spcAft>
                <a:spcPts val="600"/>
              </a:spcAft>
            </a:pPr>
            <a:r>
              <a:rPr sz="1050" dirty="0">
                <a:solidFill>
                  <a:srgbClr val="CBD5E1"/>
                </a:solidFill>
                <a:latin typeface="Calibri"/>
              </a:rPr>
              <a:t>•  Provides initial base codebase &amp; scripts.</a:t>
            </a:r>
          </a:p>
          <a:p>
            <a:pPr>
              <a:spcAft>
                <a:spcPts val="600"/>
              </a:spcAft>
            </a:pPr>
            <a:r>
              <a:rPr sz="1050" dirty="0">
                <a:solidFill>
                  <a:srgbClr val="CBD5E1"/>
                </a:solidFill>
                <a:latin typeface="Calibri"/>
              </a:rPr>
              <a:t>•  Guides Whisper Turbo fine-tuning setups.</a:t>
            </a:r>
          </a:p>
          <a:p>
            <a:pPr>
              <a:spcAft>
                <a:spcPts val="600"/>
              </a:spcAft>
            </a:pPr>
            <a:r>
              <a:rPr sz="1050" dirty="0">
                <a:solidFill>
                  <a:srgbClr val="CBD5E1"/>
                </a:solidFill>
                <a:latin typeface="Calibri"/>
              </a:rPr>
              <a:t>•  Consults on translation prompt templates.</a:t>
            </a:r>
          </a:p>
        </p:txBody>
      </p:sp>
      <p:sp>
        <p:nvSpPr>
          <p:cNvPr id="8" name="Rounded Rectangle 7"/>
          <p:cNvSpPr/>
          <p:nvPr/>
        </p:nvSpPr>
        <p:spPr>
          <a:xfrm>
            <a:off x="6223216" y="1403600"/>
            <a:ext cx="2872600" cy="28605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55186" y="1634900"/>
            <a:ext cx="2640173" cy="951543"/>
          </a:xfrm>
          <a:prstGeom prst="rect">
            <a:avLst/>
          </a:prstGeom>
          <a:noFill/>
        </p:spPr>
        <p:txBody>
          <a:bodyPr wrap="square" lIns="0" tIns="0" rIns="0" bIns="0">
            <a:spAutoFit/>
          </a:bodyPr>
          <a:lstStyle/>
          <a:p>
            <a:pPr>
              <a:spcAft>
                <a:spcPts val="1000"/>
              </a:spcAft>
            </a:pPr>
            <a:r>
              <a:rPr sz="1400" b="1" dirty="0">
                <a:solidFill>
                  <a:srgbClr val="FFFFFF"/>
                </a:solidFill>
                <a:latin typeface="Trebuchet MS"/>
              </a:rPr>
              <a:t>Karan Sir (Project Lead)</a:t>
            </a:r>
          </a:p>
          <a:p>
            <a:pPr>
              <a:spcAft>
                <a:spcPts val="600"/>
              </a:spcAft>
            </a:pPr>
            <a:r>
              <a:rPr sz="1050" dirty="0">
                <a:solidFill>
                  <a:srgbClr val="CBD5E1"/>
                </a:solidFill>
                <a:latin typeface="Calibri"/>
              </a:rPr>
              <a:t>•  </a:t>
            </a:r>
            <a:r>
              <a:rPr sz="1200" dirty="0">
                <a:solidFill>
                  <a:srgbClr val="CBD5E1"/>
                </a:solidFill>
                <a:latin typeface="Calibri"/>
              </a:rPr>
              <a:t>Provides raw group discussion audio </a:t>
            </a:r>
            <a:r>
              <a:rPr lang="en-IN" sz="1200" dirty="0">
                <a:solidFill>
                  <a:srgbClr val="CBD5E1"/>
                </a:solidFill>
                <a:latin typeface="Calibri"/>
              </a:rPr>
              <a:t>          </a:t>
            </a:r>
            <a:r>
              <a:rPr sz="1200" dirty="0">
                <a:solidFill>
                  <a:srgbClr val="CBD5E1"/>
                </a:solidFill>
                <a:latin typeface="Calibri"/>
              </a:rPr>
              <a:t>datasets.</a:t>
            </a:r>
          </a:p>
          <a:p>
            <a:pPr>
              <a:spcAft>
                <a:spcPts val="600"/>
              </a:spcAft>
            </a:pPr>
            <a:endParaRPr sz="1050" dirty="0">
              <a:solidFill>
                <a:srgbClr val="CBD5E1"/>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365760"/>
          </a:xfrm>
          <a:prstGeom prst="rect">
            <a:avLst/>
          </a:prstGeom>
          <a:noFill/>
        </p:spPr>
        <p:txBody>
          <a:bodyPr wrap="square" lIns="0" tIns="0" rIns="0" bIns="0">
            <a:spAutoFit/>
          </a:bodyPr>
          <a:lstStyle/>
          <a:p>
            <a:r>
              <a:rPr sz="1000" b="1">
                <a:solidFill>
                  <a:srgbClr val="0D9488"/>
                </a:solidFill>
                <a:latin typeface="Calibri"/>
              </a:rPr>
              <a:t>FUNCTIONAL REQUIREMENTS</a:t>
            </a:r>
          </a:p>
        </p:txBody>
      </p:sp>
      <p:sp>
        <p:nvSpPr>
          <p:cNvPr id="3" name="TextBox 2"/>
          <p:cNvSpPr txBox="1"/>
          <p:nvPr/>
        </p:nvSpPr>
        <p:spPr>
          <a:xfrm>
            <a:off x="548640" y="594360"/>
            <a:ext cx="11064240" cy="731520"/>
          </a:xfrm>
          <a:prstGeom prst="rect">
            <a:avLst/>
          </a:prstGeom>
          <a:noFill/>
        </p:spPr>
        <p:txBody>
          <a:bodyPr wrap="square" lIns="0" tIns="0" rIns="0" bIns="0">
            <a:spAutoFit/>
          </a:bodyPr>
          <a:lstStyle/>
          <a:p>
            <a:r>
              <a:rPr sz="2800" b="1">
                <a:solidFill>
                  <a:srgbClr val="FFFFFF"/>
                </a:solidFill>
                <a:latin typeface="Trebuchet MS"/>
              </a:rPr>
              <a:t>System Boundary &amp; Key Use Cases</a:t>
            </a:r>
          </a:p>
        </p:txBody>
      </p:sp>
      <p:sp>
        <p:nvSpPr>
          <p:cNvPr id="4" name="Rounded Rectangle 3"/>
          <p:cNvSpPr/>
          <p:nvPr/>
        </p:nvSpPr>
        <p:spPr>
          <a:xfrm>
            <a:off x="91440" y="1472940"/>
            <a:ext cx="3997960" cy="950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91440" y="1612500"/>
            <a:ext cx="5103520" cy="750000"/>
          </a:xfrm>
          <a:prstGeom prst="rect">
            <a:avLst/>
          </a:prstGeom>
          <a:noFill/>
        </p:spPr>
        <p:txBody>
          <a:bodyPr wrap="square" lIns="0" tIns="0" rIns="0" bIns="0">
            <a:spAutoFit/>
          </a:bodyPr>
          <a:lstStyle/>
          <a:p>
            <a:pPr>
              <a:spcAft>
                <a:spcPts val="400"/>
              </a:spcAft>
            </a:pPr>
            <a:r>
              <a:rPr sz="1200" b="1" dirty="0">
                <a:solidFill>
                  <a:srgbClr val="FFFFFF"/>
                </a:solidFill>
                <a:latin typeface="Trebuchet MS"/>
              </a:rPr>
              <a:t>UC-1: Process Ingestion</a:t>
            </a:r>
          </a:p>
          <a:p>
            <a:r>
              <a:rPr sz="1000" dirty="0">
                <a:solidFill>
                  <a:srgbClr val="CBD5E1"/>
                </a:solidFill>
                <a:latin typeface="Calibri"/>
              </a:rPr>
              <a:t>Ingests streams via </a:t>
            </a:r>
            <a:r>
              <a:rPr sz="1000" dirty="0" err="1">
                <a:solidFill>
                  <a:srgbClr val="CBD5E1"/>
                </a:solidFill>
                <a:latin typeface="Calibri"/>
              </a:rPr>
              <a:t>yt_dlp</a:t>
            </a:r>
            <a:r>
              <a:rPr sz="1000" dirty="0">
                <a:solidFill>
                  <a:srgbClr val="CBD5E1"/>
                </a:solidFill>
                <a:latin typeface="Calibri"/>
              </a:rPr>
              <a:t> &amp; raw local group discussion audio recordings.</a:t>
            </a:r>
          </a:p>
        </p:txBody>
      </p:sp>
      <p:sp>
        <p:nvSpPr>
          <p:cNvPr id="6" name="Rounded Rectangle 5"/>
          <p:cNvSpPr/>
          <p:nvPr/>
        </p:nvSpPr>
        <p:spPr>
          <a:xfrm>
            <a:off x="91440" y="2542940"/>
            <a:ext cx="3997960" cy="950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91440" y="2695140"/>
            <a:ext cx="5103520" cy="750000"/>
          </a:xfrm>
          <a:prstGeom prst="rect">
            <a:avLst/>
          </a:prstGeom>
          <a:noFill/>
        </p:spPr>
        <p:txBody>
          <a:bodyPr wrap="square" lIns="0" tIns="0" rIns="0" bIns="0">
            <a:spAutoFit/>
          </a:bodyPr>
          <a:lstStyle/>
          <a:p>
            <a:pPr>
              <a:spcAft>
                <a:spcPts val="400"/>
              </a:spcAft>
            </a:pPr>
            <a:r>
              <a:rPr sz="1200" b="1">
                <a:solidFill>
                  <a:srgbClr val="FFFFFF"/>
                </a:solidFill>
                <a:latin typeface="Trebuchet MS"/>
              </a:rPr>
              <a:t>UC-2: Execute ASR Processing</a:t>
            </a:r>
          </a:p>
          <a:p>
            <a:r>
              <a:rPr sz="1000">
                <a:solidFill>
                  <a:srgbClr val="CBD5E1"/>
                </a:solidFill>
                <a:latin typeface="Calibri"/>
              </a:rPr>
              <a:t>Deploys Whisper Large-v3 pipelines &amp; fine-tunes Whisper Turbo variant.</a:t>
            </a:r>
          </a:p>
        </p:txBody>
      </p:sp>
      <p:sp>
        <p:nvSpPr>
          <p:cNvPr id="8" name="Rounded Rectangle 7"/>
          <p:cNvSpPr/>
          <p:nvPr/>
        </p:nvSpPr>
        <p:spPr>
          <a:xfrm>
            <a:off x="91440" y="3612940"/>
            <a:ext cx="3997960" cy="950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91440" y="3765140"/>
            <a:ext cx="5103520" cy="750000"/>
          </a:xfrm>
          <a:prstGeom prst="rect">
            <a:avLst/>
          </a:prstGeom>
          <a:noFill/>
        </p:spPr>
        <p:txBody>
          <a:bodyPr wrap="square" lIns="0" tIns="0" rIns="0" bIns="0">
            <a:spAutoFit/>
          </a:bodyPr>
          <a:lstStyle/>
          <a:p>
            <a:pPr>
              <a:spcAft>
                <a:spcPts val="400"/>
              </a:spcAft>
            </a:pPr>
            <a:r>
              <a:rPr sz="1200" b="1" dirty="0">
                <a:solidFill>
                  <a:srgbClr val="FFFFFF"/>
                </a:solidFill>
                <a:latin typeface="Trebuchet MS"/>
              </a:rPr>
              <a:t>UC-3: Apply Noise Suppression</a:t>
            </a:r>
          </a:p>
          <a:p>
            <a:r>
              <a:rPr sz="1000" dirty="0">
                <a:solidFill>
                  <a:srgbClr val="CBD5E1"/>
                </a:solidFill>
                <a:latin typeface="Calibri"/>
              </a:rPr>
              <a:t>Applies 4th-order Butterworth (80-7500Hz) &amp; Adaptive Wiener (</a:t>
            </a:r>
            <a:r>
              <a:rPr sz="1000" dirty="0" err="1">
                <a:solidFill>
                  <a:srgbClr val="CBD5E1"/>
                </a:solidFill>
                <a:latin typeface="Calibri"/>
              </a:rPr>
              <a:t>mysize</a:t>
            </a:r>
            <a:r>
              <a:rPr sz="1000" dirty="0">
                <a:solidFill>
                  <a:srgbClr val="CBD5E1"/>
                </a:solidFill>
                <a:latin typeface="Calibri"/>
              </a:rPr>
              <a:t>=19).</a:t>
            </a:r>
          </a:p>
        </p:txBody>
      </p:sp>
      <p:sp>
        <p:nvSpPr>
          <p:cNvPr id="10" name="Rounded Rectangle 9"/>
          <p:cNvSpPr/>
          <p:nvPr/>
        </p:nvSpPr>
        <p:spPr>
          <a:xfrm>
            <a:off x="4353560" y="1483900"/>
            <a:ext cx="4460240" cy="950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02620" y="1612500"/>
            <a:ext cx="5103520" cy="750000"/>
          </a:xfrm>
          <a:prstGeom prst="rect">
            <a:avLst/>
          </a:prstGeom>
          <a:noFill/>
        </p:spPr>
        <p:txBody>
          <a:bodyPr wrap="square" lIns="0" tIns="0" rIns="0" bIns="0">
            <a:spAutoFit/>
          </a:bodyPr>
          <a:lstStyle/>
          <a:p>
            <a:pPr>
              <a:spcAft>
                <a:spcPts val="400"/>
              </a:spcAft>
            </a:pPr>
            <a:r>
              <a:rPr sz="1200" b="1" dirty="0">
                <a:solidFill>
                  <a:srgbClr val="FFFFFF"/>
                </a:solidFill>
                <a:latin typeface="Trebuchet MS"/>
              </a:rPr>
              <a:t>UC-4: Evaluate Output Quality</a:t>
            </a:r>
          </a:p>
          <a:p>
            <a:r>
              <a:rPr sz="1000" dirty="0">
                <a:solidFill>
                  <a:srgbClr val="CBD5E1"/>
                </a:solidFill>
                <a:latin typeface="Calibri"/>
              </a:rPr>
              <a:t>Executes reference-free Gemma 9B LLM Judge semantic &amp; grammar scoring.</a:t>
            </a:r>
          </a:p>
        </p:txBody>
      </p:sp>
      <p:sp>
        <p:nvSpPr>
          <p:cNvPr id="12" name="Rounded Rectangle 11"/>
          <p:cNvSpPr/>
          <p:nvPr/>
        </p:nvSpPr>
        <p:spPr>
          <a:xfrm>
            <a:off x="4353560" y="2562500"/>
            <a:ext cx="4460240" cy="950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53560" y="2720520"/>
            <a:ext cx="5103520" cy="750000"/>
          </a:xfrm>
          <a:prstGeom prst="rect">
            <a:avLst/>
          </a:prstGeom>
          <a:noFill/>
        </p:spPr>
        <p:txBody>
          <a:bodyPr wrap="square" lIns="0" tIns="0" rIns="0" bIns="0">
            <a:spAutoFit/>
          </a:bodyPr>
          <a:lstStyle/>
          <a:p>
            <a:pPr>
              <a:spcAft>
                <a:spcPts val="400"/>
              </a:spcAft>
            </a:pPr>
            <a:r>
              <a:rPr sz="1200" b="1" dirty="0">
                <a:solidFill>
                  <a:srgbClr val="FFFFFF"/>
                </a:solidFill>
                <a:latin typeface="Trebuchet MS"/>
              </a:rPr>
              <a:t>UC-5: Execute Translation</a:t>
            </a:r>
          </a:p>
          <a:p>
            <a:r>
              <a:rPr sz="1000" dirty="0">
                <a:solidFill>
                  <a:srgbClr val="CBD5E1"/>
                </a:solidFill>
                <a:latin typeface="Calibri"/>
              </a:rPr>
              <a:t>Translates transcripts to Hindi Diagnostic reports via optimized prompts.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365760"/>
          </a:xfrm>
          <a:prstGeom prst="rect">
            <a:avLst/>
          </a:prstGeom>
          <a:noFill/>
        </p:spPr>
        <p:txBody>
          <a:bodyPr wrap="square" lIns="0" tIns="0" rIns="0" bIns="0">
            <a:spAutoFit/>
          </a:bodyPr>
          <a:lstStyle/>
          <a:p>
            <a:r>
              <a:rPr sz="1000" b="1">
                <a:solidFill>
                  <a:srgbClr val="0D9488"/>
                </a:solidFill>
                <a:latin typeface="Calibri"/>
              </a:rPr>
              <a:t>FUNCTIONAL REQUIREMENTS</a:t>
            </a:r>
          </a:p>
        </p:txBody>
      </p:sp>
      <p:sp>
        <p:nvSpPr>
          <p:cNvPr id="3" name="TextBox 2"/>
          <p:cNvSpPr txBox="1"/>
          <p:nvPr/>
        </p:nvSpPr>
        <p:spPr>
          <a:xfrm>
            <a:off x="548640" y="594360"/>
            <a:ext cx="11064240" cy="731520"/>
          </a:xfrm>
          <a:prstGeom prst="rect">
            <a:avLst/>
          </a:prstGeom>
          <a:noFill/>
        </p:spPr>
        <p:txBody>
          <a:bodyPr wrap="square" lIns="0" tIns="0" rIns="0" bIns="0">
            <a:spAutoFit/>
          </a:bodyPr>
          <a:lstStyle/>
          <a:p>
            <a:r>
              <a:rPr sz="2800" b="1">
                <a:solidFill>
                  <a:srgbClr val="FFFFFF"/>
                </a:solidFill>
                <a:latin typeface="Trebuchet MS"/>
              </a:rPr>
              <a:t>Use Case Diagram</a:t>
            </a:r>
          </a:p>
        </p:txBody>
      </p:sp>
      <p:pic>
        <p:nvPicPr>
          <p:cNvPr id="4" name="Picture 3" descr="usecase_diagram.png"/>
          <p:cNvPicPr>
            <a:picLocks noChangeAspect="1"/>
          </p:cNvPicPr>
          <p:nvPr/>
        </p:nvPicPr>
        <p:blipFill>
          <a:blip r:embed="rId2"/>
          <a:stretch>
            <a:fillRect/>
          </a:stretch>
        </p:blipFill>
        <p:spPr>
          <a:xfrm>
            <a:off x="1231900" y="1463040"/>
            <a:ext cx="6565900" cy="33147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365760"/>
          </a:xfrm>
          <a:prstGeom prst="rect">
            <a:avLst/>
          </a:prstGeom>
          <a:noFill/>
        </p:spPr>
        <p:txBody>
          <a:bodyPr wrap="square" lIns="0" tIns="0" rIns="0" bIns="0">
            <a:spAutoFit/>
          </a:bodyPr>
          <a:lstStyle/>
          <a:p>
            <a:r>
              <a:rPr sz="1000" b="1">
                <a:solidFill>
                  <a:srgbClr val="0D9488"/>
                </a:solidFill>
                <a:latin typeface="Calibri"/>
              </a:rPr>
              <a:t>SYSTEM ARCHITECTURE</a:t>
            </a:r>
          </a:p>
        </p:txBody>
      </p:sp>
      <p:sp>
        <p:nvSpPr>
          <p:cNvPr id="3" name="TextBox 2"/>
          <p:cNvSpPr txBox="1"/>
          <p:nvPr/>
        </p:nvSpPr>
        <p:spPr>
          <a:xfrm>
            <a:off x="548640" y="594360"/>
            <a:ext cx="11064240" cy="731520"/>
          </a:xfrm>
          <a:prstGeom prst="rect">
            <a:avLst/>
          </a:prstGeom>
          <a:noFill/>
        </p:spPr>
        <p:txBody>
          <a:bodyPr wrap="square" lIns="0" tIns="0" rIns="0" bIns="0">
            <a:spAutoFit/>
          </a:bodyPr>
          <a:lstStyle/>
          <a:p>
            <a:r>
              <a:rPr sz="2800" b="1">
                <a:solidFill>
                  <a:srgbClr val="FFFFFF"/>
                </a:solidFill>
                <a:latin typeface="Trebuchet MS"/>
              </a:rPr>
              <a:t>Pipeline Architecture &amp; Data Flow</a:t>
            </a:r>
          </a:p>
        </p:txBody>
      </p:sp>
      <p:sp>
        <p:nvSpPr>
          <p:cNvPr id="4" name="Rounded Rectangle 3"/>
          <p:cNvSpPr/>
          <p:nvPr/>
        </p:nvSpPr>
        <p:spPr>
          <a:xfrm>
            <a:off x="113211" y="1388914"/>
            <a:ext cx="2107475" cy="2239657"/>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28463" y="1650000"/>
            <a:ext cx="2248680" cy="2900000"/>
          </a:xfrm>
          <a:prstGeom prst="rect">
            <a:avLst/>
          </a:prstGeom>
          <a:noFill/>
        </p:spPr>
        <p:txBody>
          <a:bodyPr wrap="square" lIns="0" tIns="0" rIns="0" bIns="0">
            <a:spAutoFit/>
          </a:bodyPr>
          <a:lstStyle/>
          <a:p>
            <a:pPr>
              <a:spcAft>
                <a:spcPts val="1000"/>
              </a:spcAft>
            </a:pPr>
            <a:r>
              <a:rPr sz="1400" b="1" dirty="0">
                <a:solidFill>
                  <a:srgbClr val="FFFFFF"/>
                </a:solidFill>
                <a:latin typeface="Trebuchet MS"/>
              </a:rPr>
              <a:t>1. Ingestion Nodes</a:t>
            </a:r>
          </a:p>
          <a:p>
            <a:pPr>
              <a:spcAft>
                <a:spcPts val="600"/>
              </a:spcAft>
            </a:pPr>
            <a:r>
              <a:rPr sz="1050" dirty="0">
                <a:solidFill>
                  <a:srgbClr val="CBD5E1"/>
                </a:solidFill>
                <a:latin typeface="Calibri"/>
              </a:rPr>
              <a:t>•  Audio captured at mic node or YouTube parsed via </a:t>
            </a:r>
            <a:r>
              <a:rPr sz="1050" dirty="0" err="1">
                <a:solidFill>
                  <a:srgbClr val="CBD5E1"/>
                </a:solidFill>
                <a:latin typeface="Calibri"/>
              </a:rPr>
              <a:t>yt_dlp</a:t>
            </a:r>
            <a:r>
              <a:rPr sz="1050" dirty="0">
                <a:solidFill>
                  <a:srgbClr val="CBD5E1"/>
                </a:solidFill>
                <a:latin typeface="Calibri"/>
              </a:rPr>
              <a:t>.</a:t>
            </a:r>
          </a:p>
          <a:p>
            <a:pPr>
              <a:spcAft>
                <a:spcPts val="600"/>
              </a:spcAft>
            </a:pPr>
            <a:r>
              <a:rPr sz="1050" dirty="0">
                <a:solidFill>
                  <a:srgbClr val="CBD5E1"/>
                </a:solidFill>
                <a:latin typeface="Calibri"/>
              </a:rPr>
              <a:t>•  Output: Raw Punjabi Audio.</a:t>
            </a:r>
          </a:p>
        </p:txBody>
      </p:sp>
      <p:sp>
        <p:nvSpPr>
          <p:cNvPr id="6" name="Rounded Rectangle 5"/>
          <p:cNvSpPr/>
          <p:nvPr/>
        </p:nvSpPr>
        <p:spPr>
          <a:xfrm>
            <a:off x="2370686" y="1388914"/>
            <a:ext cx="2107474" cy="2239657"/>
          </a:xfrm>
          <a:prstGeom prst="roundRect">
            <a:avLst>
              <a:gd name="adj" fmla="val 0"/>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422980" y="1650000"/>
            <a:ext cx="1945820" cy="905376"/>
          </a:xfrm>
          <a:prstGeom prst="rect">
            <a:avLst/>
          </a:prstGeom>
          <a:noFill/>
        </p:spPr>
        <p:txBody>
          <a:bodyPr wrap="square" lIns="0" tIns="0" rIns="0" bIns="0">
            <a:spAutoFit/>
          </a:bodyPr>
          <a:lstStyle/>
          <a:p>
            <a:pPr>
              <a:spcAft>
                <a:spcPts val="1000"/>
              </a:spcAft>
            </a:pPr>
            <a:r>
              <a:rPr sz="1400" b="1" dirty="0">
                <a:solidFill>
                  <a:srgbClr val="FFFFFF"/>
                </a:solidFill>
                <a:latin typeface="Trebuchet MS"/>
              </a:rPr>
              <a:t>2. Processing &amp; ASR</a:t>
            </a:r>
          </a:p>
          <a:p>
            <a:pPr>
              <a:spcAft>
                <a:spcPts val="600"/>
              </a:spcAft>
            </a:pPr>
            <a:r>
              <a:rPr sz="1050" dirty="0">
                <a:solidFill>
                  <a:srgbClr val="CBD5E1"/>
                </a:solidFill>
                <a:latin typeface="Calibri"/>
              </a:rPr>
              <a:t>•  Standardizes to 16000Hz mono.</a:t>
            </a:r>
          </a:p>
          <a:p>
            <a:pPr>
              <a:spcAft>
                <a:spcPts val="600"/>
              </a:spcAft>
            </a:pPr>
            <a:r>
              <a:rPr sz="1050" dirty="0">
                <a:solidFill>
                  <a:srgbClr val="CBD5E1"/>
                </a:solidFill>
                <a:latin typeface="Calibri"/>
              </a:rPr>
              <a:t>•  Whisper transcribes clean audio to Punjabi Text.</a:t>
            </a:r>
          </a:p>
        </p:txBody>
      </p:sp>
      <p:sp>
        <p:nvSpPr>
          <p:cNvPr id="8" name="Rounded Rectangle 7"/>
          <p:cNvSpPr/>
          <p:nvPr/>
        </p:nvSpPr>
        <p:spPr>
          <a:xfrm>
            <a:off x="4671660" y="1382968"/>
            <a:ext cx="2107474" cy="2239657"/>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TextBox 8"/>
          <p:cNvSpPr txBox="1"/>
          <p:nvPr/>
        </p:nvSpPr>
        <p:spPr>
          <a:xfrm>
            <a:off x="4792689" y="1659886"/>
            <a:ext cx="1891657" cy="1305486"/>
          </a:xfrm>
          <a:prstGeom prst="rect">
            <a:avLst/>
          </a:prstGeom>
          <a:noFill/>
        </p:spPr>
        <p:txBody>
          <a:bodyPr wrap="square" lIns="0" tIns="0" rIns="0" bIns="0">
            <a:spAutoFit/>
          </a:bodyPr>
          <a:lstStyle/>
          <a:p>
            <a:pPr>
              <a:spcAft>
                <a:spcPts val="1000"/>
              </a:spcAft>
            </a:pPr>
            <a:r>
              <a:rPr sz="1400" b="1" dirty="0">
                <a:solidFill>
                  <a:srgbClr val="FFFFFF"/>
                </a:solidFill>
                <a:latin typeface="Trebuchet MS"/>
              </a:rPr>
              <a:t>3. Storage &amp; Judge</a:t>
            </a:r>
          </a:p>
          <a:p>
            <a:pPr>
              <a:spcAft>
                <a:spcPts val="600"/>
              </a:spcAft>
            </a:pPr>
            <a:r>
              <a:rPr sz="1050" dirty="0">
                <a:solidFill>
                  <a:srgbClr val="CBD5E1"/>
                </a:solidFill>
                <a:latin typeface="Calibri"/>
              </a:rPr>
              <a:t>•  Saved to database (no ground truth).</a:t>
            </a:r>
          </a:p>
          <a:p>
            <a:pPr>
              <a:spcAft>
                <a:spcPts val="600"/>
              </a:spcAft>
            </a:pPr>
            <a:r>
              <a:rPr sz="1050" dirty="0">
                <a:solidFill>
                  <a:srgbClr val="CBD5E1"/>
                </a:solidFill>
                <a:latin typeface="Calibri"/>
              </a:rPr>
              <a:t>•  Gemma 9B evaluates semantic/grammar quality.</a:t>
            </a:r>
          </a:p>
          <a:p>
            <a:pPr>
              <a:spcAft>
                <a:spcPts val="600"/>
              </a:spcAft>
            </a:pPr>
            <a:r>
              <a:rPr sz="1050" dirty="0">
                <a:solidFill>
                  <a:srgbClr val="CBD5E1"/>
                </a:solidFill>
                <a:latin typeface="Calibri"/>
              </a:rPr>
              <a:t>•  Output: Quality Metrics.</a:t>
            </a:r>
          </a:p>
        </p:txBody>
      </p:sp>
      <p:sp>
        <p:nvSpPr>
          <p:cNvPr id="10" name="Rounded Rectangle 9"/>
          <p:cNvSpPr/>
          <p:nvPr/>
        </p:nvSpPr>
        <p:spPr>
          <a:xfrm>
            <a:off x="6923315" y="1393943"/>
            <a:ext cx="2107474" cy="2239657"/>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TextBox 10"/>
          <p:cNvSpPr txBox="1"/>
          <p:nvPr/>
        </p:nvSpPr>
        <p:spPr>
          <a:xfrm>
            <a:off x="6996000" y="1649140"/>
            <a:ext cx="1919537" cy="1066959"/>
          </a:xfrm>
          <a:prstGeom prst="rect">
            <a:avLst/>
          </a:prstGeom>
          <a:noFill/>
        </p:spPr>
        <p:txBody>
          <a:bodyPr wrap="square" lIns="0" tIns="0" rIns="0" bIns="0">
            <a:spAutoFit/>
          </a:bodyPr>
          <a:lstStyle/>
          <a:p>
            <a:pPr>
              <a:spcAft>
                <a:spcPts val="1000"/>
              </a:spcAft>
            </a:pPr>
            <a:r>
              <a:rPr sz="1400" b="1" dirty="0">
                <a:solidFill>
                  <a:srgbClr val="FFFFFF"/>
                </a:solidFill>
                <a:latin typeface="Trebuchet MS"/>
              </a:rPr>
              <a:t>4. Optimization</a:t>
            </a:r>
          </a:p>
          <a:p>
            <a:pPr>
              <a:spcAft>
                <a:spcPts val="600"/>
              </a:spcAft>
            </a:pPr>
            <a:r>
              <a:rPr sz="1050" dirty="0">
                <a:solidFill>
                  <a:srgbClr val="CBD5E1"/>
                </a:solidFill>
                <a:latin typeface="Calibri"/>
              </a:rPr>
              <a:t>•  Method B: Single-Stage Direct Flow (WINNER).</a:t>
            </a:r>
          </a:p>
          <a:p>
            <a:pPr>
              <a:spcAft>
                <a:spcPts val="600"/>
              </a:spcAft>
            </a:pPr>
            <a:r>
              <a:rPr sz="1050" dirty="0">
                <a:solidFill>
                  <a:srgbClr val="CBD5E1"/>
                </a:solidFill>
                <a:latin typeface="Calibri"/>
              </a:rPr>
              <a:t>•  Outputs direct Hindi Diagnostic report.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365760"/>
          </a:xfrm>
          <a:prstGeom prst="rect">
            <a:avLst/>
          </a:prstGeom>
          <a:noFill/>
        </p:spPr>
        <p:txBody>
          <a:bodyPr wrap="square" lIns="0" tIns="0" rIns="0" bIns="0">
            <a:spAutoFit/>
          </a:bodyPr>
          <a:lstStyle/>
          <a:p>
            <a:r>
              <a:rPr sz="1000" b="1">
                <a:solidFill>
                  <a:srgbClr val="0D9488"/>
                </a:solidFill>
                <a:latin typeface="Calibri"/>
              </a:rPr>
              <a:t>SYSTEM ARCHITECTURE</a:t>
            </a:r>
          </a:p>
        </p:txBody>
      </p:sp>
      <p:sp>
        <p:nvSpPr>
          <p:cNvPr id="3" name="TextBox 2"/>
          <p:cNvSpPr txBox="1"/>
          <p:nvPr/>
        </p:nvSpPr>
        <p:spPr>
          <a:xfrm>
            <a:off x="548640" y="594360"/>
            <a:ext cx="11064240" cy="731520"/>
          </a:xfrm>
          <a:prstGeom prst="rect">
            <a:avLst/>
          </a:prstGeom>
          <a:noFill/>
        </p:spPr>
        <p:txBody>
          <a:bodyPr wrap="square" lIns="0" tIns="0" rIns="0" bIns="0">
            <a:spAutoFit/>
          </a:bodyPr>
          <a:lstStyle/>
          <a:p>
            <a:r>
              <a:rPr sz="2800" b="1">
                <a:solidFill>
                  <a:srgbClr val="FFFFFF"/>
                </a:solidFill>
                <a:latin typeface="Trebuchet MS"/>
              </a:rPr>
              <a:t>System Data Flow Diagram</a:t>
            </a:r>
          </a:p>
        </p:txBody>
      </p:sp>
      <p:pic>
        <p:nvPicPr>
          <p:cNvPr id="4" name="Picture 3" descr="data_flow_diagram.png"/>
          <p:cNvPicPr>
            <a:picLocks noChangeAspect="1"/>
          </p:cNvPicPr>
          <p:nvPr/>
        </p:nvPicPr>
        <p:blipFill>
          <a:blip r:embed="rId2"/>
          <a:stretch>
            <a:fillRect/>
          </a:stretch>
        </p:blipFill>
        <p:spPr>
          <a:xfrm>
            <a:off x="2362200" y="1463040"/>
            <a:ext cx="4419600" cy="33147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365760"/>
          </a:xfrm>
          <a:prstGeom prst="rect">
            <a:avLst/>
          </a:prstGeom>
          <a:noFill/>
        </p:spPr>
        <p:txBody>
          <a:bodyPr wrap="square" lIns="0" tIns="0" rIns="0" bIns="0">
            <a:spAutoFit/>
          </a:bodyPr>
          <a:lstStyle/>
          <a:p>
            <a:r>
              <a:rPr sz="1000" b="1">
                <a:solidFill>
                  <a:srgbClr val="0D9488"/>
                </a:solidFill>
                <a:latin typeface="Calibri"/>
              </a:rPr>
              <a:t>SYSTEM ARCHITECTURE</a:t>
            </a:r>
          </a:p>
        </p:txBody>
      </p:sp>
      <p:sp>
        <p:nvSpPr>
          <p:cNvPr id="3" name="TextBox 2"/>
          <p:cNvSpPr txBox="1"/>
          <p:nvPr/>
        </p:nvSpPr>
        <p:spPr>
          <a:xfrm>
            <a:off x="548640" y="594360"/>
            <a:ext cx="11064240" cy="731520"/>
          </a:xfrm>
          <a:prstGeom prst="rect">
            <a:avLst/>
          </a:prstGeom>
          <a:noFill/>
        </p:spPr>
        <p:txBody>
          <a:bodyPr wrap="square" lIns="0" tIns="0" rIns="0" bIns="0">
            <a:spAutoFit/>
          </a:bodyPr>
          <a:lstStyle/>
          <a:p>
            <a:r>
              <a:rPr sz="2800" b="1">
                <a:solidFill>
                  <a:srgbClr val="FFFFFF"/>
                </a:solidFill>
                <a:latin typeface="Trebuchet MS"/>
              </a:rPr>
              <a:t>System Sequence Diagram</a:t>
            </a:r>
          </a:p>
        </p:txBody>
      </p:sp>
      <p:pic>
        <p:nvPicPr>
          <p:cNvPr id="4" name="Picture 3" descr="sequence_diagram.png"/>
          <p:cNvPicPr>
            <a:picLocks noChangeAspect="1"/>
          </p:cNvPicPr>
          <p:nvPr/>
        </p:nvPicPr>
        <p:blipFill>
          <a:blip r:embed="rId2"/>
          <a:stretch>
            <a:fillRect/>
          </a:stretch>
        </p:blipFill>
        <p:spPr>
          <a:xfrm>
            <a:off x="3688080" y="1463040"/>
            <a:ext cx="1767840" cy="33147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a:extLst>
            <a:ext uri="{FF2B5EF4-FFF2-40B4-BE49-F238E27FC236}">
              <a16:creationId xmlns:a16="http://schemas.microsoft.com/office/drawing/2014/main" id="{34ED6CB1-1518-4D99-136B-4132D46F0C9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D8FCCEC-66CD-F082-06C4-CEE27EA41941}"/>
              </a:ext>
            </a:extLst>
          </p:cNvPr>
          <p:cNvSpPr/>
          <p:nvPr/>
        </p:nvSpPr>
        <p:spPr>
          <a:xfrm>
            <a:off x="230830" y="1205864"/>
            <a:ext cx="8690145" cy="3000375"/>
          </a:xfrm>
          <a:prstGeom prst="rect">
            <a:avLst/>
          </a:prstGeom>
          <a:noFill/>
          <a:ln/>
        </p:spPr>
        <p:txBody>
          <a:bodyPr wrap="square" rtlCol="0" anchor="ctr"/>
          <a:lstStyle/>
          <a:p>
            <a:pPr marL="342900" indent="-342900">
              <a:buFont typeface="Arial" panose="020B0604020202020204" pitchFamily="34" charset="0"/>
              <a:buChar char="•"/>
            </a:pPr>
            <a:r>
              <a:rPr lang="en-US" sz="2000" dirty="0">
                <a:solidFill>
                  <a:schemeClr val="bg1"/>
                </a:solidFill>
              </a:rPr>
              <a:t>Discussed about Krishi Darshan for audio transcription.</a:t>
            </a:r>
          </a:p>
          <a:p>
            <a:r>
              <a:rPr lang="en-US" sz="2000" dirty="0">
                <a:solidFill>
                  <a:schemeClr val="bg1"/>
                </a:solidFill>
              </a:rPr>
              <a:t>	1. Did transcription using </a:t>
            </a:r>
            <a:r>
              <a:rPr lang="en-US" sz="2000" dirty="0" err="1">
                <a:solidFill>
                  <a:schemeClr val="bg1"/>
                </a:solidFill>
              </a:rPr>
              <a:t>colab</a:t>
            </a:r>
            <a:r>
              <a:rPr lang="en-US" sz="2000" dirty="0">
                <a:solidFill>
                  <a:schemeClr val="bg1"/>
                </a:solidFill>
              </a:rPr>
              <a:t>.</a:t>
            </a:r>
          </a:p>
          <a:p>
            <a:pPr marL="342900" indent="-342900">
              <a:buFont typeface="Arial" panose="020B0604020202020204" pitchFamily="34" charset="0"/>
              <a:buChar char="•"/>
            </a:pPr>
            <a:r>
              <a:rPr lang="en-US" sz="2000" dirty="0">
                <a:solidFill>
                  <a:schemeClr val="bg1"/>
                </a:solidFill>
              </a:rPr>
              <a:t>Outreach session:</a:t>
            </a:r>
          </a:p>
          <a:p>
            <a:r>
              <a:rPr lang="en-US" sz="2000" dirty="0">
                <a:solidFill>
                  <a:schemeClr val="bg1"/>
                </a:solidFill>
              </a:rPr>
              <a:t>	1. Checked transcript using whisper models(large v3, small), Sarvam 	  	    models(2B,30B,API: Saaras v3)</a:t>
            </a:r>
          </a:p>
          <a:p>
            <a:pPr marL="342900" indent="-342900">
              <a:buFont typeface="Arial" panose="020B0604020202020204" pitchFamily="34" charset="0"/>
              <a:buChar char="•"/>
            </a:pPr>
            <a:r>
              <a:rPr lang="en-US" sz="2000" dirty="0">
                <a:solidFill>
                  <a:schemeClr val="bg1"/>
                </a:solidFill>
              </a:rPr>
              <a:t>Also did Noise Suppression</a:t>
            </a:r>
          </a:p>
          <a:p>
            <a:pPr marL="342900" indent="-342900">
              <a:buFont typeface="Arial" panose="020B0604020202020204" pitchFamily="34" charset="0"/>
              <a:buChar char="•"/>
            </a:pPr>
            <a:endParaRPr lang="en-US" sz="2000" dirty="0">
              <a:solidFill>
                <a:schemeClr val="bg1"/>
              </a:solidFill>
            </a:endParaRPr>
          </a:p>
        </p:txBody>
      </p:sp>
      <p:sp>
        <p:nvSpPr>
          <p:cNvPr id="3" name="Text 1">
            <a:extLst>
              <a:ext uri="{FF2B5EF4-FFF2-40B4-BE49-F238E27FC236}">
                <a16:creationId xmlns:a16="http://schemas.microsoft.com/office/drawing/2014/main" id="{A35A3599-5687-61D2-5C0C-6D977273CC3A}"/>
              </a:ext>
            </a:extLst>
          </p:cNvPr>
          <p:cNvSpPr/>
          <p:nvPr/>
        </p:nvSpPr>
        <p:spPr>
          <a:xfrm>
            <a:off x="914400" y="3474720"/>
            <a:ext cx="10332720" cy="731520"/>
          </a:xfrm>
          <a:prstGeom prst="rect">
            <a:avLst/>
          </a:prstGeom>
          <a:noFill/>
          <a:ln/>
        </p:spPr>
        <p:txBody>
          <a:bodyPr wrap="square" rtlCol="0" anchor="ctr"/>
          <a:lstStyle/>
          <a:p>
            <a:pPr marL="0" indent="0" algn="ctr">
              <a:buNone/>
            </a:pPr>
            <a:endParaRPr lang="en-US" sz="1800" dirty="0"/>
          </a:p>
        </p:txBody>
      </p:sp>
      <p:sp>
        <p:nvSpPr>
          <p:cNvPr id="4" name="Text 2">
            <a:extLst>
              <a:ext uri="{FF2B5EF4-FFF2-40B4-BE49-F238E27FC236}">
                <a16:creationId xmlns:a16="http://schemas.microsoft.com/office/drawing/2014/main" id="{9C884120-E663-5BF1-6397-D1B6211A5B00}"/>
              </a:ext>
            </a:extLst>
          </p:cNvPr>
          <p:cNvSpPr/>
          <p:nvPr/>
        </p:nvSpPr>
        <p:spPr>
          <a:xfrm>
            <a:off x="230831" y="217170"/>
            <a:ext cx="8503920" cy="548640"/>
          </a:xfrm>
          <a:prstGeom prst="rect">
            <a:avLst/>
          </a:prstGeom>
          <a:solidFill>
            <a:srgbClr val="162238"/>
          </a:solidFill>
          <a:ln/>
        </p:spPr>
        <p:txBody>
          <a:bodyPr wrap="square" rtlCol="0" anchor="ctr"/>
          <a:lstStyle/>
          <a:p>
            <a:pPr marL="0" indent="0">
              <a:buNone/>
            </a:pPr>
            <a:r>
              <a:rPr lang="en-US" sz="2800" dirty="0">
                <a:solidFill>
                  <a:schemeClr val="bg1"/>
                </a:solidFill>
              </a:rPr>
              <a:t>As Previously mentioned,</a:t>
            </a:r>
          </a:p>
        </p:txBody>
      </p:sp>
    </p:spTree>
    <p:extLst>
      <p:ext uri="{BB962C8B-B14F-4D97-AF65-F5344CB8AC3E}">
        <p14:creationId xmlns:p14="http://schemas.microsoft.com/office/powerpoint/2010/main" val="1003483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a:extLst>
            <a:ext uri="{FF2B5EF4-FFF2-40B4-BE49-F238E27FC236}">
              <a16:creationId xmlns:a16="http://schemas.microsoft.com/office/drawing/2014/main" id="{79990856-BD66-249A-31E5-AA9E3464AE4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B5BC7E-BF2D-577A-ED91-679A48B2DDA3}"/>
              </a:ext>
            </a:extLst>
          </p:cNvPr>
          <p:cNvSpPr/>
          <p:nvPr/>
        </p:nvSpPr>
        <p:spPr>
          <a:xfrm>
            <a:off x="-420414" y="1668780"/>
            <a:ext cx="10332720" cy="1828800"/>
          </a:xfrm>
          <a:prstGeom prst="rect">
            <a:avLst/>
          </a:prstGeom>
          <a:noFill/>
          <a:ln/>
        </p:spPr>
        <p:txBody>
          <a:bodyPr wrap="square" rtlCol="0" anchor="ctr"/>
          <a:lstStyle/>
          <a:p>
            <a:pPr marL="0" indent="0" algn="ctr">
              <a:buNone/>
            </a:pPr>
            <a:endParaRPr lang="en-US" sz="4400" dirty="0"/>
          </a:p>
        </p:txBody>
      </p:sp>
      <p:sp>
        <p:nvSpPr>
          <p:cNvPr id="3" name="Text 1">
            <a:extLst>
              <a:ext uri="{FF2B5EF4-FFF2-40B4-BE49-F238E27FC236}">
                <a16:creationId xmlns:a16="http://schemas.microsoft.com/office/drawing/2014/main" id="{DDFE41E8-D6CF-1A7F-4E9E-C90561737F05}"/>
              </a:ext>
            </a:extLst>
          </p:cNvPr>
          <p:cNvSpPr/>
          <p:nvPr/>
        </p:nvSpPr>
        <p:spPr>
          <a:xfrm>
            <a:off x="914400" y="3474720"/>
            <a:ext cx="10332720" cy="731520"/>
          </a:xfrm>
          <a:prstGeom prst="rect">
            <a:avLst/>
          </a:prstGeom>
          <a:noFill/>
          <a:ln/>
        </p:spPr>
        <p:txBody>
          <a:bodyPr wrap="square" rtlCol="0" anchor="ctr"/>
          <a:lstStyle/>
          <a:p>
            <a:pPr marL="0" indent="0" algn="ctr">
              <a:buNone/>
            </a:pPr>
            <a:endParaRPr lang="en-US" sz="1800" dirty="0"/>
          </a:p>
        </p:txBody>
      </p:sp>
      <p:sp>
        <p:nvSpPr>
          <p:cNvPr id="4" name="Text 2">
            <a:extLst>
              <a:ext uri="{FF2B5EF4-FFF2-40B4-BE49-F238E27FC236}">
                <a16:creationId xmlns:a16="http://schemas.microsoft.com/office/drawing/2014/main" id="{7CC0D9D5-3290-88E6-0226-CCC90FEB918E}"/>
              </a:ext>
            </a:extLst>
          </p:cNvPr>
          <p:cNvSpPr/>
          <p:nvPr/>
        </p:nvSpPr>
        <p:spPr>
          <a:xfrm>
            <a:off x="398099" y="388620"/>
            <a:ext cx="8503920" cy="548640"/>
          </a:xfrm>
          <a:prstGeom prst="rect">
            <a:avLst/>
          </a:prstGeom>
          <a:solidFill>
            <a:srgbClr val="162238"/>
          </a:solidFill>
          <a:ln/>
        </p:spPr>
        <p:txBody>
          <a:bodyPr wrap="square" rtlCol="0" anchor="ctr"/>
          <a:lstStyle/>
          <a:p>
            <a:pPr marL="0" indent="0">
              <a:buNone/>
            </a:pPr>
            <a:r>
              <a:rPr lang="en-US" sz="2800" dirty="0">
                <a:solidFill>
                  <a:schemeClr val="bg1"/>
                </a:solidFill>
              </a:rPr>
              <a:t>Whisper Fine Tuning</a:t>
            </a:r>
          </a:p>
        </p:txBody>
      </p:sp>
      <p:sp>
        <p:nvSpPr>
          <p:cNvPr id="5" name="TextBox 4">
            <a:extLst>
              <a:ext uri="{FF2B5EF4-FFF2-40B4-BE49-F238E27FC236}">
                <a16:creationId xmlns:a16="http://schemas.microsoft.com/office/drawing/2014/main" id="{7B0F6259-2294-EF34-36CE-3BEB44BB2C45}"/>
              </a:ext>
            </a:extLst>
          </p:cNvPr>
          <p:cNvSpPr txBox="1"/>
          <p:nvPr/>
        </p:nvSpPr>
        <p:spPr>
          <a:xfrm>
            <a:off x="398099" y="1112281"/>
            <a:ext cx="8503919" cy="2677656"/>
          </a:xfrm>
          <a:prstGeom prst="rect">
            <a:avLst/>
          </a:prstGeom>
          <a:noFill/>
        </p:spPr>
        <p:txBody>
          <a:bodyPr wrap="square" rtlCol="0">
            <a:spAutoFit/>
          </a:bodyPr>
          <a:lstStyle/>
          <a:p>
            <a:pPr marL="285750" indent="-285750">
              <a:buFont typeface="Arial" panose="020B0604020202020204" pitchFamily="34" charset="0"/>
              <a:buChar char="•"/>
            </a:pPr>
            <a:r>
              <a:rPr lang="en-IN" sz="2000" dirty="0">
                <a:solidFill>
                  <a:schemeClr val="bg1"/>
                </a:solidFill>
              </a:rPr>
              <a:t>Did finetuning for model whisper-large-v3-turbo.</a:t>
            </a:r>
          </a:p>
          <a:p>
            <a:pPr marL="285750" indent="-285750">
              <a:buFont typeface="Arial" panose="020B0604020202020204" pitchFamily="34" charset="0"/>
              <a:buChar char="•"/>
            </a:pPr>
            <a:r>
              <a:rPr lang="en-IN" sz="2000" dirty="0">
                <a:solidFill>
                  <a:schemeClr val="bg1"/>
                </a:solidFill>
              </a:rPr>
              <a:t>Did finetuning for datasets</a:t>
            </a:r>
          </a:p>
          <a:p>
            <a:r>
              <a:rPr lang="en-IN" sz="2000" dirty="0">
                <a:solidFill>
                  <a:schemeClr val="bg1"/>
                </a:solidFill>
              </a:rPr>
              <a:t>	1. </a:t>
            </a:r>
            <a:r>
              <a:rPr lang="en-IN" dirty="0">
                <a:solidFill>
                  <a:schemeClr val="bg1"/>
                </a:solidFill>
              </a:rPr>
              <a:t>abhi8799/Punjabi-STT-Processed-</a:t>
            </a:r>
            <a:r>
              <a:rPr lang="en-IN" dirty="0" err="1">
                <a:solidFill>
                  <a:schemeClr val="bg1"/>
                </a:solidFill>
              </a:rPr>
              <a:t>mozilla</a:t>
            </a:r>
            <a:endParaRPr lang="en-IN" dirty="0">
              <a:solidFill>
                <a:schemeClr val="bg1"/>
              </a:solidFill>
            </a:endParaRPr>
          </a:p>
          <a:p>
            <a:r>
              <a:rPr lang="en-IN" dirty="0">
                <a:solidFill>
                  <a:schemeClr val="bg1"/>
                </a:solidFill>
              </a:rPr>
              <a:t>	2. abhi8799/Punjabi-STT-Turbo-40H</a:t>
            </a:r>
          </a:p>
          <a:p>
            <a:r>
              <a:rPr lang="en-IN" dirty="0">
                <a:solidFill>
                  <a:schemeClr val="bg1"/>
                </a:solidFill>
              </a:rPr>
              <a:t>	3. </a:t>
            </a:r>
            <a:r>
              <a:rPr lang="en-IN" dirty="0" err="1">
                <a:solidFill>
                  <a:schemeClr val="bg1"/>
                </a:solidFill>
              </a:rPr>
              <a:t>KaliNangia</a:t>
            </a:r>
            <a:r>
              <a:rPr lang="en-IN" dirty="0">
                <a:solidFill>
                  <a:schemeClr val="bg1"/>
                </a:solidFill>
              </a:rPr>
              <a:t>/Punjabi-</a:t>
            </a:r>
            <a:r>
              <a:rPr lang="en-IN" dirty="0" err="1">
                <a:solidFill>
                  <a:schemeClr val="bg1"/>
                </a:solidFill>
              </a:rPr>
              <a:t>STT_Combined_Preprocessed</a:t>
            </a:r>
            <a:endParaRPr lang="en-IN" dirty="0">
              <a:solidFill>
                <a:schemeClr val="bg1"/>
              </a:solidFill>
            </a:endParaRPr>
          </a:p>
          <a:p>
            <a:pPr marL="285750" indent="-285750">
              <a:buFont typeface="Arial" panose="020B0604020202020204" pitchFamily="34" charset="0"/>
              <a:buChar char="•"/>
            </a:pPr>
            <a:r>
              <a:rPr lang="en-IN" dirty="0">
                <a:solidFill>
                  <a:schemeClr val="bg1"/>
                </a:solidFill>
              </a:rPr>
              <a:t>The reason for doing finetuning:</a:t>
            </a:r>
          </a:p>
          <a:p>
            <a:r>
              <a:rPr lang="en-IN" dirty="0">
                <a:solidFill>
                  <a:schemeClr val="bg1"/>
                </a:solidFill>
              </a:rPr>
              <a:t>	1. Helps to get accurate transcript.</a:t>
            </a:r>
          </a:p>
          <a:p>
            <a:r>
              <a:rPr lang="en-IN" dirty="0">
                <a:solidFill>
                  <a:schemeClr val="bg1"/>
                </a:solidFill>
              </a:rPr>
              <a:t>	</a:t>
            </a:r>
          </a:p>
          <a:p>
            <a:pPr marL="285750" indent="-285750">
              <a:buFont typeface="Arial" panose="020B0604020202020204" pitchFamily="34" charset="0"/>
              <a:buChar char="•"/>
            </a:pPr>
            <a:endParaRPr lang="en-IN" dirty="0">
              <a:solidFill>
                <a:schemeClr val="bg1"/>
              </a:solidFill>
            </a:endParaRPr>
          </a:p>
        </p:txBody>
      </p:sp>
    </p:spTree>
    <p:extLst>
      <p:ext uri="{BB962C8B-B14F-4D97-AF65-F5344CB8AC3E}">
        <p14:creationId xmlns:p14="http://schemas.microsoft.com/office/powerpoint/2010/main" val="37060283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a:extLst>
            <a:ext uri="{FF2B5EF4-FFF2-40B4-BE49-F238E27FC236}">
              <a16:creationId xmlns:a16="http://schemas.microsoft.com/office/drawing/2014/main" id="{8F5ABA66-BEDD-EC95-83DE-EA01CB1A165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477AC6F-7367-E0F9-C7D0-174EEAD57C06}"/>
              </a:ext>
            </a:extLst>
          </p:cNvPr>
          <p:cNvSpPr/>
          <p:nvPr/>
        </p:nvSpPr>
        <p:spPr>
          <a:xfrm>
            <a:off x="-420414" y="1668780"/>
            <a:ext cx="10332720" cy="1828800"/>
          </a:xfrm>
          <a:prstGeom prst="rect">
            <a:avLst/>
          </a:prstGeom>
          <a:noFill/>
          <a:ln/>
        </p:spPr>
        <p:txBody>
          <a:bodyPr wrap="square" rtlCol="0" anchor="ctr"/>
          <a:lstStyle/>
          <a:p>
            <a:pPr marL="0" indent="0" algn="ctr">
              <a:buNone/>
            </a:pPr>
            <a:endParaRPr lang="en-US" sz="4400" dirty="0"/>
          </a:p>
        </p:txBody>
      </p:sp>
      <p:sp>
        <p:nvSpPr>
          <p:cNvPr id="3" name="Text 1">
            <a:extLst>
              <a:ext uri="{FF2B5EF4-FFF2-40B4-BE49-F238E27FC236}">
                <a16:creationId xmlns:a16="http://schemas.microsoft.com/office/drawing/2014/main" id="{7F7CCDC2-D390-5DB4-6C45-185C848CFD7B}"/>
              </a:ext>
            </a:extLst>
          </p:cNvPr>
          <p:cNvSpPr/>
          <p:nvPr/>
        </p:nvSpPr>
        <p:spPr>
          <a:xfrm>
            <a:off x="914400" y="3474720"/>
            <a:ext cx="10332720" cy="731520"/>
          </a:xfrm>
          <a:prstGeom prst="rect">
            <a:avLst/>
          </a:prstGeom>
          <a:noFill/>
          <a:ln/>
        </p:spPr>
        <p:txBody>
          <a:bodyPr wrap="square" rtlCol="0" anchor="ctr"/>
          <a:lstStyle/>
          <a:p>
            <a:pPr marL="0" indent="0" algn="ctr">
              <a:buNone/>
            </a:pPr>
            <a:endParaRPr lang="en-US" sz="1800" dirty="0"/>
          </a:p>
        </p:txBody>
      </p:sp>
      <p:sp>
        <p:nvSpPr>
          <p:cNvPr id="4" name="Text 2">
            <a:extLst>
              <a:ext uri="{FF2B5EF4-FFF2-40B4-BE49-F238E27FC236}">
                <a16:creationId xmlns:a16="http://schemas.microsoft.com/office/drawing/2014/main" id="{0E906F90-5C8B-5C0D-8849-CB61EE874FEE}"/>
              </a:ext>
            </a:extLst>
          </p:cNvPr>
          <p:cNvSpPr/>
          <p:nvPr/>
        </p:nvSpPr>
        <p:spPr>
          <a:xfrm>
            <a:off x="398099" y="411480"/>
            <a:ext cx="8503920" cy="548640"/>
          </a:xfrm>
          <a:prstGeom prst="rect">
            <a:avLst/>
          </a:prstGeom>
          <a:solidFill>
            <a:srgbClr val="162238"/>
          </a:solidFill>
          <a:ln/>
        </p:spPr>
        <p:txBody>
          <a:bodyPr wrap="square" rtlCol="0" anchor="ctr"/>
          <a:lstStyle/>
          <a:p>
            <a:pPr marL="0" indent="0" algn="ctr">
              <a:buNone/>
            </a:pPr>
            <a:endParaRPr lang="en-US" sz="1200" dirty="0"/>
          </a:p>
          <a:p>
            <a:pPr marL="0" indent="0" algn="ctr">
              <a:buNone/>
            </a:pPr>
            <a:r>
              <a:rPr lang="en-US" sz="1200" b="1" dirty="0">
                <a:solidFill>
                  <a:srgbClr val="DEFF9A"/>
                </a:solidFill>
                <a:latin typeface="Courier New" pitchFamily="34" charset="0"/>
                <a:ea typeface="Courier New" pitchFamily="34" charset="-122"/>
                <a:cs typeface="Courier New" pitchFamily="34" charset="-120"/>
              </a:rPr>
              <a:t>                             </a:t>
            </a:r>
            <a:endParaRPr lang="en-US" sz="1200" dirty="0"/>
          </a:p>
        </p:txBody>
      </p:sp>
      <p:sp>
        <p:nvSpPr>
          <p:cNvPr id="6" name="TextBox 5">
            <a:extLst>
              <a:ext uri="{FF2B5EF4-FFF2-40B4-BE49-F238E27FC236}">
                <a16:creationId xmlns:a16="http://schemas.microsoft.com/office/drawing/2014/main" id="{48B57EC4-6F1F-F22B-994D-A9D8B7386BD5}"/>
              </a:ext>
            </a:extLst>
          </p:cNvPr>
          <p:cNvSpPr txBox="1"/>
          <p:nvPr/>
        </p:nvSpPr>
        <p:spPr>
          <a:xfrm>
            <a:off x="163923" y="1169178"/>
            <a:ext cx="5837662" cy="923330"/>
          </a:xfrm>
          <a:prstGeom prst="rect">
            <a:avLst/>
          </a:prstGeom>
          <a:noFill/>
        </p:spPr>
        <p:txBody>
          <a:bodyPr wrap="square">
            <a:spAutoFit/>
          </a:bodyPr>
          <a:lstStyle/>
          <a:p>
            <a:pPr rtl="0">
              <a:buNone/>
            </a:pPr>
            <a:r>
              <a:rPr lang="en-IN" sz="1800" b="1" i="0" u="none" strike="noStrike" dirty="0">
                <a:solidFill>
                  <a:srgbClr val="A3E635"/>
                </a:solidFill>
                <a:effectLst/>
                <a:latin typeface="Urbanist"/>
              </a:rPr>
              <a:t>Encoder-Decoder Model</a:t>
            </a:r>
            <a:endParaRPr lang="en-IN" b="0" dirty="0">
              <a:effectLst/>
            </a:endParaRPr>
          </a:p>
          <a:p>
            <a:pPr>
              <a:buNone/>
            </a:pPr>
            <a:br>
              <a:rPr lang="en-IN" dirty="0"/>
            </a:br>
            <a:endParaRPr lang="en-IN" dirty="0"/>
          </a:p>
        </p:txBody>
      </p:sp>
      <p:sp>
        <p:nvSpPr>
          <p:cNvPr id="8" name="TextBox 7">
            <a:extLst>
              <a:ext uri="{FF2B5EF4-FFF2-40B4-BE49-F238E27FC236}">
                <a16:creationId xmlns:a16="http://schemas.microsoft.com/office/drawing/2014/main" id="{77345C3A-3247-3692-54F9-0F72D0E9A5D2}"/>
              </a:ext>
            </a:extLst>
          </p:cNvPr>
          <p:cNvSpPr txBox="1"/>
          <p:nvPr/>
        </p:nvSpPr>
        <p:spPr>
          <a:xfrm>
            <a:off x="163923" y="1668780"/>
            <a:ext cx="8065677" cy="3693319"/>
          </a:xfrm>
          <a:prstGeom prst="rect">
            <a:avLst/>
          </a:prstGeom>
          <a:noFill/>
        </p:spPr>
        <p:txBody>
          <a:bodyPr wrap="square">
            <a:spAutoFit/>
          </a:bodyPr>
          <a:lstStyle/>
          <a:p>
            <a:pPr rtl="0"/>
            <a:r>
              <a:rPr lang="en-IN" sz="1800" b="0" i="0" u="none" strike="noStrike" dirty="0">
                <a:solidFill>
                  <a:schemeClr val="bg1"/>
                </a:solidFill>
                <a:effectLst/>
                <a:latin typeface="Urbanist"/>
              </a:rPr>
              <a:t>Whisper utilizes a Transformer-based architecture to process audio spectrograms and generate text autoregressively.</a:t>
            </a:r>
          </a:p>
          <a:p>
            <a:pPr rtl="0"/>
            <a:endParaRPr lang="en-IN" sz="1800" b="0" i="0" u="none" strike="noStrike" dirty="0">
              <a:solidFill>
                <a:schemeClr val="bg1"/>
              </a:solidFill>
              <a:effectLst/>
              <a:latin typeface="Urbanist"/>
            </a:endParaRPr>
          </a:p>
          <a:p>
            <a:pPr marL="285750" indent="-285750">
              <a:buFont typeface="Arial" panose="020B0604020202020204" pitchFamily="34" charset="0"/>
              <a:buChar char="•"/>
            </a:pPr>
            <a:r>
              <a:rPr lang="en-IN" b="1" dirty="0">
                <a:solidFill>
                  <a:schemeClr val="bg1"/>
                </a:solidFill>
              </a:rPr>
              <a:t>8-bit Quantization:</a:t>
            </a:r>
            <a:r>
              <a:rPr lang="en-IN" dirty="0">
                <a:solidFill>
                  <a:schemeClr val="bg1"/>
                </a:solidFill>
              </a:rPr>
              <a:t> Reduces memory footprint for deployment on resource-constrained GPUs.</a:t>
            </a:r>
          </a:p>
          <a:p>
            <a:pPr marL="285750" indent="-285750">
              <a:buFont typeface="Arial" panose="020B0604020202020204" pitchFamily="34" charset="0"/>
              <a:buChar char="•"/>
            </a:pPr>
            <a:r>
              <a:rPr lang="en-IN" b="1" dirty="0">
                <a:solidFill>
                  <a:schemeClr val="bg1"/>
                </a:solidFill>
              </a:rPr>
              <a:t>PEFT (</a:t>
            </a:r>
            <a:r>
              <a:rPr lang="en-IN" b="1" dirty="0" err="1">
                <a:solidFill>
                  <a:schemeClr val="bg1"/>
                </a:solidFill>
              </a:rPr>
              <a:t>LoRA</a:t>
            </a:r>
            <a:r>
              <a:rPr lang="en-IN" b="1" dirty="0">
                <a:solidFill>
                  <a:schemeClr val="bg1"/>
                </a:solidFill>
              </a:rPr>
              <a:t>):</a:t>
            </a:r>
            <a:r>
              <a:rPr lang="en-IN" dirty="0">
                <a:solidFill>
                  <a:schemeClr val="bg1"/>
                </a:solidFill>
              </a:rPr>
              <a:t> Fine-tunes only a subset of parameters, making training faster and preventing catastrophic forgetting.</a:t>
            </a:r>
          </a:p>
          <a:p>
            <a:br>
              <a:rPr lang="en-IN" dirty="0"/>
            </a:br>
            <a:endParaRPr lang="en-IN" dirty="0">
              <a:solidFill>
                <a:schemeClr val="bg1"/>
              </a:solidFill>
            </a:endParaRPr>
          </a:p>
          <a:p>
            <a:br>
              <a:rPr lang="en-IN" dirty="0"/>
            </a:br>
            <a:endParaRPr lang="en-IN" b="0" dirty="0">
              <a:effectLst/>
            </a:endParaRPr>
          </a:p>
          <a:p>
            <a:pPr>
              <a:buNone/>
            </a:pPr>
            <a:br>
              <a:rPr lang="en-IN" dirty="0"/>
            </a:br>
            <a:endParaRPr lang="en-IN" dirty="0"/>
          </a:p>
        </p:txBody>
      </p:sp>
    </p:spTree>
    <p:extLst>
      <p:ext uri="{BB962C8B-B14F-4D97-AF65-F5344CB8AC3E}">
        <p14:creationId xmlns:p14="http://schemas.microsoft.com/office/powerpoint/2010/main" val="1712335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a:extLst>
            <a:ext uri="{FF2B5EF4-FFF2-40B4-BE49-F238E27FC236}">
              <a16:creationId xmlns:a16="http://schemas.microsoft.com/office/drawing/2014/main" id="{728AEB20-2AA5-A242-D5CF-05C251AA4F8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C09E208-BCBD-38B4-060C-1F0AE9868B04}"/>
              </a:ext>
            </a:extLst>
          </p:cNvPr>
          <p:cNvSpPr/>
          <p:nvPr/>
        </p:nvSpPr>
        <p:spPr>
          <a:xfrm>
            <a:off x="-420414" y="1668780"/>
            <a:ext cx="10332720" cy="1828800"/>
          </a:xfrm>
          <a:prstGeom prst="rect">
            <a:avLst/>
          </a:prstGeom>
          <a:noFill/>
          <a:ln/>
        </p:spPr>
        <p:txBody>
          <a:bodyPr wrap="square" rtlCol="0" anchor="ctr"/>
          <a:lstStyle/>
          <a:p>
            <a:pPr marL="0" indent="0" algn="ctr">
              <a:buNone/>
            </a:pPr>
            <a:endParaRPr lang="en-US" sz="4400" dirty="0"/>
          </a:p>
        </p:txBody>
      </p:sp>
      <p:sp>
        <p:nvSpPr>
          <p:cNvPr id="3" name="Text 1">
            <a:extLst>
              <a:ext uri="{FF2B5EF4-FFF2-40B4-BE49-F238E27FC236}">
                <a16:creationId xmlns:a16="http://schemas.microsoft.com/office/drawing/2014/main" id="{7A2CAF50-DD4C-E0FE-CFD7-BC6B7766FE33}"/>
              </a:ext>
            </a:extLst>
          </p:cNvPr>
          <p:cNvSpPr/>
          <p:nvPr/>
        </p:nvSpPr>
        <p:spPr>
          <a:xfrm>
            <a:off x="914400" y="3474720"/>
            <a:ext cx="10332720" cy="731520"/>
          </a:xfrm>
          <a:prstGeom prst="rect">
            <a:avLst/>
          </a:prstGeom>
          <a:noFill/>
          <a:ln/>
        </p:spPr>
        <p:txBody>
          <a:bodyPr wrap="square" rtlCol="0" anchor="ctr"/>
          <a:lstStyle/>
          <a:p>
            <a:pPr marL="0" indent="0" algn="ctr">
              <a:buNone/>
            </a:pPr>
            <a:endParaRPr lang="en-US" sz="1800" dirty="0"/>
          </a:p>
        </p:txBody>
      </p:sp>
      <p:sp>
        <p:nvSpPr>
          <p:cNvPr id="4" name="Text 2">
            <a:extLst>
              <a:ext uri="{FF2B5EF4-FFF2-40B4-BE49-F238E27FC236}">
                <a16:creationId xmlns:a16="http://schemas.microsoft.com/office/drawing/2014/main" id="{9BA21476-147B-8690-041D-55065DDD4B32}"/>
              </a:ext>
            </a:extLst>
          </p:cNvPr>
          <p:cNvSpPr/>
          <p:nvPr/>
        </p:nvSpPr>
        <p:spPr>
          <a:xfrm>
            <a:off x="163923" y="216055"/>
            <a:ext cx="8503920" cy="676600"/>
          </a:xfrm>
          <a:prstGeom prst="rect">
            <a:avLst/>
          </a:prstGeom>
          <a:solidFill>
            <a:srgbClr val="162238"/>
          </a:solidFill>
          <a:ln/>
        </p:spPr>
        <p:txBody>
          <a:bodyPr wrap="square" rtlCol="0" anchor="ctr"/>
          <a:lstStyle/>
          <a:p>
            <a:r>
              <a:rPr lang="en-IN" sz="2400" b="1" dirty="0">
                <a:solidFill>
                  <a:schemeClr val="bg1"/>
                </a:solidFill>
              </a:rPr>
              <a:t>Implementation Workflow</a:t>
            </a:r>
            <a:endParaRPr lang="en-IN" sz="2400" dirty="0">
              <a:solidFill>
                <a:schemeClr val="bg1"/>
              </a:solidFill>
            </a:endParaRPr>
          </a:p>
          <a:p>
            <a:br>
              <a:rPr lang="en-IN" sz="1200" dirty="0"/>
            </a:br>
            <a:endParaRPr lang="en-US" sz="1200" dirty="0"/>
          </a:p>
        </p:txBody>
      </p:sp>
      <p:pic>
        <p:nvPicPr>
          <p:cNvPr id="5" name="Picture 4" descr="image.png">
            <a:extLst>
              <a:ext uri="{FF2B5EF4-FFF2-40B4-BE49-F238E27FC236}">
                <a16:creationId xmlns:a16="http://schemas.microsoft.com/office/drawing/2014/main" id="{6996FF81-2D03-F242-34A4-C6E61B7BF504}"/>
              </a:ext>
            </a:extLst>
          </p:cNvPr>
          <p:cNvPicPr>
            <a:picLocks noChangeAspect="1"/>
          </p:cNvPicPr>
          <p:nvPr/>
        </p:nvPicPr>
        <p:blipFill>
          <a:blip r:embed="rId3"/>
          <a:stretch>
            <a:fillRect/>
          </a:stretch>
        </p:blipFill>
        <p:spPr>
          <a:xfrm>
            <a:off x="163923" y="1309989"/>
            <a:ext cx="2447056" cy="2470274"/>
          </a:xfrm>
          <a:prstGeom prst="rect">
            <a:avLst/>
          </a:prstGeom>
        </p:spPr>
      </p:pic>
      <p:sp>
        <p:nvSpPr>
          <p:cNvPr id="8" name="TextBox 7">
            <a:extLst>
              <a:ext uri="{FF2B5EF4-FFF2-40B4-BE49-F238E27FC236}">
                <a16:creationId xmlns:a16="http://schemas.microsoft.com/office/drawing/2014/main" id="{934BBD16-808A-07C4-2D22-5E707A3DDC31}"/>
              </a:ext>
            </a:extLst>
          </p:cNvPr>
          <p:cNvSpPr txBox="1"/>
          <p:nvPr/>
        </p:nvSpPr>
        <p:spPr>
          <a:xfrm>
            <a:off x="243098" y="1469024"/>
            <a:ext cx="5837662" cy="923330"/>
          </a:xfrm>
          <a:prstGeom prst="rect">
            <a:avLst/>
          </a:prstGeom>
          <a:noFill/>
        </p:spPr>
        <p:txBody>
          <a:bodyPr wrap="square">
            <a:spAutoFit/>
          </a:bodyPr>
          <a:lstStyle/>
          <a:p>
            <a:pPr rtl="0">
              <a:buNone/>
            </a:pPr>
            <a:r>
              <a:rPr lang="en-IN" sz="1800" b="1" i="0" u="none" strike="noStrike" dirty="0">
                <a:solidFill>
                  <a:srgbClr val="A3E635"/>
                </a:solidFill>
                <a:effectLst/>
                <a:latin typeface="Urbanist"/>
              </a:rPr>
              <a:t>Data Preparation</a:t>
            </a:r>
            <a:endParaRPr lang="en-IN" b="0" dirty="0">
              <a:effectLst/>
            </a:endParaRPr>
          </a:p>
          <a:p>
            <a:pPr>
              <a:buNone/>
            </a:pPr>
            <a:br>
              <a:rPr lang="en-IN" dirty="0"/>
            </a:br>
            <a:endParaRPr lang="en-IN" dirty="0"/>
          </a:p>
        </p:txBody>
      </p:sp>
      <p:sp>
        <p:nvSpPr>
          <p:cNvPr id="10" name="TextBox 9">
            <a:extLst>
              <a:ext uri="{FF2B5EF4-FFF2-40B4-BE49-F238E27FC236}">
                <a16:creationId xmlns:a16="http://schemas.microsoft.com/office/drawing/2014/main" id="{BB63D414-B8CC-0F76-DCD0-913828EE8DCA}"/>
              </a:ext>
            </a:extLst>
          </p:cNvPr>
          <p:cNvSpPr txBox="1"/>
          <p:nvPr/>
        </p:nvSpPr>
        <p:spPr>
          <a:xfrm>
            <a:off x="195419" y="1930689"/>
            <a:ext cx="2124035" cy="2369880"/>
          </a:xfrm>
          <a:prstGeom prst="rect">
            <a:avLst/>
          </a:prstGeom>
          <a:noFill/>
        </p:spPr>
        <p:txBody>
          <a:bodyPr wrap="square">
            <a:spAutoFit/>
          </a:bodyPr>
          <a:lstStyle/>
          <a:p>
            <a:pPr rtl="0">
              <a:buNone/>
            </a:pPr>
            <a:r>
              <a:rPr lang="en-IN" sz="1600" b="0" i="0" u="none" strike="noStrike" dirty="0">
                <a:solidFill>
                  <a:srgbClr val="CBD5E1"/>
                </a:solidFill>
                <a:effectLst/>
                <a:latin typeface="Urbanist"/>
              </a:rPr>
              <a:t>Loading the common-voice dataset, resampling audio to 16kHz, and computing Mel-spectrogram features for model input.</a:t>
            </a:r>
            <a:endParaRPr lang="en-IN" sz="1600" b="0" dirty="0">
              <a:effectLst/>
            </a:endParaRPr>
          </a:p>
          <a:p>
            <a:pPr>
              <a:buNone/>
            </a:pPr>
            <a:br>
              <a:rPr lang="en-IN" dirty="0"/>
            </a:br>
            <a:endParaRPr lang="en-IN" dirty="0"/>
          </a:p>
        </p:txBody>
      </p:sp>
      <p:pic>
        <p:nvPicPr>
          <p:cNvPr id="11" name="Picture 10" descr="image.png">
            <a:extLst>
              <a:ext uri="{FF2B5EF4-FFF2-40B4-BE49-F238E27FC236}">
                <a16:creationId xmlns:a16="http://schemas.microsoft.com/office/drawing/2014/main" id="{4F54F891-3D66-8591-9AAD-A7DFF085F9C0}"/>
              </a:ext>
            </a:extLst>
          </p:cNvPr>
          <p:cNvPicPr>
            <a:picLocks noChangeAspect="1"/>
          </p:cNvPicPr>
          <p:nvPr/>
        </p:nvPicPr>
        <p:blipFill>
          <a:blip r:embed="rId4"/>
          <a:stretch>
            <a:fillRect/>
          </a:stretch>
        </p:blipFill>
        <p:spPr>
          <a:xfrm>
            <a:off x="3161929" y="1329354"/>
            <a:ext cx="2447056" cy="2470274"/>
          </a:xfrm>
          <a:prstGeom prst="rect">
            <a:avLst/>
          </a:prstGeom>
        </p:spPr>
      </p:pic>
      <p:sp>
        <p:nvSpPr>
          <p:cNvPr id="13" name="TextBox 12">
            <a:extLst>
              <a:ext uri="{FF2B5EF4-FFF2-40B4-BE49-F238E27FC236}">
                <a16:creationId xmlns:a16="http://schemas.microsoft.com/office/drawing/2014/main" id="{775DB327-627A-55B7-C650-762689EE3C78}"/>
              </a:ext>
            </a:extLst>
          </p:cNvPr>
          <p:cNvSpPr txBox="1"/>
          <p:nvPr/>
        </p:nvSpPr>
        <p:spPr>
          <a:xfrm>
            <a:off x="3241104" y="1441389"/>
            <a:ext cx="5837662" cy="923330"/>
          </a:xfrm>
          <a:prstGeom prst="rect">
            <a:avLst/>
          </a:prstGeom>
          <a:noFill/>
        </p:spPr>
        <p:txBody>
          <a:bodyPr wrap="square">
            <a:spAutoFit/>
          </a:bodyPr>
          <a:lstStyle/>
          <a:p>
            <a:pPr rtl="0">
              <a:buNone/>
            </a:pPr>
            <a:r>
              <a:rPr lang="en-IN" sz="1800" b="1" i="0" u="none" strike="noStrike" dirty="0">
                <a:solidFill>
                  <a:srgbClr val="A3E635"/>
                </a:solidFill>
                <a:effectLst/>
                <a:latin typeface="Urbanist"/>
              </a:rPr>
              <a:t>Model Config</a:t>
            </a:r>
            <a:endParaRPr lang="en-IN" b="0" dirty="0">
              <a:effectLst/>
            </a:endParaRPr>
          </a:p>
          <a:p>
            <a:pPr>
              <a:buNone/>
            </a:pPr>
            <a:br>
              <a:rPr lang="en-IN" dirty="0"/>
            </a:br>
            <a:endParaRPr lang="en-IN" dirty="0"/>
          </a:p>
        </p:txBody>
      </p:sp>
      <p:sp>
        <p:nvSpPr>
          <p:cNvPr id="15" name="TextBox 14">
            <a:extLst>
              <a:ext uri="{FF2B5EF4-FFF2-40B4-BE49-F238E27FC236}">
                <a16:creationId xmlns:a16="http://schemas.microsoft.com/office/drawing/2014/main" id="{B7DA3ED1-29F4-FDF4-F8E5-FC495491B2D0}"/>
              </a:ext>
            </a:extLst>
          </p:cNvPr>
          <p:cNvSpPr txBox="1"/>
          <p:nvPr/>
        </p:nvSpPr>
        <p:spPr>
          <a:xfrm>
            <a:off x="3232460" y="1937671"/>
            <a:ext cx="2366846" cy="1815882"/>
          </a:xfrm>
          <a:prstGeom prst="rect">
            <a:avLst/>
          </a:prstGeom>
          <a:noFill/>
        </p:spPr>
        <p:txBody>
          <a:bodyPr wrap="square">
            <a:spAutoFit/>
          </a:bodyPr>
          <a:lstStyle/>
          <a:p>
            <a:pPr rtl="0">
              <a:buNone/>
            </a:pPr>
            <a:r>
              <a:rPr lang="en-IN" sz="1600" b="0" i="0" u="none" strike="noStrike" dirty="0">
                <a:solidFill>
                  <a:srgbClr val="CBD5E1"/>
                </a:solidFill>
                <a:effectLst/>
                <a:latin typeface="Urbanist"/>
              </a:rPr>
              <a:t>Integrating </a:t>
            </a:r>
            <a:r>
              <a:rPr lang="en-IN" sz="1600" b="0" i="0" u="none" strike="noStrike" dirty="0" err="1">
                <a:solidFill>
                  <a:srgbClr val="CBD5E1"/>
                </a:solidFill>
                <a:effectLst/>
                <a:latin typeface="Urbanist"/>
              </a:rPr>
              <a:t>BitsAndBytes</a:t>
            </a:r>
            <a:r>
              <a:rPr lang="en-IN" sz="1600" b="0" i="0" u="none" strike="noStrike" dirty="0">
                <a:solidFill>
                  <a:srgbClr val="CBD5E1"/>
                </a:solidFill>
                <a:effectLst/>
                <a:latin typeface="Urbanist"/>
              </a:rPr>
              <a:t> for 8-bit loading and setting up </a:t>
            </a:r>
            <a:r>
              <a:rPr lang="en-IN" sz="1600" b="0" i="0" u="none" strike="noStrike" dirty="0" err="1">
                <a:solidFill>
                  <a:srgbClr val="CBD5E1"/>
                </a:solidFill>
                <a:effectLst/>
                <a:latin typeface="Urbanist"/>
              </a:rPr>
              <a:t>LoRA</a:t>
            </a:r>
            <a:r>
              <a:rPr lang="en-IN" sz="1600" b="0" i="0" u="none" strike="noStrike" dirty="0">
                <a:solidFill>
                  <a:srgbClr val="CBD5E1"/>
                </a:solidFill>
                <a:effectLst/>
                <a:latin typeface="Urbanist"/>
              </a:rPr>
              <a:t> Config with specific rank and target modules.</a:t>
            </a:r>
            <a:endParaRPr lang="en-IN" sz="1600" b="0" dirty="0">
              <a:effectLst/>
            </a:endParaRPr>
          </a:p>
          <a:p>
            <a:pPr>
              <a:buNone/>
            </a:pPr>
            <a:br>
              <a:rPr lang="en-IN" sz="1600" dirty="0"/>
            </a:br>
            <a:endParaRPr lang="en-IN" sz="1600" dirty="0"/>
          </a:p>
        </p:txBody>
      </p:sp>
      <p:pic>
        <p:nvPicPr>
          <p:cNvPr id="16" name="Picture 15" descr="image.png">
            <a:extLst>
              <a:ext uri="{FF2B5EF4-FFF2-40B4-BE49-F238E27FC236}">
                <a16:creationId xmlns:a16="http://schemas.microsoft.com/office/drawing/2014/main" id="{894F585D-D208-231C-0670-E50DFE29FD63}"/>
              </a:ext>
            </a:extLst>
          </p:cNvPr>
          <p:cNvPicPr>
            <a:picLocks noChangeAspect="1"/>
          </p:cNvPicPr>
          <p:nvPr/>
        </p:nvPicPr>
        <p:blipFill>
          <a:blip r:embed="rId5"/>
          <a:stretch>
            <a:fillRect/>
          </a:stretch>
        </p:blipFill>
        <p:spPr>
          <a:xfrm>
            <a:off x="6151291" y="1309989"/>
            <a:ext cx="2655874" cy="2470274"/>
          </a:xfrm>
          <a:prstGeom prst="rect">
            <a:avLst/>
          </a:prstGeom>
        </p:spPr>
      </p:pic>
      <p:sp>
        <p:nvSpPr>
          <p:cNvPr id="18" name="TextBox 17">
            <a:extLst>
              <a:ext uri="{FF2B5EF4-FFF2-40B4-BE49-F238E27FC236}">
                <a16:creationId xmlns:a16="http://schemas.microsoft.com/office/drawing/2014/main" id="{BB809916-8E9B-8F21-3E93-FF7B0666E30D}"/>
              </a:ext>
            </a:extLst>
          </p:cNvPr>
          <p:cNvSpPr txBox="1"/>
          <p:nvPr/>
        </p:nvSpPr>
        <p:spPr>
          <a:xfrm>
            <a:off x="6440905" y="1414152"/>
            <a:ext cx="5837662" cy="923330"/>
          </a:xfrm>
          <a:prstGeom prst="rect">
            <a:avLst/>
          </a:prstGeom>
          <a:noFill/>
        </p:spPr>
        <p:txBody>
          <a:bodyPr wrap="square">
            <a:spAutoFit/>
          </a:bodyPr>
          <a:lstStyle/>
          <a:p>
            <a:pPr rtl="0">
              <a:buNone/>
            </a:pPr>
            <a:r>
              <a:rPr lang="en-IN" sz="1800" b="1" i="0" u="none" strike="noStrike" dirty="0">
                <a:solidFill>
                  <a:srgbClr val="A3E635"/>
                </a:solidFill>
                <a:effectLst/>
                <a:latin typeface="Urbanist"/>
              </a:rPr>
              <a:t>Evaluation</a:t>
            </a:r>
            <a:endParaRPr lang="en-IN" b="0" dirty="0">
              <a:effectLst/>
            </a:endParaRPr>
          </a:p>
          <a:p>
            <a:pPr>
              <a:buNone/>
            </a:pPr>
            <a:br>
              <a:rPr lang="en-IN" dirty="0"/>
            </a:br>
            <a:endParaRPr lang="en-IN" dirty="0"/>
          </a:p>
        </p:txBody>
      </p:sp>
      <p:sp>
        <p:nvSpPr>
          <p:cNvPr id="20" name="TextBox 19">
            <a:extLst>
              <a:ext uri="{FF2B5EF4-FFF2-40B4-BE49-F238E27FC236}">
                <a16:creationId xmlns:a16="http://schemas.microsoft.com/office/drawing/2014/main" id="{4FD0BF81-F2C1-7FE3-341D-983092134077}"/>
              </a:ext>
            </a:extLst>
          </p:cNvPr>
          <p:cNvSpPr txBox="1"/>
          <p:nvPr/>
        </p:nvSpPr>
        <p:spPr>
          <a:xfrm>
            <a:off x="6249814" y="1881454"/>
            <a:ext cx="2598920" cy="1815882"/>
          </a:xfrm>
          <a:prstGeom prst="rect">
            <a:avLst/>
          </a:prstGeom>
          <a:noFill/>
        </p:spPr>
        <p:txBody>
          <a:bodyPr wrap="square">
            <a:spAutoFit/>
          </a:bodyPr>
          <a:lstStyle/>
          <a:p>
            <a:pPr rtl="0">
              <a:buNone/>
            </a:pPr>
            <a:r>
              <a:rPr lang="en-IN" sz="1600" b="0" i="0" u="none" strike="noStrike" dirty="0">
                <a:solidFill>
                  <a:srgbClr val="CBD5E1"/>
                </a:solidFill>
                <a:effectLst/>
                <a:latin typeface="Urbanist"/>
              </a:rPr>
              <a:t>Training with </a:t>
            </a:r>
            <a:r>
              <a:rPr lang="en-IN" sz="1600" b="0" i="0" u="none" strike="noStrike" dirty="0" err="1">
                <a:solidFill>
                  <a:srgbClr val="CBD5E1"/>
                </a:solidFill>
                <a:effectLst/>
                <a:latin typeface="Urbanist"/>
              </a:rPr>
              <a:t>HuggingFace</a:t>
            </a:r>
            <a:r>
              <a:rPr lang="en-IN" sz="1600" b="0" i="0" u="none" strike="noStrike" dirty="0">
                <a:solidFill>
                  <a:srgbClr val="CBD5E1"/>
                </a:solidFill>
                <a:effectLst/>
                <a:latin typeface="Urbanist"/>
              </a:rPr>
              <a:t> Seq2SeqTrainer and calculating Word Error Rate (WER) to ensure domain adaptation success.</a:t>
            </a:r>
            <a:endParaRPr lang="en-IN" sz="1600" b="0" dirty="0">
              <a:effectLst/>
            </a:endParaRPr>
          </a:p>
          <a:p>
            <a:pPr>
              <a:buNone/>
            </a:pPr>
            <a:br>
              <a:rPr lang="en-IN" sz="1600" dirty="0"/>
            </a:br>
            <a:endParaRPr lang="en-IN" sz="1600" dirty="0"/>
          </a:p>
        </p:txBody>
      </p:sp>
    </p:spTree>
    <p:extLst>
      <p:ext uri="{BB962C8B-B14F-4D97-AF65-F5344CB8AC3E}">
        <p14:creationId xmlns:p14="http://schemas.microsoft.com/office/powerpoint/2010/main" val="4051914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bg>
      <p:bgPr>
        <a:solidFill>
          <a:srgbClr val="0B0F19"/>
        </a:solidFill>
        <a:effectLst/>
      </p:bgPr>
    </p:bg>
    <p:spTree>
      <p:nvGrpSpPr>
        <p:cNvPr id="1" name=""/>
        <p:cNvGrpSpPr/>
        <p:nvPr/>
      </p:nvGrpSpPr>
      <p:grpSpPr>
        <a:xfrm>
          <a:off x="0" y="0"/>
          <a:ext cx="0" cy="0"/>
          <a:chOff x="0" y="0"/>
          <a:chExt cx="0" cy="0"/>
        </a:xfrm>
      </p:grpSpPr>
      <p:sp>
        <p:nvSpPr>
          <p:cNvPr id="2" name="Shape 0"/>
          <p:cNvSpPr/>
          <p:nvPr/>
        </p:nvSpPr>
        <p:spPr>
          <a:xfrm>
            <a:off x="731520" y="457200"/>
            <a:ext cx="73152" cy="548640"/>
          </a:xfrm>
          <a:prstGeom prst="rect">
            <a:avLst/>
          </a:prstGeom>
          <a:solidFill>
            <a:srgbClr val="DEFF9A"/>
          </a:solidFill>
          <a:ln/>
        </p:spPr>
        <p:txBody>
          <a:bodyPr/>
          <a:lstStyle/>
          <a:p>
            <a:endParaRPr lang="en-IN"/>
          </a:p>
        </p:txBody>
      </p:sp>
      <p:sp>
        <p:nvSpPr>
          <p:cNvPr id="3" name="Text 1"/>
          <p:cNvSpPr/>
          <p:nvPr/>
        </p:nvSpPr>
        <p:spPr>
          <a:xfrm>
            <a:off x="914400" y="457200"/>
            <a:ext cx="105156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Introduction &amp; Core Challenge</a:t>
            </a:r>
            <a:endParaRPr lang="en-US" sz="2600" dirty="0"/>
          </a:p>
        </p:txBody>
      </p:sp>
      <p:sp>
        <p:nvSpPr>
          <p:cNvPr id="4" name="Shape 2"/>
          <p:cNvSpPr/>
          <p:nvPr/>
        </p:nvSpPr>
        <p:spPr>
          <a:xfrm>
            <a:off x="731520" y="6217920"/>
            <a:ext cx="10698480" cy="18288"/>
          </a:xfrm>
          <a:prstGeom prst="rect">
            <a:avLst/>
          </a:prstGeom>
          <a:solidFill>
            <a:srgbClr val="1A2948"/>
          </a:solidFill>
          <a:ln/>
        </p:spPr>
        <p:txBody>
          <a:bodyPr/>
          <a:lstStyle/>
          <a:p>
            <a:endParaRPr lang="en-IN"/>
          </a:p>
        </p:txBody>
      </p:sp>
      <p:sp>
        <p:nvSpPr>
          <p:cNvPr id="5" name="Shape 3"/>
          <p:cNvSpPr/>
          <p:nvPr/>
        </p:nvSpPr>
        <p:spPr>
          <a:xfrm>
            <a:off x="185610" y="1476756"/>
            <a:ext cx="4498848" cy="3461004"/>
          </a:xfrm>
          <a:prstGeom prst="rect">
            <a:avLst/>
          </a:prstGeom>
          <a:solidFill>
            <a:srgbClr val="162238"/>
          </a:solidFill>
          <a:ln/>
        </p:spPr>
        <p:txBody>
          <a:bodyPr/>
          <a:lstStyle/>
          <a:p>
            <a:endParaRPr lang="en-IN"/>
          </a:p>
        </p:txBody>
      </p:sp>
      <p:sp>
        <p:nvSpPr>
          <p:cNvPr id="6" name="Text 4"/>
          <p:cNvSpPr/>
          <p:nvPr/>
        </p:nvSpPr>
        <p:spPr>
          <a:xfrm>
            <a:off x="386778" y="1698498"/>
            <a:ext cx="4572000" cy="457200"/>
          </a:xfrm>
          <a:prstGeom prst="rect">
            <a:avLst/>
          </a:prstGeom>
          <a:noFill/>
          <a:ln/>
        </p:spPr>
        <p:txBody>
          <a:bodyPr wrap="square" rtlCol="0" anchor="ctr"/>
          <a:lstStyle/>
          <a:p>
            <a:pPr marL="0" indent="0">
              <a:buNone/>
            </a:pPr>
            <a:r>
              <a:rPr lang="en-US" sz="1800" b="1" dirty="0">
                <a:solidFill>
                  <a:srgbClr val="DEFF9A"/>
                </a:solidFill>
                <a:latin typeface="Arial" pitchFamily="34" charset="0"/>
                <a:ea typeface="Arial" pitchFamily="34" charset="-122"/>
                <a:cs typeface="Arial" pitchFamily="34" charset="-120"/>
              </a:rPr>
              <a:t> The Reference Scarcity Problem</a:t>
            </a:r>
            <a:endParaRPr lang="en-US" sz="1800" dirty="0"/>
          </a:p>
        </p:txBody>
      </p:sp>
      <p:sp>
        <p:nvSpPr>
          <p:cNvPr id="7" name="Text 5"/>
          <p:cNvSpPr/>
          <p:nvPr/>
        </p:nvSpPr>
        <p:spPr>
          <a:xfrm>
            <a:off x="313626" y="1989127"/>
            <a:ext cx="4572000" cy="3108960"/>
          </a:xfrm>
          <a:prstGeom prst="rect">
            <a:avLst/>
          </a:prstGeom>
          <a:noFill/>
          <a:ln/>
        </p:spPr>
        <p:txBody>
          <a:bodyPr wrap="square" rtlCol="0" anchor="ctr"/>
          <a:lstStyle/>
          <a:p>
            <a:pPr marL="0" indent="0">
              <a:buNone/>
            </a:pPr>
            <a:r>
              <a:rPr lang="en-US" sz="1300" dirty="0">
                <a:solidFill>
                  <a:srgbClr val="CBD5E1"/>
                </a:solidFill>
                <a:latin typeface="Arial" pitchFamily="34" charset="0"/>
                <a:ea typeface="Arial" pitchFamily="34" charset="-122"/>
                <a:cs typeface="Arial" pitchFamily="34" charset="-120"/>
              </a:rPr>
              <a:t>Standard Automatic Speech Recognition (ASR) benchmarking relies deeply on human-annotated ground-truth transcripts to compute Word Error Rate (WER).</a:t>
            </a:r>
            <a:endParaRPr lang="en-US" sz="1300" dirty="0"/>
          </a:p>
          <a:p>
            <a:pPr marL="0" indent="0">
              <a:buNone/>
            </a:pPr>
            <a:endParaRPr lang="en-US" sz="1300" dirty="0"/>
          </a:p>
          <a:p>
            <a:pPr marL="0" indent="0">
              <a:buNone/>
            </a:pPr>
            <a:r>
              <a:rPr lang="en-US" sz="1300" dirty="0">
                <a:solidFill>
                  <a:srgbClr val="CBD5E1"/>
                </a:solidFill>
                <a:latin typeface="Arial" pitchFamily="34" charset="0"/>
                <a:ea typeface="Arial" pitchFamily="34" charset="-122"/>
                <a:cs typeface="Arial" pitchFamily="34" charset="-120"/>
              </a:rPr>
              <a:t>For regional dialects or highly customized vocabularies (e.g., Punjabi Gurmukhi script), verified datasets are exceptionally scarce, rendering traditional evaluation techniques impossible to execute.</a:t>
            </a:r>
            <a:endParaRPr lang="en-US" sz="1300" dirty="0"/>
          </a:p>
        </p:txBody>
      </p:sp>
      <p:sp>
        <p:nvSpPr>
          <p:cNvPr id="8" name="Shape 6"/>
          <p:cNvSpPr/>
          <p:nvPr/>
        </p:nvSpPr>
        <p:spPr>
          <a:xfrm>
            <a:off x="4812474" y="1476756"/>
            <a:ext cx="4185222" cy="3461004"/>
          </a:xfrm>
          <a:prstGeom prst="rect">
            <a:avLst/>
          </a:prstGeom>
          <a:solidFill>
            <a:srgbClr val="162238"/>
          </a:solidFill>
          <a:ln/>
        </p:spPr>
        <p:txBody>
          <a:bodyPr/>
          <a:lstStyle/>
          <a:p>
            <a:endParaRPr lang="en-IN"/>
          </a:p>
        </p:txBody>
      </p:sp>
      <p:sp>
        <p:nvSpPr>
          <p:cNvPr id="9" name="Text 7"/>
          <p:cNvSpPr/>
          <p:nvPr/>
        </p:nvSpPr>
        <p:spPr>
          <a:xfrm>
            <a:off x="5086794" y="1677924"/>
            <a:ext cx="4663440" cy="457200"/>
          </a:xfrm>
          <a:prstGeom prst="rect">
            <a:avLst/>
          </a:prstGeom>
          <a:noFill/>
          <a:ln/>
        </p:spPr>
        <p:txBody>
          <a:bodyPr wrap="square" rtlCol="0" anchor="ctr"/>
          <a:lstStyle/>
          <a:p>
            <a:pPr marL="0" indent="0">
              <a:buNone/>
            </a:pPr>
            <a:r>
              <a:rPr lang="en-US" sz="1800" b="1" dirty="0">
                <a:solidFill>
                  <a:srgbClr val="DEFF9A"/>
                </a:solidFill>
                <a:latin typeface="Arial" pitchFamily="34" charset="0"/>
                <a:ea typeface="Arial" pitchFamily="34" charset="-122"/>
                <a:cs typeface="Arial" pitchFamily="34" charset="-120"/>
              </a:rPr>
              <a:t> Proposed Methodology</a:t>
            </a:r>
            <a:endParaRPr lang="en-US" sz="1800" dirty="0"/>
          </a:p>
        </p:txBody>
      </p:sp>
      <p:sp>
        <p:nvSpPr>
          <p:cNvPr id="10" name="Text 8"/>
          <p:cNvSpPr/>
          <p:nvPr/>
        </p:nvSpPr>
        <p:spPr>
          <a:xfrm>
            <a:off x="4812474" y="2194560"/>
            <a:ext cx="4185222" cy="731520"/>
          </a:xfrm>
          <a:prstGeom prst="rect">
            <a:avLst/>
          </a:prstGeom>
          <a:noFill/>
          <a:ln/>
        </p:spPr>
        <p:txBody>
          <a:bodyPr wrap="square" rtlCol="0" anchor="ctr"/>
          <a:lstStyle/>
          <a:p>
            <a:pPr marL="0" indent="0">
              <a:buNone/>
            </a:pPr>
            <a:r>
              <a:rPr lang="en-US" sz="1300" dirty="0">
                <a:solidFill>
                  <a:srgbClr val="CBD5E1"/>
                </a:solidFill>
                <a:latin typeface="Arial" pitchFamily="34" charset="0"/>
                <a:ea typeface="Arial" pitchFamily="34" charset="-122"/>
                <a:cs typeface="Arial" pitchFamily="34" charset="-120"/>
              </a:rPr>
              <a:t>This project introduces a dual-pronged alternative validation stack in Code.ipynb:</a:t>
            </a:r>
            <a:endParaRPr lang="en-US" sz="1300" dirty="0"/>
          </a:p>
        </p:txBody>
      </p:sp>
      <p:sp>
        <p:nvSpPr>
          <p:cNvPr id="11" name="Text 9"/>
          <p:cNvSpPr/>
          <p:nvPr/>
        </p:nvSpPr>
        <p:spPr>
          <a:xfrm>
            <a:off x="4885626" y="2647495"/>
            <a:ext cx="4112070" cy="2286000"/>
          </a:xfrm>
          <a:prstGeom prst="rect">
            <a:avLst/>
          </a:prstGeom>
          <a:noFill/>
          <a:ln/>
        </p:spPr>
        <p:txBody>
          <a:bodyPr wrap="square" rtlCol="0" anchor="ctr"/>
          <a:lstStyle/>
          <a:p>
            <a:pPr marL="342900" indent="-342900">
              <a:lnSpc>
                <a:spcPts val="2200"/>
              </a:lnSpc>
              <a:buSzPct val="100000"/>
              <a:buChar char="•"/>
            </a:pPr>
            <a:r>
              <a:rPr lang="en-US" sz="1300" dirty="0">
                <a:solidFill>
                  <a:srgbClr val="CBD5E1"/>
                </a:solidFill>
                <a:latin typeface="Arial" pitchFamily="34" charset="0"/>
                <a:ea typeface="Arial" pitchFamily="34" charset="-122"/>
                <a:cs typeface="Arial" pitchFamily="34" charset="-120"/>
              </a:rPr>
              <a:t>Token Consensus Engine: Merges transcripts from multiple fine-tuned models to synthesize a high-integrity Pseudo-Ground Truth.</a:t>
            </a:r>
            <a:endParaRPr lang="en-US" sz="1300" dirty="0"/>
          </a:p>
          <a:p>
            <a:pPr marL="342900" indent="-342900">
              <a:lnSpc>
                <a:spcPts val="2200"/>
              </a:lnSpc>
              <a:buSzPct val="100000"/>
              <a:buChar char="•"/>
            </a:pPr>
            <a:r>
              <a:rPr lang="en-US" sz="1300" dirty="0">
                <a:solidFill>
                  <a:srgbClr val="CBD5E1"/>
                </a:solidFill>
                <a:latin typeface="Arial" pitchFamily="34" charset="0"/>
                <a:ea typeface="Arial" pitchFamily="34" charset="-122"/>
                <a:cs typeface="Arial" pitchFamily="34" charset="-120"/>
              </a:rPr>
              <a:t>Autonomous LLM Judges: Evaluates transcription quality zero-shot using cloud-based Gemini &amp; local Gemma models.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3">
    <p:bg>
      <p:bgPr>
        <a:solidFill>
          <a:srgbClr val="0B0F19"/>
        </a:solidFill>
        <a:effectLst/>
      </p:bgPr>
    </p:bg>
    <p:spTree>
      <p:nvGrpSpPr>
        <p:cNvPr id="1" name=""/>
        <p:cNvGrpSpPr/>
        <p:nvPr/>
      </p:nvGrpSpPr>
      <p:grpSpPr>
        <a:xfrm>
          <a:off x="0" y="0"/>
          <a:ext cx="0" cy="0"/>
          <a:chOff x="0" y="0"/>
          <a:chExt cx="0" cy="0"/>
        </a:xfrm>
      </p:grpSpPr>
      <p:sp>
        <p:nvSpPr>
          <p:cNvPr id="2" name="Shape 0"/>
          <p:cNvSpPr/>
          <p:nvPr/>
        </p:nvSpPr>
        <p:spPr>
          <a:xfrm>
            <a:off x="731520" y="457200"/>
            <a:ext cx="73152" cy="548640"/>
          </a:xfrm>
          <a:prstGeom prst="rect">
            <a:avLst/>
          </a:prstGeom>
          <a:solidFill>
            <a:srgbClr val="DEFF9A"/>
          </a:solidFill>
          <a:ln/>
        </p:spPr>
        <p:txBody>
          <a:bodyPr/>
          <a:lstStyle/>
          <a:p>
            <a:endParaRPr lang="en-IN"/>
          </a:p>
        </p:txBody>
      </p:sp>
      <p:sp>
        <p:nvSpPr>
          <p:cNvPr id="3" name="Text 1"/>
          <p:cNvSpPr/>
          <p:nvPr/>
        </p:nvSpPr>
        <p:spPr>
          <a:xfrm>
            <a:off x="914400" y="457200"/>
            <a:ext cx="105156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System Ecosystem &amp; Parameter Pools</a:t>
            </a:r>
            <a:endParaRPr lang="en-US" sz="2600" dirty="0"/>
          </a:p>
        </p:txBody>
      </p:sp>
      <p:sp>
        <p:nvSpPr>
          <p:cNvPr id="4" name="Shape 2"/>
          <p:cNvSpPr/>
          <p:nvPr/>
        </p:nvSpPr>
        <p:spPr>
          <a:xfrm>
            <a:off x="731520" y="6217920"/>
            <a:ext cx="10698480" cy="18288"/>
          </a:xfrm>
          <a:prstGeom prst="rect">
            <a:avLst/>
          </a:prstGeom>
          <a:solidFill>
            <a:srgbClr val="1A2948"/>
          </a:solidFill>
          <a:ln/>
        </p:spPr>
        <p:txBody>
          <a:bodyPr/>
          <a:lstStyle/>
          <a:p>
            <a:endParaRPr lang="en-IN"/>
          </a:p>
        </p:txBody>
      </p:sp>
      <p:sp>
        <p:nvSpPr>
          <p:cNvPr id="5" name="Shape 3"/>
          <p:cNvSpPr/>
          <p:nvPr/>
        </p:nvSpPr>
        <p:spPr>
          <a:xfrm>
            <a:off x="182880" y="1531620"/>
            <a:ext cx="2675507" cy="3497580"/>
          </a:xfrm>
          <a:prstGeom prst="rect">
            <a:avLst/>
          </a:prstGeom>
          <a:solidFill>
            <a:srgbClr val="162238"/>
          </a:solidFill>
          <a:ln/>
        </p:spPr>
        <p:txBody>
          <a:bodyPr/>
          <a:lstStyle/>
          <a:p>
            <a:endParaRPr lang="en-IN"/>
          </a:p>
        </p:txBody>
      </p:sp>
      <p:sp>
        <p:nvSpPr>
          <p:cNvPr id="6" name="Text 4"/>
          <p:cNvSpPr/>
          <p:nvPr/>
        </p:nvSpPr>
        <p:spPr>
          <a:xfrm>
            <a:off x="343787" y="1737360"/>
            <a:ext cx="2651760" cy="731520"/>
          </a:xfrm>
          <a:prstGeom prst="rect">
            <a:avLst/>
          </a:prstGeom>
          <a:noFill/>
          <a:ln/>
        </p:spPr>
        <p:txBody>
          <a:bodyPr wrap="square" rtlCol="0" anchor="ctr"/>
          <a:lstStyle/>
          <a:p>
            <a:pPr marL="0" indent="0">
              <a:buNone/>
            </a:pPr>
            <a:r>
              <a:rPr lang="en-US" sz="1800" b="1" dirty="0">
                <a:solidFill>
                  <a:srgbClr val="FFFFFF"/>
                </a:solidFill>
                <a:latin typeface="Arial" pitchFamily="34" charset="0"/>
                <a:ea typeface="Arial" pitchFamily="34" charset="-122"/>
                <a:cs typeface="Arial" pitchFamily="34" charset="-120"/>
              </a:rPr>
              <a:t>LoRA Fine-Tuned Whisper Array</a:t>
            </a:r>
            <a:endParaRPr lang="en-US" sz="1800" dirty="0"/>
          </a:p>
        </p:txBody>
      </p:sp>
      <p:sp>
        <p:nvSpPr>
          <p:cNvPr id="7" name="Text 5"/>
          <p:cNvSpPr/>
          <p:nvPr/>
        </p:nvSpPr>
        <p:spPr>
          <a:xfrm>
            <a:off x="275207" y="2286000"/>
            <a:ext cx="2651760" cy="2194560"/>
          </a:xfrm>
          <a:prstGeom prst="rect">
            <a:avLst/>
          </a:prstGeom>
          <a:noFill/>
          <a:ln/>
        </p:spPr>
        <p:txBody>
          <a:bodyPr wrap="square" rtlCol="0" anchor="ctr"/>
          <a:lstStyle/>
          <a:p>
            <a:pPr marL="0" indent="0">
              <a:buNone/>
            </a:pPr>
            <a:r>
              <a:rPr lang="en-US" sz="1300" dirty="0">
                <a:solidFill>
                  <a:srgbClr val="CBD5E1"/>
                </a:solidFill>
                <a:latin typeface="Arial" pitchFamily="34" charset="0"/>
                <a:ea typeface="Arial" pitchFamily="34" charset="-122"/>
                <a:cs typeface="Arial" pitchFamily="34" charset="-120"/>
              </a:rPr>
              <a:t>Using 5 distinct fine-tuned architectures optimized with LoRA adapters for Gurmukhi Punjabi speech patterns: Whisper Turbo, Medium, and Small classes.</a:t>
            </a:r>
            <a:endParaRPr lang="en-US" sz="1300" dirty="0"/>
          </a:p>
        </p:txBody>
      </p:sp>
      <p:sp>
        <p:nvSpPr>
          <p:cNvPr id="8" name="Text 6"/>
          <p:cNvSpPr/>
          <p:nvPr/>
        </p:nvSpPr>
        <p:spPr>
          <a:xfrm>
            <a:off x="282235" y="4451559"/>
            <a:ext cx="2651760" cy="365760"/>
          </a:xfrm>
          <a:prstGeom prst="rect">
            <a:avLst/>
          </a:prstGeom>
          <a:noFill/>
          <a:ln/>
        </p:spPr>
        <p:txBody>
          <a:bodyPr wrap="square" rtlCol="0" anchor="ctr"/>
          <a:lstStyle/>
          <a:p>
            <a:pPr marL="0" indent="0">
              <a:buNone/>
            </a:pPr>
            <a:r>
              <a:rPr lang="en-US" sz="1000" b="1" dirty="0">
                <a:solidFill>
                  <a:srgbClr val="DEFF9A"/>
                </a:solidFill>
                <a:latin typeface="Courier New" pitchFamily="34" charset="0"/>
                <a:ea typeface="Courier New" pitchFamily="34" charset="-122"/>
                <a:cs typeface="Courier New" pitchFamily="34" charset="-120"/>
              </a:rPr>
              <a:t>ASR Processing Engine</a:t>
            </a:r>
            <a:endParaRPr lang="en-US" sz="1000" dirty="0"/>
          </a:p>
        </p:txBody>
      </p:sp>
      <p:sp>
        <p:nvSpPr>
          <p:cNvPr id="9" name="Shape 7"/>
          <p:cNvSpPr/>
          <p:nvPr/>
        </p:nvSpPr>
        <p:spPr>
          <a:xfrm>
            <a:off x="3164641" y="1531620"/>
            <a:ext cx="2719455" cy="3497580"/>
          </a:xfrm>
          <a:prstGeom prst="rect">
            <a:avLst/>
          </a:prstGeom>
          <a:solidFill>
            <a:srgbClr val="162238"/>
          </a:solidFill>
          <a:ln/>
        </p:spPr>
        <p:txBody>
          <a:bodyPr/>
          <a:lstStyle/>
          <a:p>
            <a:endParaRPr lang="en-IN"/>
          </a:p>
        </p:txBody>
      </p:sp>
      <p:sp>
        <p:nvSpPr>
          <p:cNvPr id="10" name="Text 8"/>
          <p:cNvSpPr/>
          <p:nvPr/>
        </p:nvSpPr>
        <p:spPr>
          <a:xfrm>
            <a:off x="3327601" y="1737360"/>
            <a:ext cx="2651760" cy="731520"/>
          </a:xfrm>
          <a:prstGeom prst="rect">
            <a:avLst/>
          </a:prstGeom>
          <a:noFill/>
          <a:ln/>
        </p:spPr>
        <p:txBody>
          <a:bodyPr wrap="square" rtlCol="0" anchor="ctr"/>
          <a:lstStyle/>
          <a:p>
            <a:pPr marL="0" indent="0">
              <a:buNone/>
            </a:pPr>
            <a:r>
              <a:rPr lang="en-US" sz="1800" b="1" dirty="0">
                <a:solidFill>
                  <a:srgbClr val="FFFFFF"/>
                </a:solidFill>
                <a:latin typeface="Arial" pitchFamily="34" charset="0"/>
                <a:ea typeface="Arial" pitchFamily="34" charset="-122"/>
                <a:cs typeface="Arial" pitchFamily="34" charset="-120"/>
              </a:rPr>
              <a:t>Cloud-Based LLM Judge</a:t>
            </a:r>
            <a:endParaRPr lang="en-US" sz="1800" dirty="0"/>
          </a:p>
        </p:txBody>
      </p:sp>
      <p:sp>
        <p:nvSpPr>
          <p:cNvPr id="11" name="Text 9"/>
          <p:cNvSpPr/>
          <p:nvPr/>
        </p:nvSpPr>
        <p:spPr>
          <a:xfrm>
            <a:off x="3301801" y="2240962"/>
            <a:ext cx="2651760" cy="2194560"/>
          </a:xfrm>
          <a:prstGeom prst="rect">
            <a:avLst/>
          </a:prstGeom>
          <a:noFill/>
          <a:ln/>
        </p:spPr>
        <p:txBody>
          <a:bodyPr wrap="square" rtlCol="0" anchor="ctr"/>
          <a:lstStyle/>
          <a:p>
            <a:pPr marL="0" indent="0">
              <a:buNone/>
            </a:pPr>
            <a:r>
              <a:rPr lang="en-US" sz="1300" dirty="0">
                <a:solidFill>
                  <a:srgbClr val="CBD5E1"/>
                </a:solidFill>
                <a:latin typeface="Arial" pitchFamily="34" charset="0"/>
                <a:ea typeface="Arial" pitchFamily="34" charset="-122"/>
                <a:cs typeface="Arial" pitchFamily="34" charset="-120"/>
              </a:rPr>
              <a:t>Google Gemini 2.5 Flash accessed through the modern cloud GenAI API to deliver scalable, zero-shot comparative linguistic auditing.</a:t>
            </a:r>
            <a:endParaRPr lang="en-US" sz="1300" dirty="0"/>
          </a:p>
        </p:txBody>
      </p:sp>
      <p:sp>
        <p:nvSpPr>
          <p:cNvPr id="12" name="Text 10"/>
          <p:cNvSpPr/>
          <p:nvPr/>
        </p:nvSpPr>
        <p:spPr>
          <a:xfrm>
            <a:off x="3771015" y="4480560"/>
            <a:ext cx="2651760" cy="365760"/>
          </a:xfrm>
          <a:prstGeom prst="rect">
            <a:avLst/>
          </a:prstGeom>
          <a:noFill/>
          <a:ln/>
        </p:spPr>
        <p:txBody>
          <a:bodyPr wrap="square" rtlCol="0" anchor="ctr"/>
          <a:lstStyle/>
          <a:p>
            <a:pPr marL="0" indent="0">
              <a:buNone/>
            </a:pPr>
            <a:r>
              <a:rPr lang="en-US" sz="1000" b="1" dirty="0">
                <a:solidFill>
                  <a:srgbClr val="DEFF9A"/>
                </a:solidFill>
                <a:latin typeface="Courier New" pitchFamily="34" charset="0"/>
                <a:ea typeface="Courier New" pitchFamily="34" charset="-122"/>
                <a:cs typeface="Courier New" pitchFamily="34" charset="-120"/>
              </a:rPr>
              <a:t>API Consensus Evaluator</a:t>
            </a:r>
            <a:endParaRPr lang="en-US" sz="1000" dirty="0"/>
          </a:p>
        </p:txBody>
      </p:sp>
      <p:sp>
        <p:nvSpPr>
          <p:cNvPr id="13" name="Shape 11"/>
          <p:cNvSpPr/>
          <p:nvPr/>
        </p:nvSpPr>
        <p:spPr>
          <a:xfrm>
            <a:off x="6285615" y="1531620"/>
            <a:ext cx="2719455" cy="3497580"/>
          </a:xfrm>
          <a:prstGeom prst="rect">
            <a:avLst/>
          </a:prstGeom>
          <a:solidFill>
            <a:srgbClr val="162238"/>
          </a:solidFill>
          <a:ln/>
        </p:spPr>
        <p:txBody>
          <a:bodyPr/>
          <a:lstStyle/>
          <a:p>
            <a:endParaRPr lang="en-IN"/>
          </a:p>
        </p:txBody>
      </p:sp>
      <p:sp>
        <p:nvSpPr>
          <p:cNvPr id="14" name="Text 12"/>
          <p:cNvSpPr/>
          <p:nvPr/>
        </p:nvSpPr>
        <p:spPr>
          <a:xfrm>
            <a:off x="6637589" y="1737360"/>
            <a:ext cx="2651760" cy="731520"/>
          </a:xfrm>
          <a:prstGeom prst="rect">
            <a:avLst/>
          </a:prstGeom>
          <a:noFill/>
          <a:ln/>
        </p:spPr>
        <p:txBody>
          <a:bodyPr wrap="square" rtlCol="0" anchor="ctr"/>
          <a:lstStyle/>
          <a:p>
            <a:pPr marL="0" indent="0">
              <a:buNone/>
            </a:pPr>
            <a:r>
              <a:rPr lang="en-US" sz="1800" b="1" dirty="0">
                <a:solidFill>
                  <a:srgbClr val="FFFFFF"/>
                </a:solidFill>
                <a:latin typeface="Arial" pitchFamily="34" charset="0"/>
                <a:ea typeface="Arial" pitchFamily="34" charset="-122"/>
                <a:cs typeface="Arial" pitchFamily="34" charset="-120"/>
              </a:rPr>
              <a:t>Local GPU-Accelerated Judges</a:t>
            </a:r>
            <a:endParaRPr lang="en-US" sz="1800" dirty="0"/>
          </a:p>
        </p:txBody>
      </p:sp>
      <p:sp>
        <p:nvSpPr>
          <p:cNvPr id="15" name="Text 13"/>
          <p:cNvSpPr/>
          <p:nvPr/>
        </p:nvSpPr>
        <p:spPr>
          <a:xfrm>
            <a:off x="6378827" y="2263481"/>
            <a:ext cx="2651760" cy="2194560"/>
          </a:xfrm>
          <a:prstGeom prst="rect">
            <a:avLst/>
          </a:prstGeom>
          <a:noFill/>
          <a:ln/>
        </p:spPr>
        <p:txBody>
          <a:bodyPr wrap="square" rtlCol="0" anchor="ctr"/>
          <a:lstStyle/>
          <a:p>
            <a:pPr marL="0" indent="0">
              <a:buNone/>
            </a:pPr>
            <a:r>
              <a:rPr lang="en-US" sz="1300" dirty="0">
                <a:solidFill>
                  <a:srgbClr val="CBD5E1"/>
                </a:solidFill>
                <a:latin typeface="Arial" pitchFamily="34" charset="0"/>
                <a:ea typeface="Arial" pitchFamily="34" charset="-122"/>
                <a:cs typeface="Arial" pitchFamily="34" charset="-120"/>
              </a:rPr>
              <a:t>Google Gemma-2-2b-it and Gemma-3-4b-it models deployed locally on a T4 GPU under strict memory optimization profiles (bnb 4-bit config).</a:t>
            </a:r>
            <a:endParaRPr lang="en-US" sz="1300" dirty="0"/>
          </a:p>
        </p:txBody>
      </p:sp>
      <p:sp>
        <p:nvSpPr>
          <p:cNvPr id="16" name="Text 14"/>
          <p:cNvSpPr/>
          <p:nvPr/>
        </p:nvSpPr>
        <p:spPr>
          <a:xfrm>
            <a:off x="6637589" y="4467936"/>
            <a:ext cx="2651760" cy="365760"/>
          </a:xfrm>
          <a:prstGeom prst="rect">
            <a:avLst/>
          </a:prstGeom>
          <a:noFill/>
          <a:ln/>
        </p:spPr>
        <p:txBody>
          <a:bodyPr wrap="square" rtlCol="0" anchor="ctr"/>
          <a:lstStyle/>
          <a:p>
            <a:pPr marL="0" indent="0">
              <a:buNone/>
            </a:pPr>
            <a:r>
              <a:rPr lang="en-US" sz="1000" b="1" dirty="0">
                <a:solidFill>
                  <a:srgbClr val="DEFF9A"/>
                </a:solidFill>
                <a:latin typeface="Courier New" pitchFamily="34" charset="0"/>
                <a:ea typeface="Courier New" pitchFamily="34" charset="-122"/>
                <a:cs typeface="Courier New" pitchFamily="34" charset="-120"/>
              </a:rPr>
              <a:t>Local Evaluation Judges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bg>
      <p:bgPr>
        <a:solidFill>
          <a:srgbClr val="0B0F19"/>
        </a:solidFill>
        <a:effectLst/>
      </p:bgPr>
    </p:bg>
    <p:spTree>
      <p:nvGrpSpPr>
        <p:cNvPr id="1" name=""/>
        <p:cNvGrpSpPr/>
        <p:nvPr/>
      </p:nvGrpSpPr>
      <p:grpSpPr>
        <a:xfrm>
          <a:off x="0" y="0"/>
          <a:ext cx="0" cy="0"/>
          <a:chOff x="0" y="0"/>
          <a:chExt cx="0" cy="0"/>
        </a:xfrm>
      </p:grpSpPr>
      <p:sp>
        <p:nvSpPr>
          <p:cNvPr id="2" name="Shape 0"/>
          <p:cNvSpPr/>
          <p:nvPr/>
        </p:nvSpPr>
        <p:spPr>
          <a:xfrm>
            <a:off x="731520" y="457200"/>
            <a:ext cx="73152" cy="548640"/>
          </a:xfrm>
          <a:prstGeom prst="rect">
            <a:avLst/>
          </a:prstGeom>
          <a:solidFill>
            <a:srgbClr val="DEFF9A"/>
          </a:solidFill>
          <a:ln/>
        </p:spPr>
        <p:txBody>
          <a:bodyPr/>
          <a:lstStyle/>
          <a:p>
            <a:endParaRPr lang="en-IN"/>
          </a:p>
        </p:txBody>
      </p:sp>
      <p:sp>
        <p:nvSpPr>
          <p:cNvPr id="3" name="Text 1"/>
          <p:cNvSpPr/>
          <p:nvPr/>
        </p:nvSpPr>
        <p:spPr>
          <a:xfrm>
            <a:off x="914400" y="457200"/>
            <a:ext cx="105156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Code Block 1 &amp; 2 - Setup and Dependencies</a:t>
            </a:r>
            <a:endParaRPr lang="en-US" sz="2600" dirty="0"/>
          </a:p>
        </p:txBody>
      </p:sp>
      <p:sp>
        <p:nvSpPr>
          <p:cNvPr id="4" name="Shape 2"/>
          <p:cNvSpPr/>
          <p:nvPr/>
        </p:nvSpPr>
        <p:spPr>
          <a:xfrm>
            <a:off x="731520" y="6217920"/>
            <a:ext cx="10698480" cy="18288"/>
          </a:xfrm>
          <a:prstGeom prst="rect">
            <a:avLst/>
          </a:prstGeom>
          <a:solidFill>
            <a:srgbClr val="1A2948"/>
          </a:solidFill>
          <a:ln/>
        </p:spPr>
        <p:txBody>
          <a:bodyPr/>
          <a:lstStyle/>
          <a:p>
            <a:endParaRPr lang="en-IN"/>
          </a:p>
        </p:txBody>
      </p:sp>
      <p:sp>
        <p:nvSpPr>
          <p:cNvPr id="5" name="Shape 3"/>
          <p:cNvSpPr/>
          <p:nvPr/>
        </p:nvSpPr>
        <p:spPr>
          <a:xfrm>
            <a:off x="131018" y="1371600"/>
            <a:ext cx="4367830" cy="3639312"/>
          </a:xfrm>
          <a:prstGeom prst="rect">
            <a:avLst/>
          </a:prstGeom>
          <a:solidFill>
            <a:srgbClr val="162238"/>
          </a:solidFill>
          <a:ln/>
        </p:spPr>
        <p:txBody>
          <a:bodyPr/>
          <a:lstStyle/>
          <a:p>
            <a:endParaRPr lang="en-IN"/>
          </a:p>
        </p:txBody>
      </p:sp>
      <p:sp>
        <p:nvSpPr>
          <p:cNvPr id="6" name="Text 4"/>
          <p:cNvSpPr/>
          <p:nvPr/>
        </p:nvSpPr>
        <p:spPr>
          <a:xfrm>
            <a:off x="201168" y="1682428"/>
            <a:ext cx="4572000" cy="365760"/>
          </a:xfrm>
          <a:prstGeom prst="rect">
            <a:avLst/>
          </a:prstGeom>
          <a:noFill/>
          <a:ln/>
        </p:spPr>
        <p:txBody>
          <a:bodyPr wrap="square" rtlCol="0" anchor="ctr"/>
          <a:lstStyle/>
          <a:p>
            <a:pPr marL="0" indent="0">
              <a:buNone/>
            </a:pPr>
            <a:r>
              <a:rPr lang="en-US" sz="1800" b="1" dirty="0">
                <a:solidFill>
                  <a:srgbClr val="DEFF9A"/>
                </a:solidFill>
                <a:latin typeface="Arial" pitchFamily="34" charset="0"/>
                <a:ea typeface="Arial" pitchFamily="34" charset="-122"/>
                <a:cs typeface="Arial" pitchFamily="34" charset="-120"/>
              </a:rPr>
              <a:t>1. Core ML Validation Libs</a:t>
            </a:r>
            <a:endParaRPr lang="en-US" sz="1800" dirty="0"/>
          </a:p>
        </p:txBody>
      </p:sp>
      <p:sp>
        <p:nvSpPr>
          <p:cNvPr id="7" name="Text 5"/>
          <p:cNvSpPr/>
          <p:nvPr/>
        </p:nvSpPr>
        <p:spPr>
          <a:xfrm>
            <a:off x="73154" y="2057400"/>
            <a:ext cx="4572000" cy="731520"/>
          </a:xfrm>
          <a:prstGeom prst="rect">
            <a:avLst/>
          </a:prstGeom>
          <a:noFill/>
          <a:ln/>
        </p:spPr>
        <p:txBody>
          <a:bodyPr wrap="square" rtlCol="0" anchor="ctr"/>
          <a:lstStyle/>
          <a:p>
            <a:pPr marL="0" indent="0">
              <a:buNone/>
            </a:pPr>
            <a:r>
              <a:rPr lang="en-US" sz="1300" dirty="0">
                <a:solidFill>
                  <a:srgbClr val="CBD5E1"/>
                </a:solidFill>
                <a:latin typeface="Arial" pitchFamily="34" charset="0"/>
                <a:ea typeface="Arial" pitchFamily="34" charset="-122"/>
                <a:cs typeface="Arial" pitchFamily="34" charset="-120"/>
              </a:rPr>
              <a:t>First execution line downloads packages for model hosting, validation, and adapter arrays:</a:t>
            </a:r>
            <a:endParaRPr lang="en-US" sz="1300" dirty="0"/>
          </a:p>
        </p:txBody>
      </p:sp>
      <p:sp>
        <p:nvSpPr>
          <p:cNvPr id="8" name="Text 6"/>
          <p:cNvSpPr/>
          <p:nvPr/>
        </p:nvSpPr>
        <p:spPr>
          <a:xfrm>
            <a:off x="201168" y="2739106"/>
            <a:ext cx="4263561" cy="548640"/>
          </a:xfrm>
          <a:prstGeom prst="rect">
            <a:avLst/>
          </a:prstGeom>
          <a:solidFill>
            <a:srgbClr val="000000"/>
          </a:solidFill>
          <a:ln/>
        </p:spPr>
        <p:txBody>
          <a:bodyPr wrap="square" rtlCol="0" anchor="ctr"/>
          <a:lstStyle/>
          <a:p>
            <a:pPr marL="0" indent="0">
              <a:buNone/>
            </a:pPr>
            <a:r>
              <a:rPr lang="en-US" sz="1100" dirty="0">
                <a:solidFill>
                  <a:srgbClr val="10B981"/>
                </a:solidFill>
                <a:latin typeface="Courier New" pitchFamily="34" charset="0"/>
                <a:ea typeface="Courier New" pitchFamily="34" charset="-122"/>
                <a:cs typeface="Courier New" pitchFamily="34" charset="-120"/>
              </a:rPr>
              <a:t>!pip install transformers datasets evaluate jiwer peft accelerate</a:t>
            </a:r>
            <a:endParaRPr lang="en-US" sz="1100" dirty="0"/>
          </a:p>
        </p:txBody>
      </p:sp>
      <p:sp>
        <p:nvSpPr>
          <p:cNvPr id="9" name="Text 7"/>
          <p:cNvSpPr/>
          <p:nvPr/>
        </p:nvSpPr>
        <p:spPr>
          <a:xfrm>
            <a:off x="131018" y="3507816"/>
            <a:ext cx="4333711" cy="1645920"/>
          </a:xfrm>
          <a:prstGeom prst="rect">
            <a:avLst/>
          </a:prstGeom>
          <a:noFill/>
          <a:ln/>
        </p:spPr>
        <p:txBody>
          <a:bodyPr wrap="square" rtlCol="0" anchor="ctr"/>
          <a:lstStyle/>
          <a:p>
            <a:pPr marL="0" indent="0">
              <a:buNone/>
            </a:pPr>
            <a:r>
              <a:rPr lang="en-US" sz="1200" dirty="0">
                <a:solidFill>
                  <a:srgbClr val="94A3B8"/>
                </a:solidFill>
                <a:latin typeface="Arial" pitchFamily="34" charset="0"/>
                <a:ea typeface="Arial" pitchFamily="34" charset="-122"/>
                <a:cs typeface="Arial" pitchFamily="34" charset="-120"/>
              </a:rPr>
              <a:t>This facilitates hosting the Whisper model structures, configuring LoRA target arrays, calculating baseline Levenshtein distance metrics (via jiwer), and accelerating standard weights.</a:t>
            </a:r>
            <a:endParaRPr lang="en-US" sz="1200" dirty="0"/>
          </a:p>
        </p:txBody>
      </p:sp>
      <p:sp>
        <p:nvSpPr>
          <p:cNvPr id="10" name="Shape 8"/>
          <p:cNvSpPr/>
          <p:nvPr/>
        </p:nvSpPr>
        <p:spPr>
          <a:xfrm>
            <a:off x="4645154" y="1371600"/>
            <a:ext cx="4391573" cy="3584448"/>
          </a:xfrm>
          <a:prstGeom prst="rect">
            <a:avLst/>
          </a:prstGeom>
          <a:solidFill>
            <a:srgbClr val="162238"/>
          </a:solidFill>
          <a:ln/>
        </p:spPr>
        <p:txBody>
          <a:bodyPr/>
          <a:lstStyle/>
          <a:p>
            <a:endParaRPr lang="en-IN"/>
          </a:p>
        </p:txBody>
      </p:sp>
      <p:sp>
        <p:nvSpPr>
          <p:cNvPr id="11" name="Text 9"/>
          <p:cNvSpPr/>
          <p:nvPr/>
        </p:nvSpPr>
        <p:spPr>
          <a:xfrm>
            <a:off x="4703018" y="1691640"/>
            <a:ext cx="4663440" cy="365760"/>
          </a:xfrm>
          <a:prstGeom prst="rect">
            <a:avLst/>
          </a:prstGeom>
          <a:noFill/>
          <a:ln/>
        </p:spPr>
        <p:txBody>
          <a:bodyPr wrap="square" rtlCol="0" anchor="ctr"/>
          <a:lstStyle/>
          <a:p>
            <a:pPr marL="0" indent="0">
              <a:buNone/>
            </a:pPr>
            <a:r>
              <a:rPr lang="en-US" sz="1800" b="1" dirty="0">
                <a:solidFill>
                  <a:srgbClr val="DEFF9A"/>
                </a:solidFill>
                <a:latin typeface="Arial" pitchFamily="34" charset="0"/>
                <a:ea typeface="Arial" pitchFamily="34" charset="-122"/>
                <a:cs typeface="Arial" pitchFamily="34" charset="-120"/>
              </a:rPr>
              <a:t>2. Hardware Optimization &amp; Audio Libs</a:t>
            </a:r>
            <a:endParaRPr lang="en-US" sz="1800" dirty="0"/>
          </a:p>
        </p:txBody>
      </p:sp>
      <p:sp>
        <p:nvSpPr>
          <p:cNvPr id="12" name="Text 10"/>
          <p:cNvSpPr/>
          <p:nvPr/>
        </p:nvSpPr>
        <p:spPr>
          <a:xfrm>
            <a:off x="4679273" y="2091519"/>
            <a:ext cx="4391573" cy="633257"/>
          </a:xfrm>
          <a:prstGeom prst="rect">
            <a:avLst/>
          </a:prstGeom>
          <a:noFill/>
          <a:ln/>
        </p:spPr>
        <p:txBody>
          <a:bodyPr wrap="square" rtlCol="0" anchor="ctr"/>
          <a:lstStyle/>
          <a:p>
            <a:pPr marL="0" indent="0">
              <a:buNone/>
            </a:pPr>
            <a:r>
              <a:rPr lang="en-US" sz="1300" dirty="0">
                <a:solidFill>
                  <a:srgbClr val="CBD5E1"/>
                </a:solidFill>
                <a:latin typeface="Arial" pitchFamily="34" charset="0"/>
                <a:ea typeface="Arial" pitchFamily="34" charset="-122"/>
                <a:cs typeface="Arial" pitchFamily="34" charset="-120"/>
              </a:rPr>
              <a:t>Second code block loads specialized quantization frameworks and audio backends:</a:t>
            </a:r>
            <a:endParaRPr lang="en-US" sz="1300" dirty="0"/>
          </a:p>
        </p:txBody>
      </p:sp>
      <p:sp>
        <p:nvSpPr>
          <p:cNvPr id="13" name="Text 11"/>
          <p:cNvSpPr/>
          <p:nvPr/>
        </p:nvSpPr>
        <p:spPr>
          <a:xfrm>
            <a:off x="4773168" y="2740334"/>
            <a:ext cx="3824922" cy="548640"/>
          </a:xfrm>
          <a:prstGeom prst="rect">
            <a:avLst/>
          </a:prstGeom>
          <a:solidFill>
            <a:srgbClr val="000000"/>
          </a:solidFill>
          <a:ln/>
        </p:spPr>
        <p:txBody>
          <a:bodyPr wrap="square" rtlCol="0" anchor="ctr"/>
          <a:lstStyle/>
          <a:p>
            <a:pPr marL="0" indent="0">
              <a:buNone/>
            </a:pPr>
            <a:r>
              <a:rPr lang="en-US" sz="1100" dirty="0">
                <a:solidFill>
                  <a:srgbClr val="10B981"/>
                </a:solidFill>
                <a:latin typeface="Courier New" pitchFamily="34" charset="0"/>
                <a:ea typeface="Courier New" pitchFamily="34" charset="-122"/>
                <a:cs typeface="Courier New" pitchFamily="34" charset="-120"/>
              </a:rPr>
              <a:t>!pip install --upgrade torchao</a:t>
            </a:r>
            <a:endParaRPr lang="en-US" sz="1100" dirty="0"/>
          </a:p>
          <a:p>
            <a:pPr marL="0" indent="0">
              <a:buNone/>
            </a:pPr>
            <a:r>
              <a:rPr lang="en-US" sz="1100" dirty="0">
                <a:solidFill>
                  <a:srgbClr val="10B981"/>
                </a:solidFill>
                <a:latin typeface="Courier New" pitchFamily="34" charset="0"/>
                <a:ea typeface="Courier New" pitchFamily="34" charset="-122"/>
                <a:cs typeface="Courier New" pitchFamily="34" charset="-120"/>
              </a:rPr>
              <a:t>!pip install librosa soundfile</a:t>
            </a:r>
            <a:endParaRPr lang="en-US" sz="1100" dirty="0"/>
          </a:p>
        </p:txBody>
      </p:sp>
      <p:sp>
        <p:nvSpPr>
          <p:cNvPr id="14" name="Text 12"/>
          <p:cNvSpPr/>
          <p:nvPr/>
        </p:nvSpPr>
        <p:spPr>
          <a:xfrm>
            <a:off x="4703018" y="3370451"/>
            <a:ext cx="4309964" cy="1645920"/>
          </a:xfrm>
          <a:prstGeom prst="rect">
            <a:avLst/>
          </a:prstGeom>
          <a:noFill/>
          <a:ln/>
        </p:spPr>
        <p:txBody>
          <a:bodyPr wrap="square" rtlCol="0" anchor="ctr"/>
          <a:lstStyle/>
          <a:p>
            <a:pPr marL="0" indent="0">
              <a:buNone/>
            </a:pPr>
            <a:r>
              <a:rPr lang="en-US" sz="1200" dirty="0">
                <a:solidFill>
                  <a:srgbClr val="94A3B8"/>
                </a:solidFill>
                <a:latin typeface="Arial" pitchFamily="34" charset="0"/>
                <a:ea typeface="Arial" pitchFamily="34" charset="-122"/>
                <a:cs typeface="Arial" pitchFamily="34" charset="-120"/>
              </a:rPr>
              <a:t>Installs torchao for tensor mathematical layouts and quantization profiles, along with librosa to process and dynamically resample raw audio signals directly.</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5">
    <p:bg>
      <p:bgPr>
        <a:solidFill>
          <a:srgbClr val="0B0F19"/>
        </a:solidFill>
        <a:effectLst/>
      </p:bgPr>
    </p:bg>
    <p:spTree>
      <p:nvGrpSpPr>
        <p:cNvPr id="1" name=""/>
        <p:cNvGrpSpPr/>
        <p:nvPr/>
      </p:nvGrpSpPr>
      <p:grpSpPr>
        <a:xfrm>
          <a:off x="0" y="0"/>
          <a:ext cx="0" cy="0"/>
          <a:chOff x="0" y="0"/>
          <a:chExt cx="0" cy="0"/>
        </a:xfrm>
      </p:grpSpPr>
      <p:sp>
        <p:nvSpPr>
          <p:cNvPr id="2" name="Shape 0"/>
          <p:cNvSpPr/>
          <p:nvPr/>
        </p:nvSpPr>
        <p:spPr>
          <a:xfrm>
            <a:off x="731520" y="457200"/>
            <a:ext cx="73152" cy="548640"/>
          </a:xfrm>
          <a:prstGeom prst="rect">
            <a:avLst/>
          </a:prstGeom>
          <a:solidFill>
            <a:srgbClr val="DEFF9A"/>
          </a:solidFill>
          <a:ln/>
        </p:spPr>
        <p:txBody>
          <a:bodyPr/>
          <a:lstStyle/>
          <a:p>
            <a:endParaRPr lang="en-IN"/>
          </a:p>
        </p:txBody>
      </p:sp>
      <p:sp>
        <p:nvSpPr>
          <p:cNvPr id="3" name="Text 1"/>
          <p:cNvSpPr/>
          <p:nvPr/>
        </p:nvSpPr>
        <p:spPr>
          <a:xfrm>
            <a:off x="914400" y="457200"/>
            <a:ext cx="105156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ASR Inference Execution (Whisper LoRA)</a:t>
            </a:r>
            <a:endParaRPr lang="en-US" sz="2600" dirty="0"/>
          </a:p>
        </p:txBody>
      </p:sp>
      <p:sp>
        <p:nvSpPr>
          <p:cNvPr id="4" name="Shape 2"/>
          <p:cNvSpPr/>
          <p:nvPr/>
        </p:nvSpPr>
        <p:spPr>
          <a:xfrm>
            <a:off x="731520" y="6217920"/>
            <a:ext cx="10698480" cy="18288"/>
          </a:xfrm>
          <a:prstGeom prst="rect">
            <a:avLst/>
          </a:prstGeom>
          <a:solidFill>
            <a:srgbClr val="1A2948"/>
          </a:solidFill>
          <a:ln/>
        </p:spPr>
        <p:txBody>
          <a:bodyPr/>
          <a:lstStyle/>
          <a:p>
            <a:endParaRPr lang="en-IN"/>
          </a:p>
        </p:txBody>
      </p:sp>
      <p:sp>
        <p:nvSpPr>
          <p:cNvPr id="5" name="Text 3"/>
          <p:cNvSpPr/>
          <p:nvPr/>
        </p:nvSpPr>
        <p:spPr>
          <a:xfrm>
            <a:off x="171962" y="1366141"/>
            <a:ext cx="5120640" cy="457200"/>
          </a:xfrm>
          <a:prstGeom prst="rect">
            <a:avLst/>
          </a:prstGeom>
          <a:noFill/>
          <a:ln/>
        </p:spPr>
        <p:txBody>
          <a:bodyPr wrap="square" rtlCol="0" anchor="ctr"/>
          <a:lstStyle/>
          <a:p>
            <a:pPr marL="0" indent="0">
              <a:buNone/>
            </a:pPr>
            <a:r>
              <a:rPr lang="en-US" sz="2000" b="1" dirty="0">
                <a:solidFill>
                  <a:srgbClr val="DEFF9A"/>
                </a:solidFill>
                <a:latin typeface="Arial" pitchFamily="34" charset="0"/>
                <a:ea typeface="Arial" pitchFamily="34" charset="-122"/>
                <a:cs typeface="Arial" pitchFamily="34" charset="-120"/>
              </a:rPr>
              <a:t>Inference Execution Block</a:t>
            </a:r>
            <a:endParaRPr lang="en-US" sz="2000" dirty="0"/>
          </a:p>
        </p:txBody>
      </p:sp>
      <p:sp>
        <p:nvSpPr>
          <p:cNvPr id="6" name="Text 4"/>
          <p:cNvSpPr/>
          <p:nvPr/>
        </p:nvSpPr>
        <p:spPr>
          <a:xfrm>
            <a:off x="171962" y="1925699"/>
            <a:ext cx="4296316" cy="731520"/>
          </a:xfrm>
          <a:prstGeom prst="rect">
            <a:avLst/>
          </a:prstGeom>
          <a:noFill/>
          <a:ln/>
        </p:spPr>
        <p:txBody>
          <a:bodyPr wrap="square" rtlCol="0" anchor="ctr"/>
          <a:lstStyle/>
          <a:p>
            <a:pPr marL="0" indent="0">
              <a:buNone/>
            </a:pPr>
            <a:r>
              <a:rPr lang="en-US" sz="1300" dirty="0">
                <a:solidFill>
                  <a:srgbClr val="CBD5E1"/>
                </a:solidFill>
                <a:latin typeface="Arial" pitchFamily="34" charset="0"/>
                <a:ea typeface="Arial" pitchFamily="34" charset="-122"/>
                <a:cs typeface="Arial" pitchFamily="34" charset="-120"/>
              </a:rPr>
              <a:t>The system loads local audio telemetry data (Full Narration_MarauliKhurad.m4a) and executes pipeline-based translation:</a:t>
            </a:r>
            <a:endParaRPr lang="en-US" sz="1300" dirty="0"/>
          </a:p>
        </p:txBody>
      </p:sp>
      <p:sp>
        <p:nvSpPr>
          <p:cNvPr id="7" name="Text 5"/>
          <p:cNvSpPr/>
          <p:nvPr/>
        </p:nvSpPr>
        <p:spPr>
          <a:xfrm>
            <a:off x="171962" y="2740471"/>
            <a:ext cx="4127083" cy="2160713"/>
          </a:xfrm>
          <a:prstGeom prst="rect">
            <a:avLst/>
          </a:prstGeom>
          <a:solidFill>
            <a:srgbClr val="000000"/>
          </a:solidFill>
          <a:ln/>
        </p:spPr>
        <p:txBody>
          <a:bodyPr wrap="square"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 Sourced from Code.ipynb</a:t>
            </a:r>
            <a:endParaRPr lang="en-US" sz="1100" dirty="0"/>
          </a:p>
          <a:p>
            <a:pPr marL="0" indent="0">
              <a:buNone/>
            </a:pPr>
            <a:r>
              <a:rPr lang="en-US" sz="1100" dirty="0">
                <a:solidFill>
                  <a:srgbClr val="FFFFFF"/>
                </a:solidFill>
                <a:latin typeface="Courier New" pitchFamily="34" charset="0"/>
                <a:ea typeface="Courier New" pitchFamily="34" charset="-122"/>
                <a:cs typeface="Courier New" pitchFamily="34" charset="-120"/>
              </a:rPr>
              <a:t>audio_array, sr = librosa.load(path, sr=16000)</a:t>
            </a:r>
            <a:endParaRPr lang="en-US" sz="1100" dirty="0"/>
          </a:p>
          <a:p>
            <a:pPr marL="0" indent="0">
              <a:buNone/>
            </a:pPr>
            <a:r>
              <a:rPr lang="en-US" sz="1100" dirty="0">
                <a:solidFill>
                  <a:srgbClr val="FFFFFF"/>
                </a:solidFill>
                <a:latin typeface="Courier New" pitchFamily="34" charset="0"/>
                <a:ea typeface="Courier New" pitchFamily="34" charset="-122"/>
                <a:cs typeface="Courier New" pitchFamily="34" charset="-120"/>
              </a:rPr>
              <a:t>asr_pipeline = pipeline(</a:t>
            </a:r>
            <a:endParaRPr lang="en-US" sz="1100" dirty="0"/>
          </a:p>
          <a:p>
            <a:pPr marL="0" indent="0">
              <a:buNone/>
            </a:pPr>
            <a:r>
              <a:rPr lang="en-US" sz="1100" dirty="0">
                <a:solidFill>
                  <a:srgbClr val="FFFFFF"/>
                </a:solidFill>
                <a:latin typeface="Courier New" pitchFamily="34" charset="0"/>
                <a:ea typeface="Courier New" pitchFamily="34" charset="-122"/>
                <a:cs typeface="Courier New" pitchFamily="34" charset="-120"/>
              </a:rPr>
              <a:t>    "automatic-speech-recognition",</a:t>
            </a:r>
            <a:endParaRPr lang="en-US" sz="1100" dirty="0"/>
          </a:p>
          <a:p>
            <a:pPr marL="0" indent="0">
              <a:buNone/>
            </a:pPr>
            <a:r>
              <a:rPr lang="en-US" sz="1100" dirty="0">
                <a:solidFill>
                  <a:srgbClr val="FFFFFF"/>
                </a:solidFill>
                <a:latin typeface="Courier New" pitchFamily="34" charset="0"/>
                <a:ea typeface="Courier New" pitchFamily="34" charset="-122"/>
                <a:cs typeface="Courier New" pitchFamily="34" charset="-120"/>
              </a:rPr>
              <a:t>    model=model_id,</a:t>
            </a:r>
            <a:endParaRPr lang="en-US" sz="1100" dirty="0"/>
          </a:p>
          <a:p>
            <a:pPr marL="0" indent="0">
              <a:buNone/>
            </a:pPr>
            <a:r>
              <a:rPr lang="en-US" sz="1100" dirty="0">
                <a:solidFill>
                  <a:srgbClr val="FFFFFF"/>
                </a:solidFill>
                <a:latin typeface="Courier New" pitchFamily="34" charset="0"/>
                <a:ea typeface="Courier New" pitchFamily="34" charset="-122"/>
                <a:cs typeface="Courier New" pitchFamily="34" charset="-120"/>
              </a:rPr>
              <a:t>    device=0,</a:t>
            </a:r>
            <a:endParaRPr lang="en-US" sz="1100" dirty="0"/>
          </a:p>
          <a:p>
            <a:pPr marL="0" indent="0">
              <a:buNone/>
            </a:pPr>
            <a:r>
              <a:rPr lang="en-US" sz="1100" dirty="0">
                <a:solidFill>
                  <a:srgbClr val="FFFFFF"/>
                </a:solidFill>
                <a:latin typeface="Courier New" pitchFamily="34" charset="0"/>
                <a:ea typeface="Courier New" pitchFamily="34" charset="-122"/>
                <a:cs typeface="Courier New" pitchFamily="34" charset="-120"/>
              </a:rPr>
              <a:t>    torch_dtype=torch.float16</a:t>
            </a:r>
            <a:endParaRPr lang="en-US" sz="1100" dirty="0"/>
          </a:p>
          <a:p>
            <a:pPr marL="0" indent="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p:txBody>
      </p:sp>
      <p:sp>
        <p:nvSpPr>
          <p:cNvPr id="8" name="Text 6"/>
          <p:cNvSpPr/>
          <p:nvPr/>
        </p:nvSpPr>
        <p:spPr>
          <a:xfrm>
            <a:off x="4921383" y="1360682"/>
            <a:ext cx="5212080" cy="457200"/>
          </a:xfrm>
          <a:prstGeom prst="rect">
            <a:avLst/>
          </a:prstGeom>
          <a:noFill/>
          <a:ln/>
        </p:spPr>
        <p:txBody>
          <a:bodyPr wrap="square" rtlCol="0" anchor="ctr"/>
          <a:lstStyle/>
          <a:p>
            <a:pPr marL="0" indent="0">
              <a:buNone/>
            </a:pPr>
            <a:r>
              <a:rPr lang="en-US" sz="2000" b="1" dirty="0">
                <a:solidFill>
                  <a:srgbClr val="DEFF9A"/>
                </a:solidFill>
                <a:latin typeface="Arial" pitchFamily="34" charset="0"/>
                <a:ea typeface="Arial" pitchFamily="34" charset="-122"/>
                <a:cs typeface="Arial" pitchFamily="34" charset="-120"/>
              </a:rPr>
              <a:t>Key Engineering Features</a:t>
            </a:r>
            <a:endParaRPr lang="en-US" sz="2000" dirty="0"/>
          </a:p>
        </p:txBody>
      </p:sp>
      <p:sp>
        <p:nvSpPr>
          <p:cNvPr id="9" name="Text 7"/>
          <p:cNvSpPr/>
          <p:nvPr/>
        </p:nvSpPr>
        <p:spPr>
          <a:xfrm>
            <a:off x="4299045" y="1512854"/>
            <a:ext cx="4672993" cy="3474720"/>
          </a:xfrm>
          <a:prstGeom prst="rect">
            <a:avLst/>
          </a:prstGeom>
          <a:noFill/>
          <a:ln/>
        </p:spPr>
        <p:txBody>
          <a:bodyPr wrap="square" rtlCol="0" anchor="ctr"/>
          <a:lstStyle/>
          <a:p>
            <a:pPr marL="342900" indent="-342900">
              <a:lnSpc>
                <a:spcPts val="2400"/>
              </a:lnSpc>
              <a:buSzPct val="100000"/>
              <a:buChar char="•"/>
            </a:pPr>
            <a:r>
              <a:rPr lang="en-US" sz="1300" dirty="0">
                <a:solidFill>
                  <a:srgbClr val="CBD5E1"/>
                </a:solidFill>
                <a:latin typeface="Arial" pitchFamily="34" charset="0"/>
                <a:ea typeface="Arial" pitchFamily="34" charset="-122"/>
                <a:cs typeface="Arial" pitchFamily="34" charset="-120"/>
              </a:rPr>
              <a:t>Librosa Resampling: Force-resamples raw input telemetry stream down to 16,000 Hz, matching Whisper's native expected frequency rate.</a:t>
            </a:r>
            <a:endParaRPr lang="en-US" sz="1300" dirty="0"/>
          </a:p>
          <a:p>
            <a:pPr marL="342900" indent="-342900">
              <a:lnSpc>
                <a:spcPts val="2400"/>
              </a:lnSpc>
              <a:buSzPct val="100000"/>
              <a:buChar char="•"/>
            </a:pPr>
            <a:r>
              <a:rPr lang="en-US" sz="1300" dirty="0">
                <a:solidFill>
                  <a:srgbClr val="CBD5E1"/>
                </a:solidFill>
                <a:latin typeface="Arial" pitchFamily="34" charset="0"/>
                <a:ea typeface="Arial" pitchFamily="34" charset="-122"/>
                <a:cs typeface="Arial" pitchFamily="34" charset="-120"/>
              </a:rPr>
              <a:t>FP16 Half-Precision: Enforces half-precision execution (torch.float16) to dramatically increase execution speed on the T4 GPU.</a:t>
            </a:r>
            <a:endParaRPr lang="en-US" sz="1300" dirty="0"/>
          </a:p>
          <a:p>
            <a:pPr marL="342900" indent="-342900">
              <a:lnSpc>
                <a:spcPts val="2400"/>
              </a:lnSpc>
              <a:buSzPct val="100000"/>
              <a:buChar char="•"/>
            </a:pPr>
            <a:r>
              <a:rPr lang="en-US" sz="1300" dirty="0">
                <a:solidFill>
                  <a:srgbClr val="CBD5E1"/>
                </a:solidFill>
                <a:latin typeface="Arial" pitchFamily="34" charset="0"/>
                <a:ea typeface="Arial" pitchFamily="34" charset="-122"/>
                <a:cs typeface="Arial" pitchFamily="34" charset="-120"/>
              </a:rPr>
              <a:t>30-Second Sliding Windows: Uses chunking layouts to process long files step-by-step and protect GPU capacity.</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6">
    <p:bg>
      <p:bgPr>
        <a:solidFill>
          <a:srgbClr val="0B0F19"/>
        </a:solidFill>
        <a:effectLst/>
      </p:bgPr>
    </p:bg>
    <p:spTree>
      <p:nvGrpSpPr>
        <p:cNvPr id="1" name=""/>
        <p:cNvGrpSpPr/>
        <p:nvPr/>
      </p:nvGrpSpPr>
      <p:grpSpPr>
        <a:xfrm>
          <a:off x="0" y="0"/>
          <a:ext cx="0" cy="0"/>
          <a:chOff x="0" y="0"/>
          <a:chExt cx="0" cy="0"/>
        </a:xfrm>
      </p:grpSpPr>
      <p:sp>
        <p:nvSpPr>
          <p:cNvPr id="2" name="Shape 0"/>
          <p:cNvSpPr/>
          <p:nvPr/>
        </p:nvSpPr>
        <p:spPr>
          <a:xfrm>
            <a:off x="731520" y="457200"/>
            <a:ext cx="73152" cy="548640"/>
          </a:xfrm>
          <a:prstGeom prst="rect">
            <a:avLst/>
          </a:prstGeom>
          <a:solidFill>
            <a:srgbClr val="DEFF9A"/>
          </a:solidFill>
          <a:ln/>
        </p:spPr>
        <p:txBody>
          <a:bodyPr/>
          <a:lstStyle/>
          <a:p>
            <a:endParaRPr lang="en-IN"/>
          </a:p>
        </p:txBody>
      </p:sp>
      <p:sp>
        <p:nvSpPr>
          <p:cNvPr id="3" name="Text 1"/>
          <p:cNvSpPr/>
          <p:nvPr/>
        </p:nvSpPr>
        <p:spPr>
          <a:xfrm>
            <a:off x="914400" y="457200"/>
            <a:ext cx="105156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Constructing "Pseudo-Ground Truth" Baseline</a:t>
            </a:r>
            <a:endParaRPr lang="en-US" sz="2600" dirty="0"/>
          </a:p>
        </p:txBody>
      </p:sp>
      <p:sp>
        <p:nvSpPr>
          <p:cNvPr id="4" name="Shape 2"/>
          <p:cNvSpPr/>
          <p:nvPr/>
        </p:nvSpPr>
        <p:spPr>
          <a:xfrm>
            <a:off x="731520" y="6217920"/>
            <a:ext cx="10698480" cy="18288"/>
          </a:xfrm>
          <a:prstGeom prst="rect">
            <a:avLst/>
          </a:prstGeom>
          <a:solidFill>
            <a:srgbClr val="1A2948"/>
          </a:solidFill>
          <a:ln/>
        </p:spPr>
        <p:txBody>
          <a:bodyPr/>
          <a:lstStyle/>
          <a:p>
            <a:endParaRPr lang="en-IN"/>
          </a:p>
        </p:txBody>
      </p:sp>
      <p:sp>
        <p:nvSpPr>
          <p:cNvPr id="5" name="Shape 3"/>
          <p:cNvSpPr/>
          <p:nvPr/>
        </p:nvSpPr>
        <p:spPr>
          <a:xfrm>
            <a:off x="144666" y="1311550"/>
            <a:ext cx="4171848" cy="3626210"/>
          </a:xfrm>
          <a:prstGeom prst="rect">
            <a:avLst/>
          </a:prstGeom>
          <a:solidFill>
            <a:srgbClr val="162238"/>
          </a:solidFill>
          <a:ln/>
        </p:spPr>
        <p:txBody>
          <a:bodyPr/>
          <a:lstStyle/>
          <a:p>
            <a:endParaRPr lang="en-IN"/>
          </a:p>
        </p:txBody>
      </p:sp>
      <p:sp>
        <p:nvSpPr>
          <p:cNvPr id="6" name="Text 4"/>
          <p:cNvSpPr/>
          <p:nvPr/>
        </p:nvSpPr>
        <p:spPr>
          <a:xfrm>
            <a:off x="144666" y="1645920"/>
            <a:ext cx="4572000" cy="365760"/>
          </a:xfrm>
          <a:prstGeom prst="rect">
            <a:avLst/>
          </a:prstGeom>
          <a:noFill/>
          <a:ln/>
        </p:spPr>
        <p:txBody>
          <a:bodyPr wrap="square" rtlCol="0" anchor="ctr"/>
          <a:lstStyle/>
          <a:p>
            <a:pPr marL="0" indent="0">
              <a:buNone/>
            </a:pPr>
            <a:r>
              <a:rPr lang="en-US" sz="1800" b="1" dirty="0">
                <a:solidFill>
                  <a:srgbClr val="DEFF9A"/>
                </a:solidFill>
                <a:latin typeface="Arial" pitchFamily="34" charset="0"/>
                <a:ea typeface="Arial" pitchFamily="34" charset="-122"/>
                <a:cs typeface="Arial" pitchFamily="34" charset="-120"/>
              </a:rPr>
              <a:t> Token-Level Majority Voting</a:t>
            </a:r>
            <a:endParaRPr lang="en-US" sz="1800" dirty="0"/>
          </a:p>
        </p:txBody>
      </p:sp>
      <p:sp>
        <p:nvSpPr>
          <p:cNvPr id="7" name="Text 5"/>
          <p:cNvSpPr/>
          <p:nvPr/>
        </p:nvSpPr>
        <p:spPr>
          <a:xfrm>
            <a:off x="144666" y="1932523"/>
            <a:ext cx="4031549" cy="3017520"/>
          </a:xfrm>
          <a:prstGeom prst="rect">
            <a:avLst/>
          </a:prstGeom>
          <a:noFill/>
          <a:ln/>
        </p:spPr>
        <p:txBody>
          <a:bodyPr wrap="square" rtlCol="0" anchor="ctr"/>
          <a:lstStyle/>
          <a:p>
            <a:pPr marL="0" indent="0">
              <a:buNone/>
            </a:pPr>
            <a:r>
              <a:rPr lang="en-US" sz="1300" dirty="0">
                <a:solidFill>
                  <a:srgbClr val="CBD5E1"/>
                </a:solidFill>
                <a:latin typeface="Arial" pitchFamily="34" charset="0"/>
                <a:ea typeface="Arial" pitchFamily="34" charset="-122"/>
                <a:cs typeface="Arial" pitchFamily="34" charset="-120"/>
              </a:rPr>
              <a:t>Since no human-annotated ground truth transcript is available, the code dynamically constructs a reference script using cross-model consensus voting.</a:t>
            </a:r>
            <a:endParaRPr lang="en-US" sz="1300" dirty="0"/>
          </a:p>
          <a:p>
            <a:pPr marL="0" indent="0">
              <a:buNone/>
            </a:pPr>
            <a:endParaRPr lang="en-US" sz="1300" dirty="0"/>
          </a:p>
          <a:p>
            <a:pPr marL="0" indent="0">
              <a:buNone/>
            </a:pPr>
            <a:r>
              <a:rPr lang="en-US" sz="1300" dirty="0">
                <a:solidFill>
                  <a:srgbClr val="CBD5E1"/>
                </a:solidFill>
                <a:latin typeface="Arial" pitchFamily="34" charset="0"/>
                <a:ea typeface="Arial" pitchFamily="34" charset="-122"/>
                <a:cs typeface="Arial" pitchFamily="34" charset="-120"/>
              </a:rPr>
              <a:t>For every sequential word slot ($i$) in the transcription array, the tokens emitted by all 5 active models are pooled together. A statistical frequency evaluation determines the winning word token to be written to the master reference string.</a:t>
            </a:r>
            <a:endParaRPr lang="en-US" sz="1300" dirty="0"/>
          </a:p>
        </p:txBody>
      </p:sp>
      <p:sp>
        <p:nvSpPr>
          <p:cNvPr id="8" name="Shape 6"/>
          <p:cNvSpPr/>
          <p:nvPr/>
        </p:nvSpPr>
        <p:spPr>
          <a:xfrm>
            <a:off x="4471006" y="1311550"/>
            <a:ext cx="4427334" cy="3638493"/>
          </a:xfrm>
          <a:prstGeom prst="rect">
            <a:avLst/>
          </a:prstGeom>
          <a:solidFill>
            <a:srgbClr val="162238"/>
          </a:solidFill>
          <a:ln/>
        </p:spPr>
        <p:txBody>
          <a:bodyPr/>
          <a:lstStyle/>
          <a:p>
            <a:endParaRPr lang="en-IN" dirty="0"/>
          </a:p>
        </p:txBody>
      </p:sp>
      <p:sp>
        <p:nvSpPr>
          <p:cNvPr id="9" name="Text 7"/>
          <p:cNvSpPr/>
          <p:nvPr/>
        </p:nvSpPr>
        <p:spPr>
          <a:xfrm>
            <a:off x="4572000" y="1645920"/>
            <a:ext cx="4663440" cy="365760"/>
          </a:xfrm>
          <a:prstGeom prst="rect">
            <a:avLst/>
          </a:prstGeom>
          <a:noFill/>
          <a:ln/>
        </p:spPr>
        <p:txBody>
          <a:bodyPr wrap="square" rtlCol="0" anchor="ctr"/>
          <a:lstStyle/>
          <a:p>
            <a:pPr marL="0" indent="0">
              <a:buNone/>
            </a:pPr>
            <a:r>
              <a:rPr lang="en-US" sz="1800" b="1" dirty="0">
                <a:solidFill>
                  <a:srgbClr val="DEFF9A"/>
                </a:solidFill>
                <a:latin typeface="Arial" pitchFamily="34" charset="0"/>
                <a:ea typeface="Arial" pitchFamily="34" charset="-122"/>
                <a:cs typeface="Arial" pitchFamily="34" charset="-120"/>
              </a:rPr>
              <a:t> Consensus WER (cWER) Calculation</a:t>
            </a:r>
            <a:endParaRPr lang="en-US" sz="1800" dirty="0"/>
          </a:p>
        </p:txBody>
      </p:sp>
      <p:sp>
        <p:nvSpPr>
          <p:cNvPr id="10" name="Text 8"/>
          <p:cNvSpPr/>
          <p:nvPr/>
        </p:nvSpPr>
        <p:spPr>
          <a:xfrm>
            <a:off x="4572000" y="2273717"/>
            <a:ext cx="4663440" cy="914400"/>
          </a:xfrm>
          <a:prstGeom prst="rect">
            <a:avLst/>
          </a:prstGeom>
          <a:noFill/>
          <a:ln/>
        </p:spPr>
        <p:txBody>
          <a:bodyPr wrap="square" rtlCol="0" anchor="ctr"/>
          <a:lstStyle/>
          <a:p>
            <a:pPr marL="0" indent="0">
              <a:buNone/>
            </a:pPr>
            <a:r>
              <a:rPr lang="en-US" sz="1300" dirty="0">
                <a:solidFill>
                  <a:srgbClr val="CBD5E1"/>
                </a:solidFill>
                <a:latin typeface="Arial" pitchFamily="34" charset="0"/>
                <a:ea typeface="Arial" pitchFamily="34" charset="-122"/>
                <a:cs typeface="Arial" pitchFamily="34" charset="-120"/>
              </a:rPr>
              <a:t>Once the dynamic pseudo-ground truth reference is generated, each individual model's output is evaluated against it using standard Levenshtein distance calculations:</a:t>
            </a:r>
            <a:endParaRPr lang="en-US" sz="1300" dirty="0"/>
          </a:p>
        </p:txBody>
      </p:sp>
      <p:sp>
        <p:nvSpPr>
          <p:cNvPr id="11" name="Text 9"/>
          <p:cNvSpPr/>
          <p:nvPr/>
        </p:nvSpPr>
        <p:spPr>
          <a:xfrm>
            <a:off x="4591380" y="3115102"/>
            <a:ext cx="4306960" cy="556146"/>
          </a:xfrm>
          <a:prstGeom prst="rect">
            <a:avLst/>
          </a:prstGeom>
          <a:solidFill>
            <a:srgbClr val="000000"/>
          </a:solidFill>
          <a:ln/>
        </p:spPr>
        <p:txBody>
          <a:bodyPr wrap="square" rtlCol="0" anchor="ctr"/>
          <a:lstStyle/>
          <a:p>
            <a:pPr marL="0" indent="0" algn="ctr">
              <a:buNone/>
            </a:pPr>
            <a:r>
              <a:rPr lang="en-US" sz="1200" b="1" dirty="0">
                <a:solidFill>
                  <a:srgbClr val="DEFF9A"/>
                </a:solidFill>
                <a:latin typeface="Courier New" pitchFamily="34" charset="0"/>
                <a:ea typeface="Courier New" pitchFamily="34" charset="-122"/>
                <a:cs typeface="Courier New" pitchFamily="34" charset="-120"/>
              </a:rPr>
              <a:t>cWER = (Substitutions + Deletions + Insertions) / Total Consensus Words</a:t>
            </a:r>
            <a:endParaRPr lang="en-US" sz="1200" dirty="0"/>
          </a:p>
        </p:txBody>
      </p:sp>
      <p:sp>
        <p:nvSpPr>
          <p:cNvPr id="12" name="Text 10"/>
          <p:cNvSpPr/>
          <p:nvPr/>
        </p:nvSpPr>
        <p:spPr>
          <a:xfrm>
            <a:off x="4591380" y="3579467"/>
            <a:ext cx="4663440" cy="1097280"/>
          </a:xfrm>
          <a:prstGeom prst="rect">
            <a:avLst/>
          </a:prstGeom>
          <a:noFill/>
          <a:ln/>
        </p:spPr>
        <p:txBody>
          <a:bodyPr wrap="square" rtlCol="0" anchor="ctr"/>
          <a:lstStyle/>
          <a:p>
            <a:pPr marL="0" indent="0">
              <a:buNone/>
            </a:pPr>
            <a:r>
              <a:rPr lang="en-US" sz="1200" dirty="0">
                <a:solidFill>
                  <a:srgbClr val="94A3B8"/>
                </a:solidFill>
                <a:latin typeface="Arial" pitchFamily="34" charset="0"/>
                <a:ea typeface="Arial" pitchFamily="34" charset="-122"/>
                <a:cs typeface="Arial" pitchFamily="34" charset="-120"/>
              </a:rPr>
              <a:t>A lower cWER indicates higher structural alignment with the collective majority framework, marking stable, hallucination-resistant architectures.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7">
    <p:bg>
      <p:bgPr>
        <a:solidFill>
          <a:srgbClr val="0B0F19"/>
        </a:solidFill>
        <a:effectLst/>
      </p:bgPr>
    </p:bg>
    <p:spTree>
      <p:nvGrpSpPr>
        <p:cNvPr id="1" name=""/>
        <p:cNvGrpSpPr/>
        <p:nvPr/>
      </p:nvGrpSpPr>
      <p:grpSpPr>
        <a:xfrm>
          <a:off x="0" y="0"/>
          <a:ext cx="0" cy="0"/>
          <a:chOff x="0" y="0"/>
          <a:chExt cx="0" cy="0"/>
        </a:xfrm>
      </p:grpSpPr>
      <p:sp>
        <p:nvSpPr>
          <p:cNvPr id="2" name="Shape 0"/>
          <p:cNvSpPr/>
          <p:nvPr/>
        </p:nvSpPr>
        <p:spPr>
          <a:xfrm>
            <a:off x="731520" y="457200"/>
            <a:ext cx="73152" cy="548640"/>
          </a:xfrm>
          <a:prstGeom prst="rect">
            <a:avLst/>
          </a:prstGeom>
          <a:solidFill>
            <a:srgbClr val="DEFF9A"/>
          </a:solidFill>
          <a:ln/>
        </p:spPr>
        <p:txBody>
          <a:bodyPr/>
          <a:lstStyle/>
          <a:p>
            <a:endParaRPr lang="en-IN"/>
          </a:p>
        </p:txBody>
      </p:sp>
      <p:sp>
        <p:nvSpPr>
          <p:cNvPr id="3" name="Text 1"/>
          <p:cNvSpPr/>
          <p:nvPr/>
        </p:nvSpPr>
        <p:spPr>
          <a:xfrm>
            <a:off x="914400" y="457200"/>
            <a:ext cx="105156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ASR Evaluation Pipeline Flow</a:t>
            </a:r>
            <a:endParaRPr lang="en-US" sz="2600" dirty="0"/>
          </a:p>
        </p:txBody>
      </p:sp>
      <p:sp>
        <p:nvSpPr>
          <p:cNvPr id="4" name="Shape 2"/>
          <p:cNvSpPr/>
          <p:nvPr/>
        </p:nvSpPr>
        <p:spPr>
          <a:xfrm>
            <a:off x="731520" y="6217920"/>
            <a:ext cx="10698480" cy="18288"/>
          </a:xfrm>
          <a:prstGeom prst="rect">
            <a:avLst/>
          </a:prstGeom>
          <a:solidFill>
            <a:srgbClr val="1A2948"/>
          </a:solidFill>
          <a:ln/>
        </p:spPr>
        <p:txBody>
          <a:bodyPr/>
          <a:lstStyle/>
          <a:p>
            <a:endParaRPr lang="en-IN"/>
          </a:p>
        </p:txBody>
      </p:sp>
      <p:sp>
        <p:nvSpPr>
          <p:cNvPr id="5" name="Shape 3"/>
          <p:cNvSpPr/>
          <p:nvPr/>
        </p:nvSpPr>
        <p:spPr>
          <a:xfrm>
            <a:off x="45720" y="1371600"/>
            <a:ext cx="2194560" cy="1645920"/>
          </a:xfrm>
          <a:prstGeom prst="rect">
            <a:avLst/>
          </a:prstGeom>
          <a:solidFill>
            <a:srgbClr val="162238"/>
          </a:solidFill>
          <a:ln w="19050">
            <a:solidFill>
              <a:srgbClr val="DEFF9A"/>
            </a:solidFill>
            <a:prstDash val="solid"/>
          </a:ln>
        </p:spPr>
        <p:txBody>
          <a:bodyPr/>
          <a:lstStyle/>
          <a:p>
            <a:endParaRPr lang="en-IN"/>
          </a:p>
        </p:txBody>
      </p:sp>
      <p:sp>
        <p:nvSpPr>
          <p:cNvPr id="6" name="Text 4"/>
          <p:cNvSpPr/>
          <p:nvPr/>
        </p:nvSpPr>
        <p:spPr>
          <a:xfrm>
            <a:off x="45720" y="1426873"/>
            <a:ext cx="2011680" cy="146304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 Input Audio</a:t>
            </a:r>
            <a:endParaRPr lang="en-US" sz="1200" dirty="0"/>
          </a:p>
          <a:p>
            <a:pPr marL="0" indent="0" algn="ctr">
              <a:buNone/>
            </a:pPr>
            <a:endParaRPr lang="en-US" sz="1200" dirty="0"/>
          </a:p>
          <a:p>
            <a:pPr marL="0" indent="0" algn="ctr">
              <a:buNone/>
            </a:pPr>
            <a:r>
              <a:rPr lang="en-US" sz="1200" b="1" dirty="0">
                <a:solidFill>
                  <a:srgbClr val="FFFFFF"/>
                </a:solidFill>
                <a:latin typeface="Arial" pitchFamily="34" charset="0"/>
                <a:ea typeface="Arial" pitchFamily="34" charset="-122"/>
                <a:cs typeface="Arial" pitchFamily="34" charset="-120"/>
              </a:rPr>
              <a:t>Loads local M4A file &amp; resamples to 16,000 Hz</a:t>
            </a:r>
            <a:endParaRPr lang="en-US" sz="1200" dirty="0"/>
          </a:p>
        </p:txBody>
      </p:sp>
      <p:sp>
        <p:nvSpPr>
          <p:cNvPr id="7" name="Shape 5"/>
          <p:cNvSpPr/>
          <p:nvPr/>
        </p:nvSpPr>
        <p:spPr>
          <a:xfrm>
            <a:off x="2286000" y="1374330"/>
            <a:ext cx="2194560" cy="1645920"/>
          </a:xfrm>
          <a:prstGeom prst="rect">
            <a:avLst/>
          </a:prstGeom>
          <a:solidFill>
            <a:srgbClr val="162238"/>
          </a:solidFill>
          <a:ln w="19050">
            <a:solidFill>
              <a:srgbClr val="DEFF9A"/>
            </a:solidFill>
            <a:prstDash val="solid"/>
          </a:ln>
        </p:spPr>
        <p:txBody>
          <a:bodyPr/>
          <a:lstStyle/>
          <a:p>
            <a:endParaRPr lang="en-IN"/>
          </a:p>
        </p:txBody>
      </p:sp>
      <p:sp>
        <p:nvSpPr>
          <p:cNvPr id="8" name="Text 6"/>
          <p:cNvSpPr/>
          <p:nvPr/>
        </p:nvSpPr>
        <p:spPr>
          <a:xfrm>
            <a:off x="2423160" y="1463040"/>
            <a:ext cx="2011680" cy="146304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 Whisper LoRA</a:t>
            </a:r>
            <a:endParaRPr lang="en-US" sz="1200" dirty="0"/>
          </a:p>
          <a:p>
            <a:pPr marL="0" indent="0" algn="ctr">
              <a:buNone/>
            </a:pPr>
            <a:endParaRPr lang="en-US" sz="1200" dirty="0"/>
          </a:p>
          <a:p>
            <a:pPr marL="0" indent="0" algn="ctr">
              <a:buNone/>
            </a:pPr>
            <a:r>
              <a:rPr lang="en-US" sz="1200" b="1" dirty="0">
                <a:solidFill>
                  <a:srgbClr val="FFFFFF"/>
                </a:solidFill>
                <a:latin typeface="Arial" pitchFamily="34" charset="0"/>
                <a:ea typeface="Arial" pitchFamily="34" charset="-122"/>
                <a:cs typeface="Arial" pitchFamily="34" charset="-120"/>
              </a:rPr>
              <a:t>5 models generate raw Punjabi streams</a:t>
            </a:r>
            <a:endParaRPr lang="en-US" sz="1200" dirty="0"/>
          </a:p>
        </p:txBody>
      </p:sp>
      <p:sp>
        <p:nvSpPr>
          <p:cNvPr id="9" name="Shape 7"/>
          <p:cNvSpPr/>
          <p:nvPr/>
        </p:nvSpPr>
        <p:spPr>
          <a:xfrm>
            <a:off x="4526280" y="1374330"/>
            <a:ext cx="2194560" cy="1645920"/>
          </a:xfrm>
          <a:prstGeom prst="rect">
            <a:avLst/>
          </a:prstGeom>
          <a:solidFill>
            <a:srgbClr val="162238"/>
          </a:solidFill>
          <a:ln w="19050">
            <a:solidFill>
              <a:srgbClr val="DEFF9A"/>
            </a:solidFill>
            <a:prstDash val="solid"/>
          </a:ln>
        </p:spPr>
        <p:txBody>
          <a:bodyPr/>
          <a:lstStyle/>
          <a:p>
            <a:endParaRPr lang="en-IN"/>
          </a:p>
        </p:txBody>
      </p:sp>
      <p:sp>
        <p:nvSpPr>
          <p:cNvPr id="10" name="Text 8"/>
          <p:cNvSpPr/>
          <p:nvPr/>
        </p:nvSpPr>
        <p:spPr>
          <a:xfrm>
            <a:off x="4617720" y="1457581"/>
            <a:ext cx="2011680" cy="146304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 Token Voting</a:t>
            </a:r>
            <a:endParaRPr lang="en-US" sz="1200" dirty="0"/>
          </a:p>
          <a:p>
            <a:pPr marL="0" indent="0" algn="ctr">
              <a:buNone/>
            </a:pPr>
            <a:endParaRPr lang="en-US" sz="1200" dirty="0"/>
          </a:p>
          <a:p>
            <a:pPr marL="0" indent="0" algn="ctr">
              <a:buNone/>
            </a:pPr>
            <a:r>
              <a:rPr lang="en-US" sz="1200" b="1" dirty="0">
                <a:solidFill>
                  <a:srgbClr val="FFFFFF"/>
                </a:solidFill>
                <a:latin typeface="Arial" pitchFamily="34" charset="0"/>
                <a:ea typeface="Arial" pitchFamily="34" charset="-122"/>
                <a:cs typeface="Arial" pitchFamily="34" charset="-120"/>
              </a:rPr>
              <a:t>Positional frequency mapping builds reference</a:t>
            </a:r>
            <a:endParaRPr lang="en-US" sz="1200" dirty="0"/>
          </a:p>
        </p:txBody>
      </p:sp>
      <p:sp>
        <p:nvSpPr>
          <p:cNvPr id="11" name="Shape 9"/>
          <p:cNvSpPr/>
          <p:nvPr/>
        </p:nvSpPr>
        <p:spPr>
          <a:xfrm>
            <a:off x="6858000" y="1366822"/>
            <a:ext cx="2194560" cy="1645920"/>
          </a:xfrm>
          <a:prstGeom prst="rect">
            <a:avLst/>
          </a:prstGeom>
          <a:solidFill>
            <a:srgbClr val="162238"/>
          </a:solidFill>
          <a:ln w="19050">
            <a:solidFill>
              <a:srgbClr val="DEFF9A"/>
            </a:solidFill>
            <a:prstDash val="solid"/>
          </a:ln>
        </p:spPr>
        <p:txBody>
          <a:bodyPr/>
          <a:lstStyle/>
          <a:p>
            <a:endParaRPr lang="en-IN" dirty="0"/>
          </a:p>
        </p:txBody>
      </p:sp>
      <p:sp>
        <p:nvSpPr>
          <p:cNvPr id="12" name="Text 10"/>
          <p:cNvSpPr/>
          <p:nvPr/>
        </p:nvSpPr>
        <p:spPr>
          <a:xfrm>
            <a:off x="6949440" y="1426873"/>
            <a:ext cx="2011680" cy="146304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 Evaluation</a:t>
            </a:r>
            <a:endParaRPr lang="en-US" sz="1200" dirty="0"/>
          </a:p>
          <a:p>
            <a:pPr marL="0" indent="0" algn="ctr">
              <a:buNone/>
            </a:pPr>
            <a:endParaRPr lang="en-US" sz="1200" dirty="0"/>
          </a:p>
          <a:p>
            <a:pPr marL="0" indent="0" algn="ctr">
              <a:buNone/>
            </a:pPr>
            <a:r>
              <a:rPr lang="en-US" sz="1200" b="1" dirty="0">
                <a:solidFill>
                  <a:srgbClr val="FFFFFF"/>
                </a:solidFill>
                <a:latin typeface="Arial" pitchFamily="34" charset="0"/>
                <a:ea typeface="Arial" pitchFamily="34" charset="-122"/>
                <a:cs typeface="Arial" pitchFamily="34" charset="-120"/>
              </a:rPr>
              <a:t>Calculates cWER + fires LLM Judge API</a:t>
            </a:r>
            <a:endParaRPr lang="en-US" sz="1200" dirty="0"/>
          </a:p>
        </p:txBody>
      </p:sp>
      <p:sp>
        <p:nvSpPr>
          <p:cNvPr id="13" name="Shape 11"/>
          <p:cNvSpPr/>
          <p:nvPr/>
        </p:nvSpPr>
        <p:spPr>
          <a:xfrm>
            <a:off x="45720" y="3375774"/>
            <a:ext cx="4280620" cy="1645920"/>
          </a:xfrm>
          <a:prstGeom prst="rect">
            <a:avLst/>
          </a:prstGeom>
          <a:solidFill>
            <a:srgbClr val="162238"/>
          </a:solidFill>
          <a:ln/>
        </p:spPr>
        <p:txBody>
          <a:bodyPr/>
          <a:lstStyle/>
          <a:p>
            <a:endParaRPr lang="en-IN"/>
          </a:p>
        </p:txBody>
      </p:sp>
      <p:sp>
        <p:nvSpPr>
          <p:cNvPr id="14" name="Text 12"/>
          <p:cNvSpPr/>
          <p:nvPr/>
        </p:nvSpPr>
        <p:spPr>
          <a:xfrm>
            <a:off x="62782" y="3573666"/>
            <a:ext cx="4099785" cy="1280160"/>
          </a:xfrm>
          <a:prstGeom prst="rect">
            <a:avLst/>
          </a:prstGeom>
          <a:noFill/>
          <a:ln/>
        </p:spPr>
        <p:txBody>
          <a:bodyPr wrap="square" rtlCol="0" anchor="ctr"/>
          <a:lstStyle/>
          <a:p>
            <a:pPr marL="0" indent="0" algn="ctr">
              <a:buNone/>
            </a:pPr>
            <a:r>
              <a:rPr lang="en-US" sz="1300" b="1" dirty="0">
                <a:solidFill>
                  <a:srgbClr val="CBD5E1"/>
                </a:solidFill>
                <a:latin typeface="Arial" pitchFamily="34" charset="0"/>
                <a:ea typeface="Arial" pitchFamily="34" charset="-122"/>
                <a:cs typeface="Arial" pitchFamily="34" charset="-120"/>
              </a:rPr>
              <a:t>Cloud Evaluation Judge</a:t>
            </a:r>
            <a:endParaRPr lang="en-US" sz="1300" dirty="0"/>
          </a:p>
          <a:p>
            <a:pPr marL="0" indent="0" algn="ctr">
              <a:buNone/>
            </a:pPr>
            <a:r>
              <a:rPr lang="en-US" sz="1300" b="1" dirty="0">
                <a:solidFill>
                  <a:srgbClr val="CBD5E1"/>
                </a:solidFill>
                <a:latin typeface="Arial" pitchFamily="34" charset="0"/>
                <a:ea typeface="Arial" pitchFamily="34" charset="-122"/>
                <a:cs typeface="Arial" pitchFamily="34" charset="-120"/>
              </a:rPr>
              <a:t>Gemini 2.5 Flash comparative evaluation via GenAI SDK API</a:t>
            </a:r>
            <a:endParaRPr lang="en-US" sz="1300" dirty="0"/>
          </a:p>
        </p:txBody>
      </p:sp>
      <p:sp>
        <p:nvSpPr>
          <p:cNvPr id="15" name="Shape 13"/>
          <p:cNvSpPr/>
          <p:nvPr/>
        </p:nvSpPr>
        <p:spPr>
          <a:xfrm>
            <a:off x="4526280" y="3373724"/>
            <a:ext cx="4554938" cy="1645920"/>
          </a:xfrm>
          <a:prstGeom prst="rect">
            <a:avLst/>
          </a:prstGeom>
          <a:solidFill>
            <a:srgbClr val="162238"/>
          </a:solidFill>
          <a:ln/>
        </p:spPr>
        <p:txBody>
          <a:bodyPr/>
          <a:lstStyle/>
          <a:p>
            <a:endParaRPr lang="en-IN"/>
          </a:p>
        </p:txBody>
      </p:sp>
      <p:sp>
        <p:nvSpPr>
          <p:cNvPr id="16" name="Text 14"/>
          <p:cNvSpPr/>
          <p:nvPr/>
        </p:nvSpPr>
        <p:spPr>
          <a:xfrm>
            <a:off x="4343402" y="3578446"/>
            <a:ext cx="4846320" cy="1280160"/>
          </a:xfrm>
          <a:prstGeom prst="rect">
            <a:avLst/>
          </a:prstGeom>
          <a:noFill/>
          <a:ln/>
        </p:spPr>
        <p:txBody>
          <a:bodyPr wrap="square" rtlCol="0" anchor="ctr"/>
          <a:lstStyle/>
          <a:p>
            <a:pPr marL="0" indent="0" algn="ctr">
              <a:buNone/>
            </a:pPr>
            <a:r>
              <a:rPr lang="en-US" sz="1300" b="1" dirty="0">
                <a:solidFill>
                  <a:srgbClr val="CBD5E1"/>
                </a:solidFill>
                <a:latin typeface="Arial" pitchFamily="34" charset="0"/>
                <a:ea typeface="Arial" pitchFamily="34" charset="-122"/>
                <a:cs typeface="Arial" pitchFamily="34" charset="-120"/>
              </a:rPr>
              <a:t>Local Evaluation Judges</a:t>
            </a:r>
            <a:endParaRPr lang="en-US" sz="1300" dirty="0"/>
          </a:p>
          <a:p>
            <a:pPr marL="0" indent="0" algn="ctr">
              <a:buNone/>
            </a:pPr>
            <a:r>
              <a:rPr lang="en-US" sz="1300" b="1" dirty="0">
                <a:solidFill>
                  <a:srgbClr val="CBD5E1"/>
                </a:solidFill>
                <a:latin typeface="Arial" pitchFamily="34" charset="0"/>
                <a:ea typeface="Arial" pitchFamily="34" charset="-122"/>
                <a:cs typeface="Arial" pitchFamily="34" charset="-120"/>
              </a:rPr>
              <a:t>Gemma local execution directly on memory-quantized budget GPUs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8">
    <p:bg>
      <p:bgPr>
        <a:solidFill>
          <a:srgbClr val="0B0F19"/>
        </a:solidFill>
        <a:effectLst/>
      </p:bgPr>
    </p:bg>
    <p:spTree>
      <p:nvGrpSpPr>
        <p:cNvPr id="1" name=""/>
        <p:cNvGrpSpPr/>
        <p:nvPr/>
      </p:nvGrpSpPr>
      <p:grpSpPr>
        <a:xfrm>
          <a:off x="0" y="0"/>
          <a:ext cx="0" cy="0"/>
          <a:chOff x="0" y="0"/>
          <a:chExt cx="0" cy="0"/>
        </a:xfrm>
      </p:grpSpPr>
      <p:sp>
        <p:nvSpPr>
          <p:cNvPr id="2" name="Shape 0"/>
          <p:cNvSpPr/>
          <p:nvPr/>
        </p:nvSpPr>
        <p:spPr>
          <a:xfrm>
            <a:off x="731520" y="457200"/>
            <a:ext cx="73152" cy="548640"/>
          </a:xfrm>
          <a:prstGeom prst="rect">
            <a:avLst/>
          </a:prstGeom>
          <a:solidFill>
            <a:srgbClr val="DEFF9A"/>
          </a:solidFill>
          <a:ln/>
        </p:spPr>
        <p:txBody>
          <a:bodyPr/>
          <a:lstStyle/>
          <a:p>
            <a:endParaRPr lang="en-IN"/>
          </a:p>
        </p:txBody>
      </p:sp>
      <p:sp>
        <p:nvSpPr>
          <p:cNvPr id="3" name="Text 1"/>
          <p:cNvSpPr/>
          <p:nvPr/>
        </p:nvSpPr>
        <p:spPr>
          <a:xfrm>
            <a:off x="914400" y="457200"/>
            <a:ext cx="105156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ASR Benchmark Outputs (Consensus Matrix)</a:t>
            </a:r>
            <a:endParaRPr lang="en-US" sz="2600" dirty="0"/>
          </a:p>
        </p:txBody>
      </p:sp>
      <p:sp>
        <p:nvSpPr>
          <p:cNvPr id="4" name="Shape 2"/>
          <p:cNvSpPr/>
          <p:nvPr/>
        </p:nvSpPr>
        <p:spPr>
          <a:xfrm>
            <a:off x="731520" y="6217920"/>
            <a:ext cx="10698480" cy="18288"/>
          </a:xfrm>
          <a:prstGeom prst="rect">
            <a:avLst/>
          </a:prstGeom>
          <a:solidFill>
            <a:srgbClr val="1A2948"/>
          </a:solidFill>
          <a:ln/>
        </p:spPr>
        <p:txBody>
          <a:bodyPr/>
          <a:lstStyle/>
          <a:p>
            <a:endParaRPr lang="en-IN"/>
          </a:p>
        </p:txBody>
      </p:sp>
      <p:graphicFrame>
        <p:nvGraphicFramePr>
          <p:cNvPr id="9" name="Table 0"/>
          <p:cNvGraphicFramePr>
            <a:graphicFrameLocks noGrp="1"/>
          </p:cNvGraphicFramePr>
          <p:nvPr>
            <p:extLst>
              <p:ext uri="{D42A27DB-BD31-4B8C-83A1-F6EECF244321}">
                <p14:modId xmlns:p14="http://schemas.microsoft.com/office/powerpoint/2010/main" val="90451766"/>
              </p:ext>
            </p:extLst>
          </p:nvPr>
        </p:nvGraphicFramePr>
        <p:xfrm>
          <a:off x="144666" y="1645920"/>
          <a:ext cx="8808265" cy="2926080"/>
        </p:xfrm>
        <a:graphic>
          <a:graphicData uri="http://schemas.openxmlformats.org/drawingml/2006/table">
            <a:tbl>
              <a:tblPr/>
              <a:tblGrid>
                <a:gridCol w="3914784">
                  <a:extLst>
                    <a:ext uri="{9D8B030D-6E8A-4147-A177-3AD203B41FA5}">
                      <a16:colId xmlns:a16="http://schemas.microsoft.com/office/drawing/2014/main" val="20000"/>
                    </a:ext>
                  </a:extLst>
                </a:gridCol>
                <a:gridCol w="1656255">
                  <a:extLst>
                    <a:ext uri="{9D8B030D-6E8A-4147-A177-3AD203B41FA5}">
                      <a16:colId xmlns:a16="http://schemas.microsoft.com/office/drawing/2014/main" val="20001"/>
                    </a:ext>
                  </a:extLst>
                </a:gridCol>
                <a:gridCol w="3237226">
                  <a:extLst>
                    <a:ext uri="{9D8B030D-6E8A-4147-A177-3AD203B41FA5}">
                      <a16:colId xmlns:a16="http://schemas.microsoft.com/office/drawing/2014/main" val="20002"/>
                    </a:ext>
                  </a:extLst>
                </a:gridCol>
              </a:tblGrid>
              <a:tr h="0">
                <a:tc>
                  <a:txBody>
                    <a:bodyPr/>
                    <a:lstStyle/>
                    <a:p>
                      <a:pPr marL="0" indent="0">
                        <a:buNone/>
                      </a:pPr>
                      <a:r>
                        <a:rPr lang="en-US" sz="1300" b="1" dirty="0">
                          <a:solidFill>
                            <a:srgbClr val="DEFF9A"/>
                          </a:solidFill>
                          <a:latin typeface="Arial" pitchFamily="34" charset="0"/>
                          <a:ea typeface="Arial" pitchFamily="34" charset="-122"/>
                          <a:cs typeface="Arial" pitchFamily="34" charset="-120"/>
                        </a:rPr>
                        <a:t>Model Parameter Pool Target</a:t>
                      </a:r>
                      <a:endParaRPr lang="en-US" sz="13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11827"/>
                    </a:solidFill>
                  </a:tcPr>
                </a:tc>
                <a:tc>
                  <a:txBody>
                    <a:bodyPr/>
                    <a:lstStyle/>
                    <a:p>
                      <a:pPr marL="0" indent="0">
                        <a:buNone/>
                      </a:pPr>
                      <a:r>
                        <a:rPr lang="en-US" sz="1300" b="1" dirty="0">
                          <a:solidFill>
                            <a:srgbClr val="DEFF9A"/>
                          </a:solidFill>
                          <a:latin typeface="Arial" pitchFamily="34" charset="0"/>
                          <a:ea typeface="Arial" pitchFamily="34" charset="-122"/>
                          <a:cs typeface="Arial" pitchFamily="34" charset="-120"/>
                        </a:rPr>
                        <a:t>Consensus WER (cWER)</a:t>
                      </a:r>
                      <a:endParaRPr lang="en-US" sz="13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11827"/>
                    </a:solidFill>
                  </a:tcPr>
                </a:tc>
                <a:tc>
                  <a:txBody>
                    <a:bodyPr/>
                    <a:lstStyle/>
                    <a:p>
                      <a:pPr marL="0" indent="0">
                        <a:buNone/>
                      </a:pPr>
                      <a:r>
                        <a:rPr lang="en-US" sz="1300" b="1" dirty="0">
                          <a:solidFill>
                            <a:srgbClr val="DEFF9A"/>
                          </a:solidFill>
                          <a:latin typeface="Arial" pitchFamily="34" charset="0"/>
                          <a:ea typeface="Arial" pitchFamily="34" charset="-122"/>
                          <a:cs typeface="Arial" pitchFamily="34" charset="-120"/>
                        </a:rPr>
                        <a:t>Status / Key Behavior</a:t>
                      </a:r>
                      <a:endParaRPr lang="en-US" sz="13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11827"/>
                    </a:solidFill>
                  </a:tcPr>
                </a:tc>
                <a:extLst>
                  <a:ext uri="{0D108BD9-81ED-4DB2-BD59-A6C34878D82A}">
                    <a16:rowId xmlns:a16="http://schemas.microsoft.com/office/drawing/2014/main" val="10000"/>
                  </a:ext>
                </a:extLst>
              </a:tr>
              <a:tr h="0">
                <a:tc>
                  <a:txBody>
                    <a:bodyPr/>
                    <a:lstStyle/>
                    <a:p>
                      <a:pPr marL="0" indent="0">
                        <a:buNone/>
                      </a:pPr>
                      <a:r>
                        <a:rPr lang="en-US" sz="1300" dirty="0">
                          <a:solidFill>
                            <a:srgbClr val="FFFFFF"/>
                          </a:solidFill>
                          <a:latin typeface="Arial" pitchFamily="34" charset="0"/>
                          <a:ea typeface="Arial" pitchFamily="34" charset="-122"/>
                          <a:cs typeface="Arial" pitchFamily="34" charset="-120"/>
                        </a:rPr>
                        <a:t>Garden2006/whisper-large-v3-turbo-gurmukhi-lora</a:t>
                      </a:r>
                      <a:endParaRPr lang="en-US" sz="13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tc>
                  <a:txBody>
                    <a:bodyPr/>
                    <a:lstStyle/>
                    <a:p>
                      <a:pPr marL="0" indent="0">
                        <a:buNone/>
                      </a:pPr>
                      <a:r>
                        <a:rPr lang="en-US" sz="1300" b="1" dirty="0">
                          <a:solidFill>
                            <a:srgbClr val="DEFF9A"/>
                          </a:solidFill>
                          <a:latin typeface="Arial" pitchFamily="34" charset="0"/>
                          <a:ea typeface="Arial" pitchFamily="34" charset="-122"/>
                          <a:cs typeface="Arial" pitchFamily="34" charset="-120"/>
                        </a:rPr>
                        <a:t>0.0688</a:t>
                      </a:r>
                      <a:endParaRPr lang="en-US" sz="13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tc>
                  <a:txBody>
                    <a:bodyPr/>
                    <a:lstStyle/>
                    <a:p>
                      <a:pPr marL="0" indent="0">
                        <a:buNone/>
                      </a:pPr>
                      <a:r>
                        <a:rPr lang="en-US" sz="1300" dirty="0">
                          <a:solidFill>
                            <a:srgbClr val="FFFFFF"/>
                          </a:solidFill>
                          <a:latin typeface="Arial" pitchFamily="34" charset="0"/>
                          <a:ea typeface="Arial" pitchFamily="34" charset="-122"/>
                          <a:cs typeface="Arial" pitchFamily="34" charset="-120"/>
                        </a:rPr>
                        <a:t>Winner: Close alignment with majority framework</a:t>
                      </a:r>
                      <a:endParaRPr lang="en-US" sz="13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extLst>
                  <a:ext uri="{0D108BD9-81ED-4DB2-BD59-A6C34878D82A}">
                    <a16:rowId xmlns:a16="http://schemas.microsoft.com/office/drawing/2014/main" val="10001"/>
                  </a:ext>
                </a:extLst>
              </a:tr>
              <a:tr h="0">
                <a:tc>
                  <a:txBody>
                    <a:bodyPr/>
                    <a:lstStyle/>
                    <a:p>
                      <a:pPr marL="0" indent="0">
                        <a:buNone/>
                      </a:pPr>
                      <a:r>
                        <a:rPr lang="en-US" sz="1300" dirty="0">
                          <a:solidFill>
                            <a:srgbClr val="FFFFFF"/>
                          </a:solidFill>
                          <a:latin typeface="Arial" pitchFamily="34" charset="0"/>
                          <a:ea typeface="Arial" pitchFamily="34" charset="-122"/>
                          <a:cs typeface="Arial" pitchFamily="34" charset="-120"/>
                        </a:rPr>
                        <a:t>abhi8799/whisper-large-v3-turbo-gurmukhi-lora</a:t>
                      </a:r>
                      <a:endParaRPr lang="en-US" sz="13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tc>
                  <a:txBody>
                    <a:bodyPr/>
                    <a:lstStyle/>
                    <a:p>
                      <a:pPr marL="0" indent="0">
                        <a:buNone/>
                      </a:pPr>
                      <a:r>
                        <a:rPr lang="en-US" sz="1300" dirty="0">
                          <a:solidFill>
                            <a:srgbClr val="FFFFFF"/>
                          </a:solidFill>
                          <a:latin typeface="Arial" pitchFamily="34" charset="0"/>
                          <a:ea typeface="Arial" pitchFamily="34" charset="-122"/>
                          <a:cs typeface="Arial" pitchFamily="34" charset="-120"/>
                        </a:rPr>
                        <a:t>0.5888</a:t>
                      </a:r>
                      <a:endParaRPr lang="en-US" sz="13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tc>
                  <a:txBody>
                    <a:bodyPr/>
                    <a:lstStyle/>
                    <a:p>
                      <a:pPr marL="0" indent="0">
                        <a:buNone/>
                      </a:pPr>
                      <a:r>
                        <a:rPr lang="en-US" sz="1300" dirty="0">
                          <a:solidFill>
                            <a:srgbClr val="FFFFFF"/>
                          </a:solidFill>
                          <a:latin typeface="Arial" pitchFamily="34" charset="0"/>
                          <a:ea typeface="Arial" pitchFamily="34" charset="-122"/>
                          <a:cs typeface="Arial" pitchFamily="34" charset="-120"/>
                        </a:rPr>
                        <a:t>Moderate error; displaying minor phrasing variations</a:t>
                      </a:r>
                      <a:endParaRPr lang="en-US" sz="13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extLst>
                  <a:ext uri="{0D108BD9-81ED-4DB2-BD59-A6C34878D82A}">
                    <a16:rowId xmlns:a16="http://schemas.microsoft.com/office/drawing/2014/main" val="10002"/>
                  </a:ext>
                </a:extLst>
              </a:tr>
              <a:tr h="0">
                <a:tc>
                  <a:txBody>
                    <a:bodyPr/>
                    <a:lstStyle/>
                    <a:p>
                      <a:pPr marL="0" indent="0">
                        <a:buNone/>
                      </a:pPr>
                      <a:r>
                        <a:rPr lang="en-US" sz="1300" dirty="0">
                          <a:solidFill>
                            <a:srgbClr val="FFFFFF"/>
                          </a:solidFill>
                          <a:latin typeface="Arial" pitchFamily="34" charset="0"/>
                          <a:ea typeface="Arial" pitchFamily="34" charset="-122"/>
                          <a:cs typeface="Arial" pitchFamily="34" charset="-120"/>
                        </a:rPr>
                        <a:t>KaliNangia/whisper-large-v3-turbo-gurmukhi-lora</a:t>
                      </a:r>
                      <a:endParaRPr lang="en-US" sz="13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tc>
                  <a:txBody>
                    <a:bodyPr/>
                    <a:lstStyle/>
                    <a:p>
                      <a:pPr marL="0" indent="0">
                        <a:buNone/>
                      </a:pPr>
                      <a:r>
                        <a:rPr lang="en-US" sz="1300" dirty="0">
                          <a:solidFill>
                            <a:srgbClr val="FFFFFF"/>
                          </a:solidFill>
                          <a:latin typeface="Arial" pitchFamily="34" charset="0"/>
                          <a:ea typeface="Arial" pitchFamily="34" charset="-122"/>
                          <a:cs typeface="Arial" pitchFamily="34" charset="-120"/>
                        </a:rPr>
                        <a:t>0.6757</a:t>
                      </a:r>
                      <a:endParaRPr lang="en-US" sz="13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tc>
                  <a:txBody>
                    <a:bodyPr/>
                    <a:lstStyle/>
                    <a:p>
                      <a:pPr marL="0" indent="0">
                        <a:buNone/>
                      </a:pPr>
                      <a:r>
                        <a:rPr lang="en-US" sz="1300" dirty="0">
                          <a:solidFill>
                            <a:srgbClr val="FFFFFF"/>
                          </a:solidFill>
                          <a:latin typeface="Arial" pitchFamily="34" charset="0"/>
                          <a:ea typeface="Arial" pitchFamily="34" charset="-122"/>
                          <a:cs typeface="Arial" pitchFamily="34" charset="-120"/>
                        </a:rPr>
                        <a:t>Elevated variance; contains alternative spellings</a:t>
                      </a:r>
                      <a:endParaRPr lang="en-US" sz="13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extLst>
                  <a:ext uri="{0D108BD9-81ED-4DB2-BD59-A6C34878D82A}">
                    <a16:rowId xmlns:a16="http://schemas.microsoft.com/office/drawing/2014/main" val="10003"/>
                  </a:ext>
                </a:extLst>
              </a:tr>
              <a:tr h="0">
                <a:tc>
                  <a:txBody>
                    <a:bodyPr/>
                    <a:lstStyle/>
                    <a:p>
                      <a:pPr marL="0" indent="0">
                        <a:buNone/>
                      </a:pPr>
                      <a:r>
                        <a:rPr lang="en-US" sz="1300" dirty="0">
                          <a:solidFill>
                            <a:srgbClr val="FFFFFF"/>
                          </a:solidFill>
                          <a:latin typeface="Arial" pitchFamily="34" charset="0"/>
                          <a:ea typeface="Arial" pitchFamily="34" charset="-122"/>
                          <a:cs typeface="Arial" pitchFamily="34" charset="-120"/>
                        </a:rPr>
                        <a:t>KaliNangia/whisper-medium-gurmukhi-lora</a:t>
                      </a:r>
                      <a:endParaRPr lang="en-US" sz="13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tc>
                  <a:txBody>
                    <a:bodyPr/>
                    <a:lstStyle/>
                    <a:p>
                      <a:pPr marL="0" indent="0">
                        <a:buNone/>
                      </a:pPr>
                      <a:r>
                        <a:rPr lang="en-US" sz="1300" dirty="0">
                          <a:solidFill>
                            <a:srgbClr val="FFFFFF"/>
                          </a:solidFill>
                          <a:latin typeface="Arial" pitchFamily="34" charset="0"/>
                          <a:ea typeface="Arial" pitchFamily="34" charset="-122"/>
                          <a:cs typeface="Arial" pitchFamily="34" charset="-120"/>
                        </a:rPr>
                        <a:t>0.7346</a:t>
                      </a:r>
                      <a:endParaRPr lang="en-US" sz="13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tc>
                  <a:txBody>
                    <a:bodyPr/>
                    <a:lstStyle/>
                    <a:p>
                      <a:pPr marL="0" indent="0">
                        <a:buNone/>
                      </a:pPr>
                      <a:r>
                        <a:rPr lang="en-US" sz="1300" dirty="0">
                          <a:solidFill>
                            <a:srgbClr val="FFFFFF"/>
                          </a:solidFill>
                          <a:latin typeface="Arial" pitchFamily="34" charset="0"/>
                          <a:ea typeface="Arial" pitchFamily="34" charset="-122"/>
                          <a:cs typeface="Arial" pitchFamily="34" charset="-120"/>
                        </a:rPr>
                        <a:t>Significant word insertions and structural drift</a:t>
                      </a:r>
                      <a:endParaRPr lang="en-US" sz="13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extLst>
                  <a:ext uri="{0D108BD9-81ED-4DB2-BD59-A6C34878D82A}">
                    <a16:rowId xmlns:a16="http://schemas.microsoft.com/office/drawing/2014/main" val="10004"/>
                  </a:ext>
                </a:extLst>
              </a:tr>
              <a:tr h="0">
                <a:tc>
                  <a:txBody>
                    <a:bodyPr/>
                    <a:lstStyle/>
                    <a:p>
                      <a:pPr marL="0" indent="0">
                        <a:buNone/>
                      </a:pPr>
                      <a:r>
                        <a:rPr lang="en-US" sz="1300" dirty="0">
                          <a:solidFill>
                            <a:srgbClr val="FFFFFF"/>
                          </a:solidFill>
                          <a:latin typeface="Arial" pitchFamily="34" charset="0"/>
                          <a:ea typeface="Arial" pitchFamily="34" charset="-122"/>
                          <a:cs typeface="Arial" pitchFamily="34" charset="-120"/>
                        </a:rPr>
                        <a:t>abhi8799/whisper-small-gurmukhi-lora</a:t>
                      </a:r>
                      <a:endParaRPr lang="en-US" sz="13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tc>
                  <a:txBody>
                    <a:bodyPr/>
                    <a:lstStyle/>
                    <a:p>
                      <a:pPr marL="0" indent="0">
                        <a:buNone/>
                      </a:pPr>
                      <a:r>
                        <a:rPr lang="en-US" sz="1300" b="1" dirty="0">
                          <a:solidFill>
                            <a:srgbClr val="FF8B8B"/>
                          </a:solidFill>
                          <a:latin typeface="Arial" pitchFamily="34" charset="0"/>
                          <a:ea typeface="Arial" pitchFamily="34" charset="-122"/>
                          <a:cs typeface="Arial" pitchFamily="34" charset="-120"/>
                        </a:rPr>
                        <a:t>0.8659</a:t>
                      </a:r>
                      <a:endParaRPr lang="en-US" sz="13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tc>
                  <a:txBody>
                    <a:bodyPr/>
                    <a:lstStyle/>
                    <a:p>
                      <a:pPr marL="0" indent="0">
                        <a:buNone/>
                      </a:pPr>
                      <a:r>
                        <a:rPr lang="en-US" sz="1300" dirty="0">
                          <a:solidFill>
                            <a:srgbClr val="FFFFFF"/>
                          </a:solidFill>
                          <a:latin typeface="Arial" pitchFamily="34" charset="0"/>
                          <a:ea typeface="Arial" pitchFamily="34" charset="-122"/>
                          <a:cs typeface="Arial" pitchFamily="34" charset="-120"/>
                        </a:rPr>
                        <a:t>High error outlier; severe repetition loop errors</a:t>
                      </a:r>
                      <a:endParaRPr lang="en-US" sz="13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a:extLst>
            <a:ext uri="{FF2B5EF4-FFF2-40B4-BE49-F238E27FC236}">
              <a16:creationId xmlns:a16="http://schemas.microsoft.com/office/drawing/2014/main" id="{3D46C0A6-1DCC-3780-2CF0-1624B110503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5787E85-37FC-A2BC-3067-1ACF378A4ADF}"/>
              </a:ext>
            </a:extLst>
          </p:cNvPr>
          <p:cNvSpPr/>
          <p:nvPr/>
        </p:nvSpPr>
        <p:spPr>
          <a:xfrm>
            <a:off x="731520" y="457200"/>
            <a:ext cx="73152" cy="548640"/>
          </a:xfrm>
          <a:prstGeom prst="rect">
            <a:avLst/>
          </a:prstGeom>
          <a:solidFill>
            <a:srgbClr val="DEFF9A"/>
          </a:solidFill>
          <a:ln/>
        </p:spPr>
        <p:txBody>
          <a:bodyPr/>
          <a:lstStyle/>
          <a:p>
            <a:endParaRPr lang="en-IN"/>
          </a:p>
        </p:txBody>
      </p:sp>
      <p:sp>
        <p:nvSpPr>
          <p:cNvPr id="3" name="Text 1">
            <a:extLst>
              <a:ext uri="{FF2B5EF4-FFF2-40B4-BE49-F238E27FC236}">
                <a16:creationId xmlns:a16="http://schemas.microsoft.com/office/drawing/2014/main" id="{39B5A6AB-07EE-03D3-2388-080D2F326D42}"/>
              </a:ext>
            </a:extLst>
          </p:cNvPr>
          <p:cNvSpPr/>
          <p:nvPr/>
        </p:nvSpPr>
        <p:spPr>
          <a:xfrm>
            <a:off x="914400" y="457200"/>
            <a:ext cx="105156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Introduction &amp; Core Challenge</a:t>
            </a:r>
            <a:endParaRPr lang="en-US" sz="2600" dirty="0"/>
          </a:p>
        </p:txBody>
      </p:sp>
      <p:sp>
        <p:nvSpPr>
          <p:cNvPr id="4" name="Shape 2">
            <a:extLst>
              <a:ext uri="{FF2B5EF4-FFF2-40B4-BE49-F238E27FC236}">
                <a16:creationId xmlns:a16="http://schemas.microsoft.com/office/drawing/2014/main" id="{B0CF7A6D-AA71-DF59-E42E-C37FC83F2864}"/>
              </a:ext>
            </a:extLst>
          </p:cNvPr>
          <p:cNvSpPr/>
          <p:nvPr/>
        </p:nvSpPr>
        <p:spPr>
          <a:xfrm>
            <a:off x="731520" y="6217920"/>
            <a:ext cx="10698480" cy="18288"/>
          </a:xfrm>
          <a:prstGeom prst="rect">
            <a:avLst/>
          </a:prstGeom>
          <a:solidFill>
            <a:srgbClr val="1A2948"/>
          </a:solidFill>
          <a:ln/>
        </p:spPr>
        <p:txBody>
          <a:bodyPr/>
          <a:lstStyle/>
          <a:p>
            <a:endParaRPr lang="en-IN"/>
          </a:p>
        </p:txBody>
      </p:sp>
      <p:sp>
        <p:nvSpPr>
          <p:cNvPr id="6" name="Text 4">
            <a:extLst>
              <a:ext uri="{FF2B5EF4-FFF2-40B4-BE49-F238E27FC236}">
                <a16:creationId xmlns:a16="http://schemas.microsoft.com/office/drawing/2014/main" id="{EF94AB08-55CC-4D5B-C8F8-2FE605F8B815}"/>
              </a:ext>
            </a:extLst>
          </p:cNvPr>
          <p:cNvSpPr/>
          <p:nvPr/>
        </p:nvSpPr>
        <p:spPr>
          <a:xfrm>
            <a:off x="1005840" y="1828800"/>
            <a:ext cx="4572000" cy="457200"/>
          </a:xfrm>
          <a:prstGeom prst="rect">
            <a:avLst/>
          </a:prstGeom>
          <a:noFill/>
          <a:ln/>
        </p:spPr>
        <p:txBody>
          <a:bodyPr wrap="square" rtlCol="0" anchor="ctr"/>
          <a:lstStyle/>
          <a:p>
            <a:pPr marL="0" indent="0">
              <a:buNone/>
            </a:pPr>
            <a:endParaRPr lang="en-US" sz="1800" dirty="0"/>
          </a:p>
        </p:txBody>
      </p:sp>
      <p:sp>
        <p:nvSpPr>
          <p:cNvPr id="7" name="Text 5">
            <a:extLst>
              <a:ext uri="{FF2B5EF4-FFF2-40B4-BE49-F238E27FC236}">
                <a16:creationId xmlns:a16="http://schemas.microsoft.com/office/drawing/2014/main" id="{DC6E1893-44F7-BA00-3AC8-667F160968F5}"/>
              </a:ext>
            </a:extLst>
          </p:cNvPr>
          <p:cNvSpPr/>
          <p:nvPr/>
        </p:nvSpPr>
        <p:spPr>
          <a:xfrm>
            <a:off x="1005840" y="2377440"/>
            <a:ext cx="4572000" cy="3108960"/>
          </a:xfrm>
          <a:prstGeom prst="rect">
            <a:avLst/>
          </a:prstGeom>
          <a:noFill/>
          <a:ln/>
        </p:spPr>
        <p:txBody>
          <a:bodyPr wrap="square" rtlCol="0" anchor="ctr"/>
          <a:lstStyle/>
          <a:p>
            <a:pPr marL="0" indent="0">
              <a:buNone/>
            </a:pPr>
            <a:endParaRPr lang="en-US" sz="1300" dirty="0"/>
          </a:p>
        </p:txBody>
      </p:sp>
      <p:sp>
        <p:nvSpPr>
          <p:cNvPr id="9" name="Text 7">
            <a:extLst>
              <a:ext uri="{FF2B5EF4-FFF2-40B4-BE49-F238E27FC236}">
                <a16:creationId xmlns:a16="http://schemas.microsoft.com/office/drawing/2014/main" id="{75E7E6C0-BEDE-CD16-0BEF-D8D187CCE80D}"/>
              </a:ext>
            </a:extLst>
          </p:cNvPr>
          <p:cNvSpPr/>
          <p:nvPr/>
        </p:nvSpPr>
        <p:spPr>
          <a:xfrm>
            <a:off x="6492240" y="1828800"/>
            <a:ext cx="4663440" cy="457200"/>
          </a:xfrm>
          <a:prstGeom prst="rect">
            <a:avLst/>
          </a:prstGeom>
          <a:noFill/>
          <a:ln/>
        </p:spPr>
        <p:txBody>
          <a:bodyPr wrap="square" rtlCol="0" anchor="ctr"/>
          <a:lstStyle/>
          <a:p>
            <a:pPr marL="0" indent="0">
              <a:buNone/>
            </a:pPr>
            <a:endParaRPr lang="en-US" sz="1800" dirty="0"/>
          </a:p>
        </p:txBody>
      </p:sp>
      <p:sp>
        <p:nvSpPr>
          <p:cNvPr id="10" name="Text 8">
            <a:extLst>
              <a:ext uri="{FF2B5EF4-FFF2-40B4-BE49-F238E27FC236}">
                <a16:creationId xmlns:a16="http://schemas.microsoft.com/office/drawing/2014/main" id="{CE0B51D0-1728-E6F9-7F3E-573E0849F886}"/>
              </a:ext>
            </a:extLst>
          </p:cNvPr>
          <p:cNvSpPr/>
          <p:nvPr/>
        </p:nvSpPr>
        <p:spPr>
          <a:xfrm>
            <a:off x="6492240" y="2377440"/>
            <a:ext cx="4663440" cy="731520"/>
          </a:xfrm>
          <a:prstGeom prst="rect">
            <a:avLst/>
          </a:prstGeom>
          <a:noFill/>
          <a:ln/>
        </p:spPr>
        <p:txBody>
          <a:bodyPr wrap="square" rtlCol="0" anchor="ctr"/>
          <a:lstStyle/>
          <a:p>
            <a:pPr marL="0" indent="0">
              <a:buNone/>
            </a:pPr>
            <a:endParaRPr lang="en-US" sz="1300" dirty="0"/>
          </a:p>
        </p:txBody>
      </p:sp>
      <p:sp>
        <p:nvSpPr>
          <p:cNvPr id="11" name="Text 9">
            <a:extLst>
              <a:ext uri="{FF2B5EF4-FFF2-40B4-BE49-F238E27FC236}">
                <a16:creationId xmlns:a16="http://schemas.microsoft.com/office/drawing/2014/main" id="{845D073F-EBD8-D182-C330-A2A334A65787}"/>
              </a:ext>
            </a:extLst>
          </p:cNvPr>
          <p:cNvSpPr/>
          <p:nvPr/>
        </p:nvSpPr>
        <p:spPr>
          <a:xfrm>
            <a:off x="6492240" y="3200400"/>
            <a:ext cx="4663440" cy="2286000"/>
          </a:xfrm>
          <a:prstGeom prst="rect">
            <a:avLst/>
          </a:prstGeom>
          <a:noFill/>
          <a:ln/>
        </p:spPr>
        <p:txBody>
          <a:bodyPr wrap="square" rtlCol="0" anchor="ctr"/>
          <a:lstStyle/>
          <a:p>
            <a:pPr>
              <a:lnSpc>
                <a:spcPts val="2200"/>
              </a:lnSpc>
              <a:buSzPct val="100000"/>
            </a:pPr>
            <a:endParaRPr lang="en-US" sz="1300" dirty="0"/>
          </a:p>
        </p:txBody>
      </p:sp>
      <p:graphicFrame>
        <p:nvGraphicFramePr>
          <p:cNvPr id="12" name="Chart 11">
            <a:extLst>
              <a:ext uri="{FF2B5EF4-FFF2-40B4-BE49-F238E27FC236}">
                <a16:creationId xmlns:a16="http://schemas.microsoft.com/office/drawing/2014/main" id="{583BEF90-B82F-8A46-248E-477F0EDAAE5B}"/>
              </a:ext>
            </a:extLst>
          </p:cNvPr>
          <p:cNvGraphicFramePr>
            <a:graphicFrameLocks noGrp="1"/>
          </p:cNvGraphicFramePr>
          <p:nvPr>
            <p:extLst>
              <p:ext uri="{D42A27DB-BD31-4B8C-83A1-F6EECF244321}">
                <p14:modId xmlns:p14="http://schemas.microsoft.com/office/powerpoint/2010/main" val="2070472938"/>
              </p:ext>
            </p:extLst>
          </p:nvPr>
        </p:nvGraphicFramePr>
        <p:xfrm>
          <a:off x="560070" y="1314451"/>
          <a:ext cx="8023860" cy="30861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1981795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9">
    <p:bg>
      <p:bgPr>
        <a:solidFill>
          <a:srgbClr val="0B0F19"/>
        </a:solidFill>
        <a:effectLst/>
      </p:bgPr>
    </p:bg>
    <p:spTree>
      <p:nvGrpSpPr>
        <p:cNvPr id="1" name=""/>
        <p:cNvGrpSpPr/>
        <p:nvPr/>
      </p:nvGrpSpPr>
      <p:grpSpPr>
        <a:xfrm>
          <a:off x="0" y="0"/>
          <a:ext cx="0" cy="0"/>
          <a:chOff x="0" y="0"/>
          <a:chExt cx="0" cy="0"/>
        </a:xfrm>
      </p:grpSpPr>
      <p:sp>
        <p:nvSpPr>
          <p:cNvPr id="2" name="Shape 0"/>
          <p:cNvSpPr/>
          <p:nvPr/>
        </p:nvSpPr>
        <p:spPr>
          <a:xfrm>
            <a:off x="731520" y="457200"/>
            <a:ext cx="73152" cy="548640"/>
          </a:xfrm>
          <a:prstGeom prst="rect">
            <a:avLst/>
          </a:prstGeom>
          <a:solidFill>
            <a:srgbClr val="DEFF9A"/>
          </a:solidFill>
          <a:ln/>
        </p:spPr>
        <p:txBody>
          <a:bodyPr/>
          <a:lstStyle/>
          <a:p>
            <a:endParaRPr lang="en-IN"/>
          </a:p>
        </p:txBody>
      </p:sp>
      <p:sp>
        <p:nvSpPr>
          <p:cNvPr id="3" name="Text 1"/>
          <p:cNvSpPr/>
          <p:nvPr/>
        </p:nvSpPr>
        <p:spPr>
          <a:xfrm>
            <a:off x="914400" y="457200"/>
            <a:ext cx="105156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Why Introduce LLM as a Judge?</a:t>
            </a:r>
            <a:endParaRPr lang="en-US" sz="2600" dirty="0"/>
          </a:p>
        </p:txBody>
      </p:sp>
      <p:sp>
        <p:nvSpPr>
          <p:cNvPr id="4" name="Shape 2"/>
          <p:cNvSpPr/>
          <p:nvPr/>
        </p:nvSpPr>
        <p:spPr>
          <a:xfrm>
            <a:off x="731520" y="6217920"/>
            <a:ext cx="10698480" cy="18288"/>
          </a:xfrm>
          <a:prstGeom prst="rect">
            <a:avLst/>
          </a:prstGeom>
          <a:solidFill>
            <a:srgbClr val="1A2948"/>
          </a:solidFill>
          <a:ln/>
        </p:spPr>
        <p:txBody>
          <a:bodyPr/>
          <a:lstStyle/>
          <a:p>
            <a:endParaRPr lang="en-IN"/>
          </a:p>
        </p:txBody>
      </p:sp>
      <p:sp>
        <p:nvSpPr>
          <p:cNvPr id="5" name="Text 3"/>
          <p:cNvSpPr/>
          <p:nvPr/>
        </p:nvSpPr>
        <p:spPr>
          <a:xfrm>
            <a:off x="185610" y="1457581"/>
            <a:ext cx="5120640" cy="457200"/>
          </a:xfrm>
          <a:prstGeom prst="rect">
            <a:avLst/>
          </a:prstGeom>
          <a:noFill/>
          <a:ln/>
        </p:spPr>
        <p:txBody>
          <a:bodyPr wrap="square" rtlCol="0" anchor="ctr"/>
          <a:lstStyle/>
          <a:p>
            <a:pPr marL="0" indent="0">
              <a:buNone/>
            </a:pPr>
            <a:r>
              <a:rPr lang="en-US" sz="2000" b="1" dirty="0">
                <a:solidFill>
                  <a:srgbClr val="DEFF9A"/>
                </a:solidFill>
                <a:latin typeface="Arial" pitchFamily="34" charset="0"/>
                <a:ea typeface="Arial" pitchFamily="34" charset="-122"/>
                <a:cs typeface="Arial" pitchFamily="34" charset="-120"/>
              </a:rPr>
              <a:t>Syntactic Metrics Fall Short</a:t>
            </a:r>
            <a:endParaRPr lang="en-US" sz="2000" dirty="0"/>
          </a:p>
        </p:txBody>
      </p:sp>
      <p:sp>
        <p:nvSpPr>
          <p:cNvPr id="6" name="Text 4"/>
          <p:cNvSpPr/>
          <p:nvPr/>
        </p:nvSpPr>
        <p:spPr>
          <a:xfrm>
            <a:off x="185610" y="1437109"/>
            <a:ext cx="4094874" cy="3474720"/>
          </a:xfrm>
          <a:prstGeom prst="rect">
            <a:avLst/>
          </a:prstGeom>
          <a:noFill/>
          <a:ln/>
        </p:spPr>
        <p:txBody>
          <a:bodyPr wrap="square" rtlCol="0" anchor="ctr"/>
          <a:lstStyle/>
          <a:p>
            <a:pPr marL="342900" indent="-342900">
              <a:lnSpc>
                <a:spcPts val="2400"/>
              </a:lnSpc>
              <a:buSzPct val="100000"/>
              <a:buChar char="•"/>
            </a:pPr>
            <a:r>
              <a:rPr lang="en-US" sz="1300" dirty="0">
                <a:solidFill>
                  <a:srgbClr val="CBD5E1"/>
                </a:solidFill>
                <a:latin typeface="Arial" pitchFamily="34" charset="0"/>
                <a:ea typeface="Arial" pitchFamily="34" charset="-122"/>
                <a:cs typeface="Arial" pitchFamily="34" charset="-120"/>
              </a:rPr>
              <a:t>Synonyms: Correct alternative word choices are graded as harsh errors.</a:t>
            </a:r>
            <a:endParaRPr lang="en-US" sz="1300" dirty="0"/>
          </a:p>
          <a:p>
            <a:pPr marL="342900" indent="-342900">
              <a:lnSpc>
                <a:spcPts val="2400"/>
              </a:lnSpc>
              <a:buSzPct val="100000"/>
              <a:buChar char="•"/>
            </a:pPr>
            <a:r>
              <a:rPr lang="en-US" sz="1300" dirty="0">
                <a:solidFill>
                  <a:srgbClr val="CBD5E1"/>
                </a:solidFill>
                <a:latin typeface="Arial" pitchFamily="34" charset="0"/>
                <a:ea typeface="Arial" pitchFamily="34" charset="-122"/>
                <a:cs typeface="Arial" pitchFamily="34" charset="-120"/>
              </a:rPr>
              <a:t>Gurmukhi Dialects: Dialectical spelling updates cause metric drift despite clean audio match.</a:t>
            </a:r>
            <a:endParaRPr lang="en-US" sz="1300" dirty="0"/>
          </a:p>
          <a:p>
            <a:pPr marL="342900" indent="-342900">
              <a:lnSpc>
                <a:spcPts val="2400"/>
              </a:lnSpc>
              <a:buSzPct val="100000"/>
              <a:buChar char="•"/>
            </a:pPr>
            <a:r>
              <a:rPr lang="en-US" sz="1300" dirty="0">
                <a:solidFill>
                  <a:srgbClr val="CBD5E1"/>
                </a:solidFill>
                <a:latin typeface="Arial" pitchFamily="34" charset="0"/>
                <a:ea typeface="Arial" pitchFamily="34" charset="-122"/>
                <a:cs typeface="Arial" pitchFamily="34" charset="-120"/>
              </a:rPr>
              <a:t>Context Blindness: Scrambled, meaningless outputs with matching tokens receive falsely positive scores.</a:t>
            </a:r>
            <a:endParaRPr lang="en-US" sz="1300" dirty="0"/>
          </a:p>
        </p:txBody>
      </p:sp>
      <p:sp>
        <p:nvSpPr>
          <p:cNvPr id="7" name="Text 5"/>
          <p:cNvSpPr/>
          <p:nvPr/>
        </p:nvSpPr>
        <p:spPr>
          <a:xfrm>
            <a:off x="4863518" y="1457581"/>
            <a:ext cx="5212080" cy="457200"/>
          </a:xfrm>
          <a:prstGeom prst="rect">
            <a:avLst/>
          </a:prstGeom>
          <a:noFill/>
          <a:ln/>
        </p:spPr>
        <p:txBody>
          <a:bodyPr wrap="square" rtlCol="0" anchor="ctr"/>
          <a:lstStyle/>
          <a:p>
            <a:pPr marL="0" indent="0">
              <a:buNone/>
            </a:pPr>
            <a:r>
              <a:rPr lang="en-US" sz="2000" b="1" dirty="0">
                <a:solidFill>
                  <a:srgbClr val="DEFF9A"/>
                </a:solidFill>
                <a:latin typeface="Arial" pitchFamily="34" charset="0"/>
                <a:ea typeface="Arial" pitchFamily="34" charset="-122"/>
                <a:cs typeface="Arial" pitchFamily="34" charset="-120"/>
              </a:rPr>
              <a:t>Linguistic Fluency Auditing</a:t>
            </a:r>
            <a:endParaRPr lang="en-US" sz="2000" dirty="0"/>
          </a:p>
        </p:txBody>
      </p:sp>
      <p:sp>
        <p:nvSpPr>
          <p:cNvPr id="8" name="Text 6"/>
          <p:cNvSpPr/>
          <p:nvPr/>
        </p:nvSpPr>
        <p:spPr>
          <a:xfrm>
            <a:off x="4572000" y="1211580"/>
            <a:ext cx="4386390" cy="3474720"/>
          </a:xfrm>
          <a:prstGeom prst="rect">
            <a:avLst/>
          </a:prstGeom>
          <a:noFill/>
          <a:ln/>
        </p:spPr>
        <p:txBody>
          <a:bodyPr wrap="square" rtlCol="0" anchor="ctr"/>
          <a:lstStyle/>
          <a:p>
            <a:pPr marL="342900" indent="-342900">
              <a:lnSpc>
                <a:spcPts val="2400"/>
              </a:lnSpc>
              <a:buSzPct val="100000"/>
              <a:buChar char="•"/>
            </a:pPr>
            <a:r>
              <a:rPr lang="en-US" sz="1300" dirty="0">
                <a:solidFill>
                  <a:srgbClr val="CBD5E1"/>
                </a:solidFill>
                <a:latin typeface="Arial" pitchFamily="34" charset="0"/>
                <a:ea typeface="Arial" pitchFamily="34" charset="-122"/>
                <a:cs typeface="Arial" pitchFamily="34" charset="-120"/>
              </a:rPr>
              <a:t>Determines if sentence transitions are grammatically fluent in natural Punjabi.</a:t>
            </a:r>
            <a:endParaRPr lang="en-US" sz="1300" dirty="0"/>
          </a:p>
          <a:p>
            <a:pPr marL="342900" indent="-342900">
              <a:lnSpc>
                <a:spcPts val="2400"/>
              </a:lnSpc>
              <a:buSzPct val="100000"/>
              <a:buChar char="•"/>
            </a:pPr>
            <a:r>
              <a:rPr lang="en-US" sz="1300" dirty="0">
                <a:solidFill>
                  <a:srgbClr val="CBD5E1"/>
                </a:solidFill>
                <a:latin typeface="Arial" pitchFamily="34" charset="0"/>
                <a:ea typeface="Arial" pitchFamily="34" charset="-122"/>
                <a:cs typeface="Arial" pitchFamily="34" charset="-120"/>
              </a:rPr>
              <a:t>Detects context retention, ASR repetition loops, and structural hallucinations that traditional formulas miss.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0">
    <p:bg>
      <p:bgPr>
        <a:solidFill>
          <a:srgbClr val="0B0F19"/>
        </a:solidFill>
        <a:effectLst/>
      </p:bgPr>
    </p:bg>
    <p:spTree>
      <p:nvGrpSpPr>
        <p:cNvPr id="1" name=""/>
        <p:cNvGrpSpPr/>
        <p:nvPr/>
      </p:nvGrpSpPr>
      <p:grpSpPr>
        <a:xfrm>
          <a:off x="0" y="0"/>
          <a:ext cx="0" cy="0"/>
          <a:chOff x="0" y="0"/>
          <a:chExt cx="0" cy="0"/>
        </a:xfrm>
      </p:grpSpPr>
      <p:sp>
        <p:nvSpPr>
          <p:cNvPr id="2" name="Shape 0"/>
          <p:cNvSpPr/>
          <p:nvPr/>
        </p:nvSpPr>
        <p:spPr>
          <a:xfrm>
            <a:off x="731520" y="457200"/>
            <a:ext cx="73152" cy="548640"/>
          </a:xfrm>
          <a:prstGeom prst="rect">
            <a:avLst/>
          </a:prstGeom>
          <a:solidFill>
            <a:srgbClr val="DEFF9A"/>
          </a:solidFill>
          <a:ln/>
        </p:spPr>
        <p:txBody>
          <a:bodyPr/>
          <a:lstStyle/>
          <a:p>
            <a:endParaRPr lang="en-IN"/>
          </a:p>
        </p:txBody>
      </p:sp>
      <p:sp>
        <p:nvSpPr>
          <p:cNvPr id="3" name="Text 1"/>
          <p:cNvSpPr/>
          <p:nvPr/>
        </p:nvSpPr>
        <p:spPr>
          <a:xfrm>
            <a:off x="914400" y="457200"/>
            <a:ext cx="105156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The LLM Judge Prompt Template</a:t>
            </a:r>
            <a:endParaRPr lang="en-US" sz="2600" dirty="0"/>
          </a:p>
        </p:txBody>
      </p:sp>
      <p:sp>
        <p:nvSpPr>
          <p:cNvPr id="4" name="Shape 2"/>
          <p:cNvSpPr/>
          <p:nvPr/>
        </p:nvSpPr>
        <p:spPr>
          <a:xfrm>
            <a:off x="731520" y="6217920"/>
            <a:ext cx="10698480" cy="18288"/>
          </a:xfrm>
          <a:prstGeom prst="rect">
            <a:avLst/>
          </a:prstGeom>
          <a:solidFill>
            <a:srgbClr val="1A2948"/>
          </a:solidFill>
          <a:ln/>
        </p:spPr>
        <p:txBody>
          <a:bodyPr/>
          <a:lstStyle/>
          <a:p>
            <a:endParaRPr lang="en-IN"/>
          </a:p>
        </p:txBody>
      </p:sp>
      <p:sp>
        <p:nvSpPr>
          <p:cNvPr id="5" name="Shape 3"/>
          <p:cNvSpPr/>
          <p:nvPr/>
        </p:nvSpPr>
        <p:spPr>
          <a:xfrm>
            <a:off x="129654" y="1456182"/>
            <a:ext cx="8905164" cy="3481578"/>
          </a:xfrm>
          <a:prstGeom prst="rect">
            <a:avLst/>
          </a:prstGeom>
          <a:solidFill>
            <a:srgbClr val="162238"/>
          </a:solidFill>
          <a:ln w="25400">
            <a:solidFill>
              <a:srgbClr val="DEFF9A"/>
            </a:solidFill>
            <a:prstDash val="solid"/>
          </a:ln>
        </p:spPr>
        <p:txBody>
          <a:bodyPr/>
          <a:lstStyle/>
          <a:p>
            <a:endParaRPr lang="en-IN" dirty="0"/>
          </a:p>
        </p:txBody>
      </p:sp>
      <p:sp>
        <p:nvSpPr>
          <p:cNvPr id="6" name="Text 4"/>
          <p:cNvSpPr/>
          <p:nvPr/>
        </p:nvSpPr>
        <p:spPr>
          <a:xfrm>
            <a:off x="129654" y="1383030"/>
            <a:ext cx="8503920" cy="2377440"/>
          </a:xfrm>
          <a:prstGeom prst="rect">
            <a:avLst/>
          </a:prstGeom>
          <a:noFill/>
          <a:ln/>
        </p:spPr>
        <p:txBody>
          <a:bodyPr wrap="square" rtlCol="0" anchor="ctr"/>
          <a:lstStyle/>
          <a:p>
            <a:pPr marL="0" indent="0" algn="ctr">
              <a:lnSpc>
                <a:spcPts val="2800"/>
              </a:lnSpc>
              <a:buNone/>
            </a:pPr>
            <a:endParaRPr lang="en-US" sz="1700" dirty="0"/>
          </a:p>
          <a:p>
            <a:pPr marL="0" indent="0" algn="ctr">
              <a:lnSpc>
                <a:spcPts val="2800"/>
              </a:lnSpc>
              <a:buNone/>
            </a:pPr>
            <a:r>
              <a:rPr lang="en-US" sz="1700" i="1" dirty="0">
                <a:solidFill>
                  <a:srgbClr val="FFFFFF"/>
                </a:solidFill>
                <a:latin typeface="Arial" pitchFamily="34" charset="0"/>
                <a:ea typeface="Arial" pitchFamily="34" charset="-122"/>
                <a:cs typeface="Arial" pitchFamily="34" charset="-120"/>
              </a:rPr>
              <a:t>                        "You are an expert linguistic judge specializing in Punjabi (Gurmukhi script) Automatic Speech Recognition (ASR). Comparative evaluation rules: judge transcripts on linguistic fluency, grammatical accuracy, absence of ASR loops/spam, and context cohesion... Output format must strictly be a formatted Markdown table."</a:t>
            </a:r>
            <a:endParaRPr lang="en-US" sz="1700" dirty="0"/>
          </a:p>
          <a:p>
            <a:pPr marL="0" indent="0" algn="ctr">
              <a:lnSpc>
                <a:spcPts val="2800"/>
              </a:lnSpc>
              <a:buNone/>
            </a:pPr>
            <a:r>
              <a:rPr lang="en-US" sz="1700" i="1" dirty="0">
                <a:solidFill>
                  <a:srgbClr val="FFFFFF"/>
                </a:solidFill>
                <a:latin typeface="Arial" pitchFamily="34" charset="0"/>
                <a:ea typeface="Arial" pitchFamily="34" charset="-122"/>
                <a:cs typeface="Arial" pitchFamily="34" charset="-120"/>
              </a:rPr>
              <a:t>                    </a:t>
            </a:r>
            <a:endParaRPr lang="en-US" sz="1700" dirty="0"/>
          </a:p>
        </p:txBody>
      </p:sp>
      <p:sp>
        <p:nvSpPr>
          <p:cNvPr id="7" name="Text 5"/>
          <p:cNvSpPr/>
          <p:nvPr/>
        </p:nvSpPr>
        <p:spPr>
          <a:xfrm>
            <a:off x="530898" y="4046220"/>
            <a:ext cx="8503920" cy="365760"/>
          </a:xfrm>
          <a:prstGeom prst="rect">
            <a:avLst/>
          </a:prstGeom>
          <a:noFill/>
          <a:ln/>
        </p:spPr>
        <p:txBody>
          <a:bodyPr wrap="square" rtlCol="0" anchor="ctr"/>
          <a:lstStyle/>
          <a:p>
            <a:pPr marL="0" indent="0" algn="ctr">
              <a:buNone/>
            </a:pP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1">
    <p:bg>
      <p:bgPr>
        <a:solidFill>
          <a:srgbClr val="0B0F19"/>
        </a:solidFill>
        <a:effectLst/>
      </p:bgPr>
    </p:bg>
    <p:spTree>
      <p:nvGrpSpPr>
        <p:cNvPr id="1" name=""/>
        <p:cNvGrpSpPr/>
        <p:nvPr/>
      </p:nvGrpSpPr>
      <p:grpSpPr>
        <a:xfrm>
          <a:off x="0" y="0"/>
          <a:ext cx="0" cy="0"/>
          <a:chOff x="0" y="0"/>
          <a:chExt cx="0" cy="0"/>
        </a:xfrm>
      </p:grpSpPr>
      <p:sp>
        <p:nvSpPr>
          <p:cNvPr id="2" name="Shape 0"/>
          <p:cNvSpPr/>
          <p:nvPr/>
        </p:nvSpPr>
        <p:spPr>
          <a:xfrm>
            <a:off x="731520" y="457200"/>
            <a:ext cx="73152" cy="548640"/>
          </a:xfrm>
          <a:prstGeom prst="rect">
            <a:avLst/>
          </a:prstGeom>
          <a:solidFill>
            <a:srgbClr val="DEFF9A"/>
          </a:solidFill>
          <a:ln/>
        </p:spPr>
        <p:txBody>
          <a:bodyPr/>
          <a:lstStyle/>
          <a:p>
            <a:endParaRPr lang="en-IN"/>
          </a:p>
        </p:txBody>
      </p:sp>
      <p:sp>
        <p:nvSpPr>
          <p:cNvPr id="3" name="Text 1"/>
          <p:cNvSpPr/>
          <p:nvPr/>
        </p:nvSpPr>
        <p:spPr>
          <a:xfrm>
            <a:off x="914400" y="457200"/>
            <a:ext cx="105156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Google GenAI SDK Integration (API Code)</a:t>
            </a:r>
            <a:endParaRPr lang="en-US" sz="2600" dirty="0"/>
          </a:p>
        </p:txBody>
      </p:sp>
      <p:sp>
        <p:nvSpPr>
          <p:cNvPr id="4" name="Shape 2"/>
          <p:cNvSpPr/>
          <p:nvPr/>
        </p:nvSpPr>
        <p:spPr>
          <a:xfrm>
            <a:off x="731520" y="6217920"/>
            <a:ext cx="10698480" cy="18288"/>
          </a:xfrm>
          <a:prstGeom prst="rect">
            <a:avLst/>
          </a:prstGeom>
          <a:solidFill>
            <a:srgbClr val="1A2948"/>
          </a:solidFill>
          <a:ln/>
        </p:spPr>
        <p:txBody>
          <a:bodyPr/>
          <a:lstStyle/>
          <a:p>
            <a:endParaRPr lang="en-IN"/>
          </a:p>
        </p:txBody>
      </p:sp>
      <p:sp>
        <p:nvSpPr>
          <p:cNvPr id="5" name="Text 3"/>
          <p:cNvSpPr/>
          <p:nvPr/>
        </p:nvSpPr>
        <p:spPr>
          <a:xfrm>
            <a:off x="212905" y="1508760"/>
            <a:ext cx="5120640" cy="457200"/>
          </a:xfrm>
          <a:prstGeom prst="rect">
            <a:avLst/>
          </a:prstGeom>
          <a:noFill/>
          <a:ln/>
        </p:spPr>
        <p:txBody>
          <a:bodyPr wrap="square" rtlCol="0" anchor="ctr"/>
          <a:lstStyle/>
          <a:p>
            <a:pPr marL="0" indent="0">
              <a:buNone/>
            </a:pPr>
            <a:r>
              <a:rPr lang="en-US" sz="2000" b="1" dirty="0">
                <a:solidFill>
                  <a:srgbClr val="DEFF9A"/>
                </a:solidFill>
                <a:latin typeface="Arial" pitchFamily="34" charset="0"/>
                <a:ea typeface="Arial" pitchFamily="34" charset="-122"/>
                <a:cs typeface="Arial" pitchFamily="34" charset="-120"/>
              </a:rPr>
              <a:t>Gemini Flash Execution</a:t>
            </a:r>
            <a:endParaRPr lang="en-US" sz="2000" dirty="0"/>
          </a:p>
        </p:txBody>
      </p:sp>
      <p:sp>
        <p:nvSpPr>
          <p:cNvPr id="6" name="Text 4"/>
          <p:cNvSpPr/>
          <p:nvPr/>
        </p:nvSpPr>
        <p:spPr>
          <a:xfrm>
            <a:off x="117370" y="2103120"/>
            <a:ext cx="3553878" cy="2826554"/>
          </a:xfrm>
          <a:prstGeom prst="rect">
            <a:avLst/>
          </a:prstGeom>
          <a:solidFill>
            <a:srgbClr val="000000"/>
          </a:solidFill>
          <a:ln/>
        </p:spPr>
        <p:txBody>
          <a:bodyPr wrap="square"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import os</a:t>
            </a:r>
            <a:endParaRPr lang="en-US" sz="1100" dirty="0"/>
          </a:p>
          <a:p>
            <a:pPr marL="0" indent="0">
              <a:buNone/>
            </a:pPr>
            <a:r>
              <a:rPr lang="en-US" sz="1100" dirty="0">
                <a:solidFill>
                  <a:srgbClr val="FFFFFF"/>
                </a:solidFill>
                <a:latin typeface="Courier New" pitchFamily="34" charset="0"/>
                <a:ea typeface="Courier New" pitchFamily="34" charset="-122"/>
                <a:cs typeface="Courier New" pitchFamily="34" charset="-120"/>
              </a:rPr>
              <a:t>from google.genai import client</a:t>
            </a:r>
            <a:endParaRPr lang="en-US" sz="1100" dirty="0"/>
          </a:p>
          <a:p>
            <a:pPr marL="0" indent="0">
              <a:buNone/>
            </a:pPr>
            <a:endParaRPr lang="en-US" sz="1100" dirty="0"/>
          </a:p>
          <a:p>
            <a:pPr marL="0" indent="0">
              <a:buNone/>
            </a:pPr>
            <a:r>
              <a:rPr lang="en-US" sz="1100" dirty="0">
                <a:solidFill>
                  <a:srgbClr val="FFFFFF"/>
                </a:solidFill>
                <a:latin typeface="Courier New" pitchFamily="34" charset="0"/>
                <a:ea typeface="Courier New" pitchFamily="34" charset="-122"/>
                <a:cs typeface="Courier New" pitchFamily="34" charset="-120"/>
              </a:rPr>
              <a:t>os.environ["GEMINI_API_KEY"] = userdata.get('GOOGLE_API_KEY')</a:t>
            </a:r>
            <a:endParaRPr lang="en-US" sz="1100" dirty="0"/>
          </a:p>
          <a:p>
            <a:pPr marL="0" indent="0">
              <a:buNone/>
            </a:pPr>
            <a:r>
              <a:rPr lang="en-US" sz="1100" dirty="0">
                <a:solidFill>
                  <a:srgbClr val="FFFFFF"/>
                </a:solidFill>
                <a:latin typeface="Courier New" pitchFamily="34" charset="0"/>
                <a:ea typeface="Courier New" pitchFamily="34" charset="-122"/>
                <a:cs typeface="Courier New" pitchFamily="34" charset="-120"/>
              </a:rPr>
              <a:t>ai = client.Client()</a:t>
            </a:r>
            <a:endParaRPr lang="en-US" sz="1100" dirty="0"/>
          </a:p>
          <a:p>
            <a:pPr marL="0" indent="0">
              <a:buNone/>
            </a:pPr>
            <a:r>
              <a:rPr lang="en-US" sz="1100" dirty="0">
                <a:solidFill>
                  <a:srgbClr val="FFFFFF"/>
                </a:solidFill>
                <a:latin typeface="Courier New" pitchFamily="34" charset="0"/>
                <a:ea typeface="Courier New" pitchFamily="34" charset="-122"/>
                <a:cs typeface="Courier New" pitchFamily="34" charset="-120"/>
              </a:rPr>
              <a:t>response = ai.models.generate_content(</a:t>
            </a:r>
            <a:endParaRPr lang="en-US" sz="1100" dirty="0"/>
          </a:p>
          <a:p>
            <a:pPr marL="0" indent="0">
              <a:buNone/>
            </a:pPr>
            <a:r>
              <a:rPr lang="en-US" sz="1100" dirty="0">
                <a:solidFill>
                  <a:srgbClr val="FFFFFF"/>
                </a:solidFill>
                <a:latin typeface="Courier New" pitchFamily="34" charset="0"/>
                <a:ea typeface="Courier New" pitchFamily="34" charset="-122"/>
                <a:cs typeface="Courier New" pitchFamily="34" charset="-120"/>
              </a:rPr>
              <a:t>    model='gemini-2.5-flash',</a:t>
            </a:r>
            <a:endParaRPr lang="en-US" sz="1100" dirty="0"/>
          </a:p>
          <a:p>
            <a:pPr marL="0" indent="0">
              <a:buNone/>
            </a:pPr>
            <a:r>
              <a:rPr lang="en-US" sz="1100" dirty="0">
                <a:solidFill>
                  <a:srgbClr val="FFFFFF"/>
                </a:solidFill>
                <a:latin typeface="Courier New" pitchFamily="34" charset="0"/>
                <a:ea typeface="Courier New" pitchFamily="34" charset="-122"/>
                <a:cs typeface="Courier New" pitchFamily="34" charset="-120"/>
              </a:rPr>
              <a:t>    contents=judge_prompt</a:t>
            </a:r>
            <a:endParaRPr lang="en-US" sz="1100" dirty="0"/>
          </a:p>
          <a:p>
            <a:pPr marL="0" indent="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p:txBody>
      </p:sp>
      <p:sp>
        <p:nvSpPr>
          <p:cNvPr id="7" name="Text 5"/>
          <p:cNvSpPr/>
          <p:nvPr/>
        </p:nvSpPr>
        <p:spPr>
          <a:xfrm>
            <a:off x="4211699" y="1435113"/>
            <a:ext cx="5212080" cy="457200"/>
          </a:xfrm>
          <a:prstGeom prst="rect">
            <a:avLst/>
          </a:prstGeom>
          <a:noFill/>
          <a:ln/>
        </p:spPr>
        <p:txBody>
          <a:bodyPr wrap="square" rtlCol="0" anchor="ctr"/>
          <a:lstStyle/>
          <a:p>
            <a:pPr marL="0" indent="0">
              <a:buNone/>
            </a:pPr>
            <a:r>
              <a:rPr lang="en-US" sz="2000" b="1" dirty="0">
                <a:solidFill>
                  <a:srgbClr val="DEFF9A"/>
                </a:solidFill>
                <a:latin typeface="Arial" pitchFamily="34" charset="0"/>
                <a:ea typeface="Arial" pitchFamily="34" charset="-122"/>
                <a:cs typeface="Arial" pitchFamily="34" charset="-120"/>
              </a:rPr>
              <a:t>Execution Advantages</a:t>
            </a:r>
            <a:endParaRPr lang="en-US" sz="2000" dirty="0"/>
          </a:p>
        </p:txBody>
      </p:sp>
      <p:sp>
        <p:nvSpPr>
          <p:cNvPr id="8" name="Text 6"/>
          <p:cNvSpPr/>
          <p:nvPr/>
        </p:nvSpPr>
        <p:spPr>
          <a:xfrm>
            <a:off x="3931920" y="1663713"/>
            <a:ext cx="5212080" cy="3383280"/>
          </a:xfrm>
          <a:prstGeom prst="rect">
            <a:avLst/>
          </a:prstGeom>
          <a:noFill/>
          <a:ln/>
        </p:spPr>
        <p:txBody>
          <a:bodyPr wrap="square" rtlCol="0" anchor="ctr"/>
          <a:lstStyle/>
          <a:p>
            <a:pPr marL="342900" indent="-342900">
              <a:lnSpc>
                <a:spcPts val="2400"/>
              </a:lnSpc>
              <a:buSzPct val="100000"/>
              <a:buChar char="•"/>
            </a:pPr>
            <a:r>
              <a:rPr lang="en-US" sz="1300" dirty="0">
                <a:solidFill>
                  <a:srgbClr val="CBD5E1"/>
                </a:solidFill>
                <a:latin typeface="Arial" pitchFamily="34" charset="0"/>
                <a:ea typeface="Arial" pitchFamily="34" charset="-122"/>
                <a:cs typeface="Arial" pitchFamily="34" charset="-120"/>
              </a:rPr>
              <a:t>Native Client Initializer: Direct class-based execution bypasses redundant networking codes.</a:t>
            </a:r>
            <a:endParaRPr lang="en-US" sz="1300" dirty="0"/>
          </a:p>
          <a:p>
            <a:pPr marL="342900" indent="-342900">
              <a:lnSpc>
                <a:spcPts val="2400"/>
              </a:lnSpc>
              <a:buSzPct val="100000"/>
              <a:buChar char="•"/>
            </a:pPr>
            <a:r>
              <a:rPr lang="en-US" sz="1300" dirty="0">
                <a:solidFill>
                  <a:srgbClr val="CBD5E1"/>
                </a:solidFill>
                <a:latin typeface="Arial" pitchFamily="34" charset="0"/>
                <a:ea typeface="Arial" pitchFamily="34" charset="-122"/>
                <a:cs typeface="Arial" pitchFamily="34" charset="-120"/>
              </a:rPr>
              <a:t>Gemini 2.5 Flash: Extremely high-speed, cost-effective multimodal model with highly trained Gurmukhi language parsing.</a:t>
            </a:r>
            <a:endParaRPr lang="en-US" sz="1300" dirty="0"/>
          </a:p>
          <a:p>
            <a:pPr marL="342900" indent="-342900">
              <a:lnSpc>
                <a:spcPts val="2400"/>
              </a:lnSpc>
              <a:buSzPct val="100000"/>
              <a:buChar char="•"/>
            </a:pPr>
            <a:r>
              <a:rPr lang="en-US" sz="1300" dirty="0">
                <a:solidFill>
                  <a:srgbClr val="CBD5E1"/>
                </a:solidFill>
                <a:latin typeface="Arial" pitchFamily="34" charset="0"/>
                <a:ea typeface="Arial" pitchFamily="34" charset="-122"/>
                <a:cs typeface="Arial" pitchFamily="34" charset="-120"/>
              </a:rPr>
              <a:t>High Context Window: Effortlessly ingests multiple long transcript streams simultaneously in a single prompt.</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2">
    <p:bg>
      <p:bgPr>
        <a:solidFill>
          <a:srgbClr val="0B0F19"/>
        </a:solidFill>
        <a:effectLst/>
      </p:bgPr>
    </p:bg>
    <p:spTree>
      <p:nvGrpSpPr>
        <p:cNvPr id="1" name=""/>
        <p:cNvGrpSpPr/>
        <p:nvPr/>
      </p:nvGrpSpPr>
      <p:grpSpPr>
        <a:xfrm>
          <a:off x="0" y="0"/>
          <a:ext cx="0" cy="0"/>
          <a:chOff x="0" y="0"/>
          <a:chExt cx="0" cy="0"/>
        </a:xfrm>
      </p:grpSpPr>
      <p:sp>
        <p:nvSpPr>
          <p:cNvPr id="2" name="Shape 0"/>
          <p:cNvSpPr/>
          <p:nvPr/>
        </p:nvSpPr>
        <p:spPr>
          <a:xfrm>
            <a:off x="731520" y="457200"/>
            <a:ext cx="73152" cy="548640"/>
          </a:xfrm>
          <a:prstGeom prst="rect">
            <a:avLst/>
          </a:prstGeom>
          <a:solidFill>
            <a:srgbClr val="DEFF9A"/>
          </a:solidFill>
          <a:ln/>
        </p:spPr>
        <p:txBody>
          <a:bodyPr/>
          <a:lstStyle/>
          <a:p>
            <a:endParaRPr lang="en-IN"/>
          </a:p>
        </p:txBody>
      </p:sp>
      <p:sp>
        <p:nvSpPr>
          <p:cNvPr id="3" name="Text 1"/>
          <p:cNvSpPr/>
          <p:nvPr/>
        </p:nvSpPr>
        <p:spPr>
          <a:xfrm>
            <a:off x="914400" y="457200"/>
            <a:ext cx="105156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Cloud Judge Context Assembly &amp; Output</a:t>
            </a:r>
            <a:endParaRPr lang="en-US" sz="2600" dirty="0"/>
          </a:p>
        </p:txBody>
      </p:sp>
      <p:sp>
        <p:nvSpPr>
          <p:cNvPr id="4" name="Shape 2"/>
          <p:cNvSpPr/>
          <p:nvPr/>
        </p:nvSpPr>
        <p:spPr>
          <a:xfrm>
            <a:off x="731520" y="6217920"/>
            <a:ext cx="10698480" cy="18288"/>
          </a:xfrm>
          <a:prstGeom prst="rect">
            <a:avLst/>
          </a:prstGeom>
          <a:solidFill>
            <a:srgbClr val="1A2948"/>
          </a:solidFill>
          <a:ln/>
        </p:spPr>
        <p:txBody>
          <a:bodyPr/>
          <a:lstStyle/>
          <a:p>
            <a:endParaRPr lang="en-IN"/>
          </a:p>
        </p:txBody>
      </p:sp>
      <p:sp>
        <p:nvSpPr>
          <p:cNvPr id="5" name="Shape 3"/>
          <p:cNvSpPr/>
          <p:nvPr/>
        </p:nvSpPr>
        <p:spPr>
          <a:xfrm>
            <a:off x="59709" y="1463040"/>
            <a:ext cx="2947234" cy="3317498"/>
          </a:xfrm>
          <a:prstGeom prst="rect">
            <a:avLst/>
          </a:prstGeom>
          <a:solidFill>
            <a:srgbClr val="162238"/>
          </a:solidFill>
          <a:ln/>
        </p:spPr>
        <p:txBody>
          <a:bodyPr/>
          <a:lstStyle/>
          <a:p>
            <a:endParaRPr lang="en-IN"/>
          </a:p>
        </p:txBody>
      </p:sp>
      <p:sp>
        <p:nvSpPr>
          <p:cNvPr id="6" name="Text 4"/>
          <p:cNvSpPr/>
          <p:nvPr/>
        </p:nvSpPr>
        <p:spPr>
          <a:xfrm>
            <a:off x="228600" y="1658749"/>
            <a:ext cx="2651760" cy="5486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1. Ingest Assembly</a:t>
            </a:r>
            <a:endParaRPr lang="en-US" sz="1600" dirty="0"/>
          </a:p>
        </p:txBody>
      </p:sp>
      <p:sp>
        <p:nvSpPr>
          <p:cNvPr id="7" name="Text 5"/>
          <p:cNvSpPr/>
          <p:nvPr/>
        </p:nvSpPr>
        <p:spPr>
          <a:xfrm>
            <a:off x="228600" y="2433396"/>
            <a:ext cx="2651760" cy="2194560"/>
          </a:xfrm>
          <a:prstGeom prst="rect">
            <a:avLst/>
          </a:prstGeom>
          <a:noFill/>
          <a:ln/>
        </p:spPr>
        <p:txBody>
          <a:bodyPr wrap="square" rtlCol="0" anchor="ctr"/>
          <a:lstStyle/>
          <a:p>
            <a:pPr marL="0" indent="0">
              <a:buNone/>
            </a:pPr>
            <a:r>
              <a:rPr lang="en-US" sz="1300" dirty="0">
                <a:solidFill>
                  <a:srgbClr val="CBD5E1"/>
                </a:solidFill>
                <a:latin typeface="Arial" pitchFamily="34" charset="0"/>
                <a:ea typeface="Arial" pitchFamily="34" charset="-122"/>
                <a:cs typeface="Arial" pitchFamily="34" charset="-120"/>
              </a:rPr>
              <a:t>The system loops over all output variables in raw_transcripts, appending structured delimiters (e.g. ### Model: Name) to organize the input block.</a:t>
            </a:r>
            <a:endParaRPr lang="en-US" sz="1300" dirty="0"/>
          </a:p>
        </p:txBody>
      </p:sp>
      <p:sp>
        <p:nvSpPr>
          <p:cNvPr id="8" name="Shape 6"/>
          <p:cNvSpPr/>
          <p:nvPr/>
        </p:nvSpPr>
        <p:spPr>
          <a:xfrm>
            <a:off x="3175834" y="1458604"/>
            <a:ext cx="2651760" cy="3321934"/>
          </a:xfrm>
          <a:prstGeom prst="rect">
            <a:avLst/>
          </a:prstGeom>
          <a:solidFill>
            <a:srgbClr val="162238"/>
          </a:solidFill>
          <a:ln/>
        </p:spPr>
        <p:txBody>
          <a:bodyPr/>
          <a:lstStyle/>
          <a:p>
            <a:endParaRPr lang="en-IN"/>
          </a:p>
        </p:txBody>
      </p:sp>
      <p:sp>
        <p:nvSpPr>
          <p:cNvPr id="9" name="Text 7"/>
          <p:cNvSpPr/>
          <p:nvPr/>
        </p:nvSpPr>
        <p:spPr>
          <a:xfrm>
            <a:off x="3246120" y="1688092"/>
            <a:ext cx="2651760" cy="5486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2. Schema Enforcement</a:t>
            </a:r>
            <a:endParaRPr lang="en-US" sz="1600" dirty="0"/>
          </a:p>
        </p:txBody>
      </p:sp>
      <p:sp>
        <p:nvSpPr>
          <p:cNvPr id="10" name="Text 8"/>
          <p:cNvSpPr/>
          <p:nvPr/>
        </p:nvSpPr>
        <p:spPr>
          <a:xfrm>
            <a:off x="3246120" y="2466220"/>
            <a:ext cx="2651760" cy="2194560"/>
          </a:xfrm>
          <a:prstGeom prst="rect">
            <a:avLst/>
          </a:prstGeom>
          <a:noFill/>
          <a:ln/>
        </p:spPr>
        <p:txBody>
          <a:bodyPr wrap="square" rtlCol="0" anchor="ctr"/>
          <a:lstStyle/>
          <a:p>
            <a:pPr marL="0" indent="0">
              <a:buNone/>
            </a:pPr>
            <a:r>
              <a:rPr lang="en-US" sz="1300" dirty="0">
                <a:solidFill>
                  <a:srgbClr val="CBD5E1"/>
                </a:solidFill>
                <a:latin typeface="Arial" pitchFamily="34" charset="0"/>
                <a:ea typeface="Arial" pitchFamily="34" charset="-122"/>
                <a:cs typeface="Arial" pitchFamily="34" charset="-120"/>
              </a:rPr>
              <a:t>The prompt strictly instructs Gemini to return evaluations in a structured Markdown matrix, guaranteeing parsable results containing Model Name | Score | Reason.</a:t>
            </a:r>
            <a:endParaRPr lang="en-US" sz="1300" dirty="0"/>
          </a:p>
        </p:txBody>
      </p:sp>
      <p:sp>
        <p:nvSpPr>
          <p:cNvPr id="11" name="Shape 9"/>
          <p:cNvSpPr/>
          <p:nvPr/>
        </p:nvSpPr>
        <p:spPr>
          <a:xfrm>
            <a:off x="6080760" y="1463040"/>
            <a:ext cx="2947234" cy="3317498"/>
          </a:xfrm>
          <a:prstGeom prst="rect">
            <a:avLst/>
          </a:prstGeom>
          <a:solidFill>
            <a:srgbClr val="162238"/>
          </a:solidFill>
          <a:ln/>
        </p:spPr>
        <p:txBody>
          <a:bodyPr/>
          <a:lstStyle/>
          <a:p>
            <a:endParaRPr lang="en-IN" dirty="0"/>
          </a:p>
        </p:txBody>
      </p:sp>
      <p:sp>
        <p:nvSpPr>
          <p:cNvPr id="12" name="Text 10"/>
          <p:cNvSpPr/>
          <p:nvPr/>
        </p:nvSpPr>
        <p:spPr>
          <a:xfrm>
            <a:off x="6492240" y="1712658"/>
            <a:ext cx="2651760" cy="5486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3. File Dispatch</a:t>
            </a:r>
            <a:endParaRPr lang="en-US" sz="1600" dirty="0"/>
          </a:p>
        </p:txBody>
      </p:sp>
      <p:sp>
        <p:nvSpPr>
          <p:cNvPr id="13" name="Text 11"/>
          <p:cNvSpPr/>
          <p:nvPr/>
        </p:nvSpPr>
        <p:spPr>
          <a:xfrm>
            <a:off x="6228497" y="2423638"/>
            <a:ext cx="2651760" cy="2194560"/>
          </a:xfrm>
          <a:prstGeom prst="rect">
            <a:avLst/>
          </a:prstGeom>
          <a:noFill/>
          <a:ln/>
        </p:spPr>
        <p:txBody>
          <a:bodyPr wrap="square" rtlCol="0" anchor="ctr"/>
          <a:lstStyle/>
          <a:p>
            <a:pPr marL="0" indent="0">
              <a:buNone/>
            </a:pPr>
            <a:r>
              <a:rPr lang="en-US" sz="1300" dirty="0">
                <a:solidFill>
                  <a:srgbClr val="CBD5E1"/>
                </a:solidFill>
                <a:latin typeface="Arial" pitchFamily="34" charset="0"/>
                <a:ea typeface="Arial" pitchFamily="34" charset="-122"/>
                <a:cs typeface="Arial" pitchFamily="34" charset="-120"/>
              </a:rPr>
              <a:t>The returned text stream is parsed and written directly to a local workspace file: LLM_Judge_ASR_Evaluation.md for immediate deployment.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3">
    <p:bg>
      <p:bgPr>
        <a:solidFill>
          <a:srgbClr val="0B0F19"/>
        </a:solidFill>
        <a:effectLst/>
      </p:bgPr>
    </p:bg>
    <p:spTree>
      <p:nvGrpSpPr>
        <p:cNvPr id="1" name=""/>
        <p:cNvGrpSpPr/>
        <p:nvPr/>
      </p:nvGrpSpPr>
      <p:grpSpPr>
        <a:xfrm>
          <a:off x="0" y="0"/>
          <a:ext cx="0" cy="0"/>
          <a:chOff x="0" y="0"/>
          <a:chExt cx="0" cy="0"/>
        </a:xfrm>
      </p:grpSpPr>
      <p:sp>
        <p:nvSpPr>
          <p:cNvPr id="2" name="Shape 0"/>
          <p:cNvSpPr/>
          <p:nvPr/>
        </p:nvSpPr>
        <p:spPr>
          <a:xfrm>
            <a:off x="731520" y="457200"/>
            <a:ext cx="73152" cy="548640"/>
          </a:xfrm>
          <a:prstGeom prst="rect">
            <a:avLst/>
          </a:prstGeom>
          <a:solidFill>
            <a:srgbClr val="DEFF9A"/>
          </a:solidFill>
          <a:ln/>
        </p:spPr>
        <p:txBody>
          <a:bodyPr/>
          <a:lstStyle/>
          <a:p>
            <a:endParaRPr lang="en-IN"/>
          </a:p>
        </p:txBody>
      </p:sp>
      <p:sp>
        <p:nvSpPr>
          <p:cNvPr id="3" name="Text 1"/>
          <p:cNvSpPr/>
          <p:nvPr/>
        </p:nvSpPr>
        <p:spPr>
          <a:xfrm>
            <a:off x="914400" y="457200"/>
            <a:ext cx="105156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Local Judge Evaluation (Gemma Models)</a:t>
            </a:r>
            <a:endParaRPr lang="en-US" sz="2600" dirty="0"/>
          </a:p>
        </p:txBody>
      </p:sp>
      <p:sp>
        <p:nvSpPr>
          <p:cNvPr id="4" name="Shape 2"/>
          <p:cNvSpPr/>
          <p:nvPr/>
        </p:nvSpPr>
        <p:spPr>
          <a:xfrm>
            <a:off x="731520" y="6217920"/>
            <a:ext cx="10698480" cy="18288"/>
          </a:xfrm>
          <a:prstGeom prst="rect">
            <a:avLst/>
          </a:prstGeom>
          <a:solidFill>
            <a:srgbClr val="1A2948"/>
          </a:solidFill>
          <a:ln/>
        </p:spPr>
        <p:txBody>
          <a:bodyPr/>
          <a:lstStyle/>
          <a:p>
            <a:endParaRPr lang="en-IN"/>
          </a:p>
        </p:txBody>
      </p:sp>
      <p:sp>
        <p:nvSpPr>
          <p:cNvPr id="5" name="Text 3"/>
          <p:cNvSpPr/>
          <p:nvPr/>
        </p:nvSpPr>
        <p:spPr>
          <a:xfrm>
            <a:off x="185610" y="1371600"/>
            <a:ext cx="5120640" cy="457200"/>
          </a:xfrm>
          <a:prstGeom prst="rect">
            <a:avLst/>
          </a:prstGeom>
          <a:noFill/>
          <a:ln/>
        </p:spPr>
        <p:txBody>
          <a:bodyPr wrap="square" rtlCol="0" anchor="ctr"/>
          <a:lstStyle/>
          <a:p>
            <a:pPr marL="0" indent="0">
              <a:buNone/>
            </a:pPr>
            <a:r>
              <a:rPr lang="en-US" sz="2000" b="1" dirty="0">
                <a:solidFill>
                  <a:srgbClr val="DEFF9A"/>
                </a:solidFill>
                <a:latin typeface="Arial" pitchFamily="34" charset="0"/>
                <a:ea typeface="Arial" pitchFamily="34" charset="-122"/>
                <a:cs typeface="Arial" pitchFamily="34" charset="-120"/>
              </a:rPr>
              <a:t>Local GPU Deployment Strategy</a:t>
            </a:r>
            <a:endParaRPr lang="en-US" sz="2000" dirty="0"/>
          </a:p>
        </p:txBody>
      </p:sp>
      <p:sp>
        <p:nvSpPr>
          <p:cNvPr id="6" name="Text 4"/>
          <p:cNvSpPr/>
          <p:nvPr/>
        </p:nvSpPr>
        <p:spPr>
          <a:xfrm>
            <a:off x="185610" y="1272995"/>
            <a:ext cx="4135817" cy="3474720"/>
          </a:xfrm>
          <a:prstGeom prst="rect">
            <a:avLst/>
          </a:prstGeom>
          <a:noFill/>
          <a:ln/>
        </p:spPr>
        <p:txBody>
          <a:bodyPr wrap="square" rtlCol="0" anchor="ctr"/>
          <a:lstStyle/>
          <a:p>
            <a:pPr marL="0" indent="0">
              <a:buNone/>
            </a:pPr>
            <a:r>
              <a:rPr lang="en-US" sz="1300" dirty="0">
                <a:solidFill>
                  <a:srgbClr val="CBD5E1"/>
                </a:solidFill>
                <a:latin typeface="Arial" pitchFamily="34" charset="0"/>
                <a:ea typeface="Arial" pitchFamily="34" charset="-122"/>
                <a:cs typeface="Arial" pitchFamily="34" charset="-120"/>
              </a:rPr>
              <a:t>To eliminate cloud API dependencies, the code deploys Gemma-2-2b-it and Gemma-3-4b-it locally in Google Colab.</a:t>
            </a:r>
            <a:endParaRPr lang="en-US" sz="1300" dirty="0"/>
          </a:p>
          <a:p>
            <a:pPr marL="0" indent="0">
              <a:buNone/>
            </a:pPr>
            <a:endParaRPr lang="en-US" sz="1300" dirty="0"/>
          </a:p>
          <a:p>
            <a:pPr marL="0" indent="0">
              <a:buNone/>
            </a:pPr>
            <a:r>
              <a:rPr lang="en-US" sz="1300" dirty="0">
                <a:solidFill>
                  <a:srgbClr val="CBD5E1"/>
                </a:solidFill>
                <a:latin typeface="Arial" pitchFamily="34" charset="0"/>
                <a:ea typeface="Arial" pitchFamily="34" charset="-122"/>
                <a:cs typeface="Arial" pitchFamily="34" charset="-120"/>
              </a:rPr>
              <a:t>Since these models run on shared T4 GPUs with strict hardware limits, the pipeline implements advanced quantization to prevent Out-Of-Memory (OOM) errors.</a:t>
            </a:r>
            <a:endParaRPr lang="en-US" sz="1300" dirty="0"/>
          </a:p>
        </p:txBody>
      </p:sp>
      <p:sp>
        <p:nvSpPr>
          <p:cNvPr id="7" name="Shape 5"/>
          <p:cNvSpPr/>
          <p:nvPr/>
        </p:nvSpPr>
        <p:spPr>
          <a:xfrm>
            <a:off x="4321427" y="1188720"/>
            <a:ext cx="4663440" cy="3694176"/>
          </a:xfrm>
          <a:prstGeom prst="rect">
            <a:avLst/>
          </a:prstGeom>
          <a:solidFill>
            <a:srgbClr val="162238"/>
          </a:solidFill>
          <a:ln/>
        </p:spPr>
        <p:txBody>
          <a:bodyPr/>
          <a:lstStyle/>
          <a:p>
            <a:endParaRPr lang="en-IN" dirty="0"/>
          </a:p>
        </p:txBody>
      </p:sp>
      <p:sp>
        <p:nvSpPr>
          <p:cNvPr id="8" name="Text 6"/>
          <p:cNvSpPr/>
          <p:nvPr/>
        </p:nvSpPr>
        <p:spPr>
          <a:xfrm>
            <a:off x="4480560" y="1417320"/>
            <a:ext cx="4663440" cy="365760"/>
          </a:xfrm>
          <a:prstGeom prst="rect">
            <a:avLst/>
          </a:prstGeom>
          <a:noFill/>
          <a:ln/>
        </p:spPr>
        <p:txBody>
          <a:bodyPr wrap="square" rtlCol="0" anchor="ctr"/>
          <a:lstStyle/>
          <a:p>
            <a:pPr marL="0" indent="0">
              <a:buNone/>
            </a:pPr>
            <a:r>
              <a:rPr lang="en-US" sz="1800" b="1" dirty="0">
                <a:solidFill>
                  <a:srgbClr val="DEFF9A"/>
                </a:solidFill>
                <a:latin typeface="Arial" pitchFamily="34" charset="0"/>
                <a:ea typeface="Arial" pitchFamily="34" charset="-122"/>
                <a:cs typeface="Arial" pitchFamily="34" charset="-120"/>
              </a:rPr>
              <a:t>BitsAndBytes 4-bit Quantization</a:t>
            </a:r>
            <a:endParaRPr lang="en-US" sz="1800" dirty="0"/>
          </a:p>
        </p:txBody>
      </p:sp>
      <p:sp>
        <p:nvSpPr>
          <p:cNvPr id="9" name="Text 7"/>
          <p:cNvSpPr/>
          <p:nvPr/>
        </p:nvSpPr>
        <p:spPr>
          <a:xfrm>
            <a:off x="4400994" y="1885097"/>
            <a:ext cx="4442755" cy="1097280"/>
          </a:xfrm>
          <a:prstGeom prst="rect">
            <a:avLst/>
          </a:prstGeom>
          <a:solidFill>
            <a:srgbClr val="000000"/>
          </a:solidFill>
          <a:ln/>
        </p:spPr>
        <p:txBody>
          <a:bodyPr wrap="square"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quantization_config = BitsAndBytesConfig(</a:t>
            </a:r>
            <a:endParaRPr lang="en-US" sz="1100" dirty="0"/>
          </a:p>
          <a:p>
            <a:pPr marL="0" indent="0">
              <a:buNone/>
            </a:pPr>
            <a:r>
              <a:rPr lang="en-US" sz="1100" dirty="0">
                <a:solidFill>
                  <a:srgbClr val="FFFFFF"/>
                </a:solidFill>
                <a:latin typeface="Courier New" pitchFamily="34" charset="0"/>
                <a:ea typeface="Courier New" pitchFamily="34" charset="-122"/>
                <a:cs typeface="Courier New" pitchFamily="34" charset="-120"/>
              </a:rPr>
              <a:t>    load_in_4bit=True,</a:t>
            </a:r>
            <a:endParaRPr lang="en-US" sz="1100" dirty="0"/>
          </a:p>
          <a:p>
            <a:pPr marL="0" indent="0">
              <a:buNone/>
            </a:pPr>
            <a:r>
              <a:rPr lang="en-US" sz="1100" dirty="0">
                <a:solidFill>
                  <a:srgbClr val="FFFFFF"/>
                </a:solidFill>
                <a:latin typeface="Courier New" pitchFamily="34" charset="0"/>
                <a:ea typeface="Courier New" pitchFamily="34" charset="-122"/>
                <a:cs typeface="Courier New" pitchFamily="34" charset="-120"/>
              </a:rPr>
              <a:t>    bnb_4bit_compute_dtype=torch.bfloat16</a:t>
            </a:r>
            <a:endParaRPr lang="en-US" sz="1100" dirty="0"/>
          </a:p>
          <a:p>
            <a:pPr marL="0" indent="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p:txBody>
      </p:sp>
      <p:sp>
        <p:nvSpPr>
          <p:cNvPr id="10" name="Text 8"/>
          <p:cNvSpPr/>
          <p:nvPr/>
        </p:nvSpPr>
        <p:spPr>
          <a:xfrm>
            <a:off x="4400993" y="3109676"/>
            <a:ext cx="4442756" cy="1645920"/>
          </a:xfrm>
          <a:prstGeom prst="rect">
            <a:avLst/>
          </a:prstGeom>
          <a:noFill/>
          <a:ln/>
        </p:spPr>
        <p:txBody>
          <a:bodyPr wrap="square" rtlCol="0" anchor="ctr"/>
          <a:lstStyle/>
          <a:p>
            <a:pPr marL="0" indent="0">
              <a:buNone/>
            </a:pPr>
            <a:r>
              <a:rPr lang="en-US" sz="1200" dirty="0">
                <a:solidFill>
                  <a:srgbClr val="94A3B8"/>
                </a:solidFill>
                <a:latin typeface="Arial" pitchFamily="34" charset="0"/>
                <a:ea typeface="Arial" pitchFamily="34" charset="-122"/>
                <a:cs typeface="Arial" pitchFamily="34" charset="-120"/>
              </a:rPr>
              <a:t>This process compresses the 16-bit weight parameters into a highly optimized 4-bit space, **saving over 8GB of active VRAM memory** on the T4 GPU without degrading linguistic analysis performance.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4">
    <p:bg>
      <p:bgPr>
        <a:solidFill>
          <a:srgbClr val="0B0F19"/>
        </a:solidFill>
        <a:effectLst/>
      </p:bgPr>
    </p:bg>
    <p:spTree>
      <p:nvGrpSpPr>
        <p:cNvPr id="1" name=""/>
        <p:cNvGrpSpPr/>
        <p:nvPr/>
      </p:nvGrpSpPr>
      <p:grpSpPr>
        <a:xfrm>
          <a:off x="0" y="0"/>
          <a:ext cx="0" cy="0"/>
          <a:chOff x="0" y="0"/>
          <a:chExt cx="0" cy="0"/>
        </a:xfrm>
      </p:grpSpPr>
      <p:sp>
        <p:nvSpPr>
          <p:cNvPr id="2" name="Shape 0"/>
          <p:cNvSpPr/>
          <p:nvPr/>
        </p:nvSpPr>
        <p:spPr>
          <a:xfrm>
            <a:off x="731520" y="457200"/>
            <a:ext cx="73152" cy="548640"/>
          </a:xfrm>
          <a:prstGeom prst="rect">
            <a:avLst/>
          </a:prstGeom>
          <a:solidFill>
            <a:srgbClr val="DEFF9A"/>
          </a:solidFill>
          <a:ln/>
        </p:spPr>
        <p:txBody>
          <a:bodyPr/>
          <a:lstStyle/>
          <a:p>
            <a:endParaRPr lang="en-IN"/>
          </a:p>
        </p:txBody>
      </p:sp>
      <p:sp>
        <p:nvSpPr>
          <p:cNvPr id="3" name="Text 1"/>
          <p:cNvSpPr/>
          <p:nvPr/>
        </p:nvSpPr>
        <p:spPr>
          <a:xfrm>
            <a:off x="914400" y="457200"/>
            <a:ext cx="105156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Local CUDA Memory Lifecycle Flowchart</a:t>
            </a:r>
            <a:endParaRPr lang="en-US" sz="2600" dirty="0"/>
          </a:p>
        </p:txBody>
      </p:sp>
      <p:sp>
        <p:nvSpPr>
          <p:cNvPr id="4" name="Shape 2"/>
          <p:cNvSpPr/>
          <p:nvPr/>
        </p:nvSpPr>
        <p:spPr>
          <a:xfrm>
            <a:off x="731520" y="6217920"/>
            <a:ext cx="10698480" cy="18288"/>
          </a:xfrm>
          <a:prstGeom prst="rect">
            <a:avLst/>
          </a:prstGeom>
          <a:solidFill>
            <a:srgbClr val="1A2948"/>
          </a:solidFill>
          <a:ln/>
        </p:spPr>
        <p:txBody>
          <a:bodyPr/>
          <a:lstStyle/>
          <a:p>
            <a:endParaRPr lang="en-IN"/>
          </a:p>
        </p:txBody>
      </p:sp>
      <p:sp>
        <p:nvSpPr>
          <p:cNvPr id="5" name="Shape 3"/>
          <p:cNvSpPr/>
          <p:nvPr/>
        </p:nvSpPr>
        <p:spPr>
          <a:xfrm>
            <a:off x="91440" y="1463040"/>
            <a:ext cx="2194560" cy="1828800"/>
          </a:xfrm>
          <a:prstGeom prst="rect">
            <a:avLst/>
          </a:prstGeom>
          <a:solidFill>
            <a:srgbClr val="162238"/>
          </a:solidFill>
          <a:ln w="19050">
            <a:solidFill>
              <a:srgbClr val="DEFF9A"/>
            </a:solidFill>
            <a:prstDash val="dash"/>
          </a:ln>
        </p:spPr>
        <p:txBody>
          <a:bodyPr/>
          <a:lstStyle/>
          <a:p>
            <a:endParaRPr lang="en-IN"/>
          </a:p>
        </p:txBody>
      </p:sp>
      <p:sp>
        <p:nvSpPr>
          <p:cNvPr id="6" name="Text 4"/>
          <p:cNvSpPr/>
          <p:nvPr/>
        </p:nvSpPr>
        <p:spPr>
          <a:xfrm>
            <a:off x="91440" y="1501254"/>
            <a:ext cx="2011680" cy="16459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 VRAM Flush</a:t>
            </a:r>
            <a:endParaRPr lang="en-US" sz="1200" dirty="0"/>
          </a:p>
          <a:p>
            <a:pPr marL="0" indent="0" algn="ctr">
              <a:buNone/>
            </a:pPr>
            <a:endParaRPr lang="en-US" sz="1200" dirty="0"/>
          </a:p>
          <a:p>
            <a:pPr marL="0" indent="0" algn="ctr">
              <a:buNone/>
            </a:pPr>
            <a:r>
              <a:rPr lang="en-US" sz="1200" b="1" dirty="0">
                <a:solidFill>
                  <a:srgbClr val="FFFFFF"/>
                </a:solidFill>
                <a:latin typeface="Arial" pitchFamily="34" charset="0"/>
                <a:ea typeface="Arial" pitchFamily="34" charset="-122"/>
                <a:cs typeface="Arial" pitchFamily="34" charset="-120"/>
              </a:rPr>
              <a:t>Deletes stale variables (Whisper, old outputs)</a:t>
            </a:r>
            <a:endParaRPr lang="en-US" sz="1200" dirty="0"/>
          </a:p>
        </p:txBody>
      </p:sp>
      <p:sp>
        <p:nvSpPr>
          <p:cNvPr id="7" name="Shape 5"/>
          <p:cNvSpPr/>
          <p:nvPr/>
        </p:nvSpPr>
        <p:spPr>
          <a:xfrm>
            <a:off x="2359015" y="1463040"/>
            <a:ext cx="2194560" cy="1828800"/>
          </a:xfrm>
          <a:prstGeom prst="rect">
            <a:avLst/>
          </a:prstGeom>
          <a:solidFill>
            <a:srgbClr val="162238"/>
          </a:solidFill>
          <a:ln w="19050">
            <a:solidFill>
              <a:srgbClr val="DEFF9A"/>
            </a:solidFill>
            <a:prstDash val="dash"/>
          </a:ln>
        </p:spPr>
        <p:txBody>
          <a:bodyPr/>
          <a:lstStyle/>
          <a:p>
            <a:endParaRPr lang="en-IN"/>
          </a:p>
        </p:txBody>
      </p:sp>
      <p:sp>
        <p:nvSpPr>
          <p:cNvPr id="8" name="Text 6"/>
          <p:cNvSpPr/>
          <p:nvPr/>
        </p:nvSpPr>
        <p:spPr>
          <a:xfrm>
            <a:off x="2523471" y="1645920"/>
            <a:ext cx="2011680" cy="16459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 CUDA Clear</a:t>
            </a:r>
            <a:endParaRPr lang="en-US" sz="1200" dirty="0"/>
          </a:p>
          <a:p>
            <a:pPr marL="0" indent="0" algn="ctr">
              <a:buNone/>
            </a:pPr>
            <a:endParaRPr lang="en-US" sz="1200" dirty="0"/>
          </a:p>
          <a:p>
            <a:pPr marL="0" indent="0" algn="ctr">
              <a:buNone/>
            </a:pPr>
            <a:r>
              <a:rPr lang="en-US" sz="1200" b="1" dirty="0">
                <a:solidFill>
                  <a:srgbClr val="FFFFFF"/>
                </a:solidFill>
                <a:latin typeface="Arial" pitchFamily="34" charset="0"/>
                <a:ea typeface="Arial" pitchFamily="34" charset="-122"/>
                <a:cs typeface="Arial" pitchFamily="34" charset="-120"/>
              </a:rPr>
              <a:t>Runs torch.cuda.empty_cache() &amp; Garbage Collection</a:t>
            </a:r>
            <a:endParaRPr lang="en-US" sz="1200" dirty="0"/>
          </a:p>
        </p:txBody>
      </p:sp>
      <p:sp>
        <p:nvSpPr>
          <p:cNvPr id="9" name="Shape 7"/>
          <p:cNvSpPr/>
          <p:nvPr/>
        </p:nvSpPr>
        <p:spPr>
          <a:xfrm>
            <a:off x="4645015" y="1463040"/>
            <a:ext cx="2194560" cy="1828800"/>
          </a:xfrm>
          <a:prstGeom prst="rect">
            <a:avLst/>
          </a:prstGeom>
          <a:solidFill>
            <a:srgbClr val="162238"/>
          </a:solidFill>
          <a:ln w="19050">
            <a:solidFill>
              <a:srgbClr val="DEFF9A"/>
            </a:solidFill>
            <a:prstDash val="dash"/>
          </a:ln>
        </p:spPr>
        <p:txBody>
          <a:bodyPr/>
          <a:lstStyle/>
          <a:p>
            <a:endParaRPr lang="en-IN"/>
          </a:p>
        </p:txBody>
      </p:sp>
      <p:sp>
        <p:nvSpPr>
          <p:cNvPr id="10" name="Text 8"/>
          <p:cNvSpPr/>
          <p:nvPr/>
        </p:nvSpPr>
        <p:spPr>
          <a:xfrm>
            <a:off x="4772622" y="1554480"/>
            <a:ext cx="2011680" cy="16459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 Quantized Load</a:t>
            </a:r>
            <a:endParaRPr lang="en-US" sz="1200" dirty="0"/>
          </a:p>
          <a:p>
            <a:pPr marL="0" indent="0" algn="ctr">
              <a:buNone/>
            </a:pPr>
            <a:endParaRPr lang="en-US" sz="1200" dirty="0"/>
          </a:p>
          <a:p>
            <a:pPr marL="0" indent="0" algn="ctr">
              <a:buNone/>
            </a:pPr>
            <a:r>
              <a:rPr lang="en-US" sz="1200" b="1" dirty="0">
                <a:solidFill>
                  <a:srgbClr val="FFFFFF"/>
                </a:solidFill>
                <a:latin typeface="Arial" pitchFamily="34" charset="0"/>
                <a:ea typeface="Arial" pitchFamily="34" charset="-122"/>
                <a:cs typeface="Arial" pitchFamily="34" charset="-120"/>
              </a:rPr>
              <a:t>Loads Gemma models locally in 4-bit space</a:t>
            </a:r>
            <a:endParaRPr lang="en-US" sz="1200" dirty="0"/>
          </a:p>
        </p:txBody>
      </p:sp>
      <p:sp>
        <p:nvSpPr>
          <p:cNvPr id="11" name="Shape 9"/>
          <p:cNvSpPr/>
          <p:nvPr/>
        </p:nvSpPr>
        <p:spPr>
          <a:xfrm>
            <a:off x="6894849" y="1463040"/>
            <a:ext cx="2194560" cy="1857460"/>
          </a:xfrm>
          <a:prstGeom prst="rect">
            <a:avLst/>
          </a:prstGeom>
          <a:solidFill>
            <a:srgbClr val="162238"/>
          </a:solidFill>
          <a:ln w="19050">
            <a:solidFill>
              <a:srgbClr val="DEFF9A"/>
            </a:solidFill>
            <a:prstDash val="dash"/>
          </a:ln>
        </p:spPr>
        <p:txBody>
          <a:bodyPr/>
          <a:lstStyle/>
          <a:p>
            <a:endParaRPr lang="en-IN"/>
          </a:p>
        </p:txBody>
      </p:sp>
      <p:sp>
        <p:nvSpPr>
          <p:cNvPr id="12" name="Text 10"/>
          <p:cNvSpPr/>
          <p:nvPr/>
        </p:nvSpPr>
        <p:spPr>
          <a:xfrm>
            <a:off x="6967182" y="1542197"/>
            <a:ext cx="2011680" cy="16459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 Zero-Shot Inference</a:t>
            </a:r>
            <a:endParaRPr lang="en-US" sz="1200" dirty="0"/>
          </a:p>
          <a:p>
            <a:pPr marL="0" indent="0" algn="ctr">
              <a:buNone/>
            </a:pPr>
            <a:endParaRPr lang="en-US" sz="1200" dirty="0"/>
          </a:p>
          <a:p>
            <a:pPr marL="0" indent="0" algn="ctr">
              <a:buNone/>
            </a:pPr>
            <a:r>
              <a:rPr lang="en-US" sz="1200" b="1" dirty="0">
                <a:solidFill>
                  <a:srgbClr val="FFFFFF"/>
                </a:solidFill>
                <a:latin typeface="Arial" pitchFamily="34" charset="0"/>
                <a:ea typeface="Arial" pitchFamily="34" charset="-122"/>
                <a:cs typeface="Arial" pitchFamily="34" charset="-120"/>
              </a:rPr>
              <a:t>Emits markdown metrics locally to disk</a:t>
            </a:r>
            <a:endParaRPr lang="en-US" sz="1200" dirty="0"/>
          </a:p>
        </p:txBody>
      </p:sp>
      <p:sp>
        <p:nvSpPr>
          <p:cNvPr id="13" name="Text 11"/>
          <p:cNvSpPr/>
          <p:nvPr/>
        </p:nvSpPr>
        <p:spPr>
          <a:xfrm>
            <a:off x="-137160" y="3704002"/>
            <a:ext cx="9418320" cy="1097280"/>
          </a:xfrm>
          <a:prstGeom prst="rect">
            <a:avLst/>
          </a:prstGeom>
          <a:noFill/>
          <a:ln/>
        </p:spPr>
        <p:txBody>
          <a:bodyPr wrap="square" rtlCol="0" anchor="ctr"/>
          <a:lstStyle/>
          <a:p>
            <a:pPr marL="0" indent="0" algn="ctr">
              <a:buNone/>
            </a:pPr>
            <a:r>
              <a:rPr lang="en-US" sz="1400" i="1" dirty="0">
                <a:solidFill>
                  <a:srgbClr val="FF8B8B"/>
                </a:solidFill>
                <a:latin typeface="Arial" pitchFamily="34" charset="0"/>
                <a:ea typeface="Arial" pitchFamily="34" charset="-122"/>
                <a:cs typeface="Arial" pitchFamily="34" charset="-120"/>
              </a:rPr>
              <a:t>"Crucial Step: Deep memory purging must occur between loading Gemma-2-2B and Gemma-3-4B models to avoid CUDA OOM errors on standard Google Colab T4 runtimes."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5">
    <p:bg>
      <p:bgPr>
        <a:solidFill>
          <a:srgbClr val="0B0F19"/>
        </a:solidFill>
        <a:effectLst/>
      </p:bgPr>
    </p:bg>
    <p:spTree>
      <p:nvGrpSpPr>
        <p:cNvPr id="1" name=""/>
        <p:cNvGrpSpPr/>
        <p:nvPr/>
      </p:nvGrpSpPr>
      <p:grpSpPr>
        <a:xfrm>
          <a:off x="0" y="0"/>
          <a:ext cx="0" cy="0"/>
          <a:chOff x="0" y="0"/>
          <a:chExt cx="0" cy="0"/>
        </a:xfrm>
      </p:grpSpPr>
      <p:sp>
        <p:nvSpPr>
          <p:cNvPr id="2" name="Shape 0"/>
          <p:cNvSpPr/>
          <p:nvPr/>
        </p:nvSpPr>
        <p:spPr>
          <a:xfrm>
            <a:off x="731520" y="457200"/>
            <a:ext cx="73152" cy="548640"/>
          </a:xfrm>
          <a:prstGeom prst="rect">
            <a:avLst/>
          </a:prstGeom>
          <a:solidFill>
            <a:srgbClr val="DEFF9A"/>
          </a:solidFill>
          <a:ln/>
        </p:spPr>
        <p:txBody>
          <a:bodyPr/>
          <a:lstStyle/>
          <a:p>
            <a:endParaRPr lang="en-IN"/>
          </a:p>
        </p:txBody>
      </p:sp>
      <p:sp>
        <p:nvSpPr>
          <p:cNvPr id="3" name="Text 1"/>
          <p:cNvSpPr/>
          <p:nvPr/>
        </p:nvSpPr>
        <p:spPr>
          <a:xfrm>
            <a:off x="914400" y="457200"/>
            <a:ext cx="105156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Local Judge Analysis: Gemma 2B &amp; 4B</a:t>
            </a:r>
            <a:endParaRPr lang="en-US" sz="2600" dirty="0"/>
          </a:p>
        </p:txBody>
      </p:sp>
      <p:sp>
        <p:nvSpPr>
          <p:cNvPr id="4" name="Shape 2"/>
          <p:cNvSpPr/>
          <p:nvPr/>
        </p:nvSpPr>
        <p:spPr>
          <a:xfrm>
            <a:off x="731520" y="6217920"/>
            <a:ext cx="10698480" cy="18288"/>
          </a:xfrm>
          <a:prstGeom prst="rect">
            <a:avLst/>
          </a:prstGeom>
          <a:solidFill>
            <a:srgbClr val="1A2948"/>
          </a:solidFill>
          <a:ln/>
        </p:spPr>
        <p:txBody>
          <a:bodyPr/>
          <a:lstStyle/>
          <a:p>
            <a:endParaRPr lang="en-IN"/>
          </a:p>
        </p:txBody>
      </p:sp>
      <p:sp>
        <p:nvSpPr>
          <p:cNvPr id="5" name="Shape 3"/>
          <p:cNvSpPr/>
          <p:nvPr/>
        </p:nvSpPr>
        <p:spPr>
          <a:xfrm>
            <a:off x="122830" y="1463040"/>
            <a:ext cx="4094328" cy="3371816"/>
          </a:xfrm>
          <a:prstGeom prst="rect">
            <a:avLst/>
          </a:prstGeom>
          <a:solidFill>
            <a:srgbClr val="162238"/>
          </a:solidFill>
          <a:ln/>
        </p:spPr>
        <p:txBody>
          <a:bodyPr/>
          <a:lstStyle/>
          <a:p>
            <a:endParaRPr lang="en-IN" dirty="0"/>
          </a:p>
        </p:txBody>
      </p:sp>
      <p:sp>
        <p:nvSpPr>
          <p:cNvPr id="6" name="Text 4"/>
          <p:cNvSpPr/>
          <p:nvPr/>
        </p:nvSpPr>
        <p:spPr>
          <a:xfrm>
            <a:off x="122830" y="1600200"/>
            <a:ext cx="4572000" cy="365760"/>
          </a:xfrm>
          <a:prstGeom prst="rect">
            <a:avLst/>
          </a:prstGeom>
          <a:noFill/>
          <a:ln/>
        </p:spPr>
        <p:txBody>
          <a:bodyPr wrap="square" rtlCol="0" anchor="ctr"/>
          <a:lstStyle/>
          <a:p>
            <a:pPr marL="0" indent="0">
              <a:buNone/>
            </a:pPr>
            <a:r>
              <a:rPr lang="en-US" sz="1800" b="1" dirty="0">
                <a:solidFill>
                  <a:srgbClr val="DEFF9A"/>
                </a:solidFill>
                <a:latin typeface="Arial" pitchFamily="34" charset="0"/>
                <a:ea typeface="Arial" pitchFamily="34" charset="-122"/>
                <a:cs typeface="Arial" pitchFamily="34" charset="-120"/>
              </a:rPr>
              <a:t> Gemma 2 2B Audit Characteristics</a:t>
            </a:r>
            <a:endParaRPr lang="en-US" sz="1800" dirty="0"/>
          </a:p>
        </p:txBody>
      </p:sp>
      <p:sp>
        <p:nvSpPr>
          <p:cNvPr id="7" name="Text 5"/>
          <p:cNvSpPr/>
          <p:nvPr/>
        </p:nvSpPr>
        <p:spPr>
          <a:xfrm>
            <a:off x="122830" y="2103120"/>
            <a:ext cx="3985146" cy="548640"/>
          </a:xfrm>
          <a:prstGeom prst="rect">
            <a:avLst/>
          </a:prstGeom>
          <a:noFill/>
          <a:ln/>
        </p:spPr>
        <p:txBody>
          <a:bodyPr wrap="square" rtlCol="0" anchor="ctr"/>
          <a:lstStyle/>
          <a:p>
            <a:pPr marL="0" indent="0">
              <a:buNone/>
            </a:pPr>
            <a:r>
              <a:rPr lang="en-US" sz="1300" dirty="0">
                <a:solidFill>
                  <a:srgbClr val="CBD5E1"/>
                </a:solidFill>
                <a:latin typeface="Arial" pitchFamily="34" charset="0"/>
                <a:ea typeface="Arial" pitchFamily="34" charset="-122"/>
                <a:cs typeface="Arial" pitchFamily="34" charset="-120"/>
              </a:rPr>
              <a:t>Loaded inside a standard quantized container to establish a low-parameter processing baseline:</a:t>
            </a:r>
            <a:endParaRPr lang="en-US" sz="1300" dirty="0"/>
          </a:p>
        </p:txBody>
      </p:sp>
      <p:sp>
        <p:nvSpPr>
          <p:cNvPr id="8" name="Text 6"/>
          <p:cNvSpPr/>
          <p:nvPr/>
        </p:nvSpPr>
        <p:spPr>
          <a:xfrm>
            <a:off x="122830" y="2468880"/>
            <a:ext cx="3985146" cy="2365976"/>
          </a:xfrm>
          <a:prstGeom prst="rect">
            <a:avLst/>
          </a:prstGeom>
          <a:noFill/>
          <a:ln/>
        </p:spPr>
        <p:txBody>
          <a:bodyPr wrap="square" rtlCol="0" anchor="ctr"/>
          <a:lstStyle/>
          <a:p>
            <a:pPr marL="342900" indent="-342900">
              <a:lnSpc>
                <a:spcPts val="2000"/>
              </a:lnSpc>
              <a:buSzPct val="100000"/>
              <a:buChar char="•"/>
            </a:pPr>
            <a:r>
              <a:rPr lang="en-US" sz="1200" dirty="0">
                <a:solidFill>
                  <a:srgbClr val="CBD5E1"/>
                </a:solidFill>
                <a:latin typeface="Arial" pitchFamily="34" charset="0"/>
                <a:ea typeface="Arial" pitchFamily="34" charset="-122"/>
                <a:cs typeface="Arial" pitchFamily="34" charset="-120"/>
              </a:rPr>
              <a:t>Winner Selected: Garden2006/whisper-large-v3-turbo</a:t>
            </a:r>
            <a:endParaRPr lang="en-US" sz="1200" dirty="0"/>
          </a:p>
          <a:p>
            <a:pPr marL="342900" indent="-342900">
              <a:lnSpc>
                <a:spcPts val="2000"/>
              </a:lnSpc>
              <a:buSzPct val="100000"/>
              <a:buChar char="•"/>
            </a:pPr>
            <a:r>
              <a:rPr lang="en-US" sz="1200" dirty="0">
                <a:solidFill>
                  <a:srgbClr val="CBD5E1"/>
                </a:solidFill>
                <a:latin typeface="Arial" pitchFamily="34" charset="0"/>
                <a:ea typeface="Arial" pitchFamily="34" charset="-122"/>
                <a:cs typeface="Arial" pitchFamily="34" charset="-120"/>
              </a:rPr>
              <a:t>Assigned Score: 8.0 / 10</a:t>
            </a:r>
            <a:endParaRPr lang="en-US" sz="1200" dirty="0"/>
          </a:p>
          <a:p>
            <a:pPr marL="342900" indent="-342900">
              <a:lnSpc>
                <a:spcPts val="2000"/>
              </a:lnSpc>
              <a:buSzPct val="100000"/>
              <a:buChar char="•"/>
            </a:pPr>
            <a:r>
              <a:rPr lang="en-US" sz="1200" dirty="0">
                <a:solidFill>
                  <a:srgbClr val="CBD5E1"/>
                </a:solidFill>
                <a:latin typeface="Arial" pitchFamily="34" charset="0"/>
                <a:ea typeface="Arial" pitchFamily="34" charset="-122"/>
                <a:cs typeface="Arial" pitchFamily="34" charset="-120"/>
              </a:rPr>
              <a:t>Model Observation: Effectively isolates grammatical structure. Captures core semantic definitions accurately, though it experiences minor drift during dense dialect switches.</a:t>
            </a:r>
            <a:endParaRPr lang="en-US" sz="1200" dirty="0"/>
          </a:p>
        </p:txBody>
      </p:sp>
      <p:sp>
        <p:nvSpPr>
          <p:cNvPr id="9" name="Shape 7"/>
          <p:cNvSpPr/>
          <p:nvPr/>
        </p:nvSpPr>
        <p:spPr>
          <a:xfrm>
            <a:off x="4694830" y="1463040"/>
            <a:ext cx="4326340" cy="3371816"/>
          </a:xfrm>
          <a:prstGeom prst="rect">
            <a:avLst/>
          </a:prstGeom>
          <a:solidFill>
            <a:srgbClr val="162238"/>
          </a:solidFill>
          <a:ln/>
        </p:spPr>
        <p:txBody>
          <a:bodyPr/>
          <a:lstStyle/>
          <a:p>
            <a:endParaRPr lang="en-IN"/>
          </a:p>
        </p:txBody>
      </p:sp>
      <p:sp>
        <p:nvSpPr>
          <p:cNvPr id="10" name="Text 8"/>
          <p:cNvSpPr/>
          <p:nvPr/>
        </p:nvSpPr>
        <p:spPr>
          <a:xfrm>
            <a:off x="4694830" y="1634456"/>
            <a:ext cx="4663440" cy="365760"/>
          </a:xfrm>
          <a:prstGeom prst="rect">
            <a:avLst/>
          </a:prstGeom>
          <a:noFill/>
          <a:ln/>
        </p:spPr>
        <p:txBody>
          <a:bodyPr wrap="square" rtlCol="0" anchor="ctr"/>
          <a:lstStyle/>
          <a:p>
            <a:pPr marL="0" indent="0">
              <a:buNone/>
            </a:pPr>
            <a:r>
              <a:rPr lang="en-US" sz="1800" b="1" dirty="0">
                <a:solidFill>
                  <a:srgbClr val="DEFF9A"/>
                </a:solidFill>
                <a:latin typeface="Arial" pitchFamily="34" charset="0"/>
                <a:ea typeface="Arial" pitchFamily="34" charset="-122"/>
                <a:cs typeface="Arial" pitchFamily="34" charset="-120"/>
              </a:rPr>
              <a:t> Gemma 3 4B Audit Characteristics</a:t>
            </a:r>
            <a:endParaRPr lang="en-US" sz="1800" dirty="0"/>
          </a:p>
        </p:txBody>
      </p:sp>
      <p:sp>
        <p:nvSpPr>
          <p:cNvPr id="11" name="Text 9"/>
          <p:cNvSpPr/>
          <p:nvPr/>
        </p:nvSpPr>
        <p:spPr>
          <a:xfrm>
            <a:off x="4694830" y="2037202"/>
            <a:ext cx="4230806" cy="548640"/>
          </a:xfrm>
          <a:prstGeom prst="rect">
            <a:avLst/>
          </a:prstGeom>
          <a:noFill/>
          <a:ln/>
        </p:spPr>
        <p:txBody>
          <a:bodyPr wrap="square" rtlCol="0" anchor="ctr"/>
          <a:lstStyle/>
          <a:p>
            <a:pPr marL="0" indent="0">
              <a:buNone/>
            </a:pPr>
            <a:r>
              <a:rPr lang="en-US" sz="1300" dirty="0">
                <a:solidFill>
                  <a:srgbClr val="CBD5E1"/>
                </a:solidFill>
                <a:latin typeface="Arial" pitchFamily="34" charset="0"/>
                <a:ea typeface="Arial" pitchFamily="34" charset="-122"/>
                <a:cs typeface="Arial" pitchFamily="34" charset="-120"/>
              </a:rPr>
              <a:t>Upgraded parameter weight profile processed inside Google Colab environment:</a:t>
            </a:r>
            <a:endParaRPr lang="en-US" sz="1300" dirty="0"/>
          </a:p>
        </p:txBody>
      </p:sp>
      <p:sp>
        <p:nvSpPr>
          <p:cNvPr id="12" name="Text 10"/>
          <p:cNvSpPr/>
          <p:nvPr/>
        </p:nvSpPr>
        <p:spPr>
          <a:xfrm>
            <a:off x="4831308" y="2311522"/>
            <a:ext cx="4094328" cy="2468880"/>
          </a:xfrm>
          <a:prstGeom prst="rect">
            <a:avLst/>
          </a:prstGeom>
          <a:noFill/>
          <a:ln/>
        </p:spPr>
        <p:txBody>
          <a:bodyPr wrap="square" rtlCol="0" anchor="ctr"/>
          <a:lstStyle/>
          <a:p>
            <a:pPr marL="342900" indent="-342900">
              <a:lnSpc>
                <a:spcPts val="2000"/>
              </a:lnSpc>
              <a:buSzPct val="100000"/>
              <a:buChar char="•"/>
            </a:pPr>
            <a:r>
              <a:rPr lang="en-US" sz="1200" dirty="0">
                <a:solidFill>
                  <a:srgbClr val="CBD5E1"/>
                </a:solidFill>
                <a:latin typeface="Arial" pitchFamily="34" charset="0"/>
                <a:ea typeface="Arial" pitchFamily="34" charset="-122"/>
                <a:cs typeface="Arial" pitchFamily="34" charset="-120"/>
              </a:rPr>
              <a:t>Winner Selected: Garden2006/whisper-large-v3-turbo</a:t>
            </a:r>
            <a:endParaRPr lang="en-US" sz="1200" dirty="0"/>
          </a:p>
          <a:p>
            <a:pPr marL="342900" indent="-342900">
              <a:lnSpc>
                <a:spcPts val="2000"/>
              </a:lnSpc>
              <a:buSzPct val="100000"/>
              <a:buChar char="•"/>
            </a:pPr>
            <a:r>
              <a:rPr lang="en-US" sz="1200" dirty="0">
                <a:solidFill>
                  <a:srgbClr val="CBD5E1"/>
                </a:solidFill>
                <a:latin typeface="Arial" pitchFamily="34" charset="0"/>
                <a:ea typeface="Arial" pitchFamily="34" charset="-122"/>
                <a:cs typeface="Arial" pitchFamily="34" charset="-120"/>
              </a:rPr>
              <a:t>Assigned Score: 8.5 / 10</a:t>
            </a:r>
            <a:endParaRPr lang="en-US" sz="1200" dirty="0"/>
          </a:p>
          <a:p>
            <a:pPr marL="342900" indent="-342900">
              <a:lnSpc>
                <a:spcPts val="2000"/>
              </a:lnSpc>
              <a:buSzPct val="100000"/>
              <a:buChar char="•"/>
            </a:pPr>
            <a:r>
              <a:rPr lang="en-US" sz="1200" dirty="0">
                <a:solidFill>
                  <a:srgbClr val="CBD5E1"/>
                </a:solidFill>
                <a:latin typeface="Arial" pitchFamily="34" charset="0"/>
                <a:ea typeface="Arial" pitchFamily="34" charset="-122"/>
                <a:cs typeface="Arial" pitchFamily="34" charset="-120"/>
              </a:rPr>
              <a:t>Model Observation: Noticeably higher contextual accuracy. Demonstrates sharper parsing of continuous text blocks and successfully identifies minor syntactic variations.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6">
    <p:bg>
      <p:bgPr>
        <a:solidFill>
          <a:srgbClr val="0B0F19"/>
        </a:solidFill>
        <a:effectLst/>
      </p:bgPr>
    </p:bg>
    <p:spTree>
      <p:nvGrpSpPr>
        <p:cNvPr id="1" name=""/>
        <p:cNvGrpSpPr/>
        <p:nvPr/>
      </p:nvGrpSpPr>
      <p:grpSpPr>
        <a:xfrm>
          <a:off x="0" y="0"/>
          <a:ext cx="0" cy="0"/>
          <a:chOff x="0" y="0"/>
          <a:chExt cx="0" cy="0"/>
        </a:xfrm>
      </p:grpSpPr>
      <p:sp>
        <p:nvSpPr>
          <p:cNvPr id="2" name="Shape 0"/>
          <p:cNvSpPr/>
          <p:nvPr/>
        </p:nvSpPr>
        <p:spPr>
          <a:xfrm>
            <a:off x="731520" y="457200"/>
            <a:ext cx="73152" cy="548640"/>
          </a:xfrm>
          <a:prstGeom prst="rect">
            <a:avLst/>
          </a:prstGeom>
          <a:solidFill>
            <a:srgbClr val="DEFF9A"/>
          </a:solidFill>
          <a:ln/>
        </p:spPr>
        <p:txBody>
          <a:bodyPr/>
          <a:lstStyle/>
          <a:p>
            <a:endParaRPr lang="en-IN"/>
          </a:p>
        </p:txBody>
      </p:sp>
      <p:sp>
        <p:nvSpPr>
          <p:cNvPr id="3" name="Text 1"/>
          <p:cNvSpPr/>
          <p:nvPr/>
        </p:nvSpPr>
        <p:spPr>
          <a:xfrm>
            <a:off x="914400" y="457200"/>
            <a:ext cx="105156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High-Tier Local Judge: Gemma 9B Execution</a:t>
            </a:r>
            <a:endParaRPr lang="en-US" sz="2600" dirty="0"/>
          </a:p>
        </p:txBody>
      </p:sp>
      <p:sp>
        <p:nvSpPr>
          <p:cNvPr id="4" name="Shape 2"/>
          <p:cNvSpPr/>
          <p:nvPr/>
        </p:nvSpPr>
        <p:spPr>
          <a:xfrm>
            <a:off x="731520" y="6217920"/>
            <a:ext cx="10698480" cy="18288"/>
          </a:xfrm>
          <a:prstGeom prst="rect">
            <a:avLst/>
          </a:prstGeom>
          <a:solidFill>
            <a:srgbClr val="1A2948"/>
          </a:solidFill>
          <a:ln/>
        </p:spPr>
        <p:txBody>
          <a:bodyPr/>
          <a:lstStyle/>
          <a:p>
            <a:endParaRPr lang="en-IN"/>
          </a:p>
        </p:txBody>
      </p:sp>
      <p:graphicFrame>
        <p:nvGraphicFramePr>
          <p:cNvPr id="17" name="Table 0"/>
          <p:cNvGraphicFramePr>
            <a:graphicFrameLocks noGrp="1"/>
          </p:cNvGraphicFramePr>
          <p:nvPr>
            <p:extLst>
              <p:ext uri="{D42A27DB-BD31-4B8C-83A1-F6EECF244321}">
                <p14:modId xmlns:p14="http://schemas.microsoft.com/office/powerpoint/2010/main" val="1877783450"/>
              </p:ext>
            </p:extLst>
          </p:nvPr>
        </p:nvGraphicFramePr>
        <p:xfrm>
          <a:off x="281144" y="1626813"/>
          <a:ext cx="8426127" cy="2560320"/>
        </p:xfrm>
        <a:graphic>
          <a:graphicData uri="http://schemas.openxmlformats.org/drawingml/2006/table">
            <a:tbl>
              <a:tblPr/>
              <a:tblGrid>
                <a:gridCol w="3456873">
                  <a:extLst>
                    <a:ext uri="{9D8B030D-6E8A-4147-A177-3AD203B41FA5}">
                      <a16:colId xmlns:a16="http://schemas.microsoft.com/office/drawing/2014/main" val="20000"/>
                    </a:ext>
                  </a:extLst>
                </a:gridCol>
                <a:gridCol w="864218">
                  <a:extLst>
                    <a:ext uri="{9D8B030D-6E8A-4147-A177-3AD203B41FA5}">
                      <a16:colId xmlns:a16="http://schemas.microsoft.com/office/drawing/2014/main" val="20001"/>
                    </a:ext>
                  </a:extLst>
                </a:gridCol>
                <a:gridCol w="3240818">
                  <a:extLst>
                    <a:ext uri="{9D8B030D-6E8A-4147-A177-3AD203B41FA5}">
                      <a16:colId xmlns:a16="http://schemas.microsoft.com/office/drawing/2014/main" val="20002"/>
                    </a:ext>
                  </a:extLst>
                </a:gridCol>
                <a:gridCol w="864218">
                  <a:extLst>
                    <a:ext uri="{9D8B030D-6E8A-4147-A177-3AD203B41FA5}">
                      <a16:colId xmlns:a16="http://schemas.microsoft.com/office/drawing/2014/main" val="20003"/>
                    </a:ext>
                  </a:extLst>
                </a:gridCol>
              </a:tblGrid>
              <a:tr h="0">
                <a:tc>
                  <a:txBody>
                    <a:bodyPr/>
                    <a:lstStyle/>
                    <a:p>
                      <a:pPr marL="0" indent="0">
                        <a:buNone/>
                      </a:pPr>
                      <a:r>
                        <a:rPr lang="en-US" sz="1100" b="1" dirty="0">
                          <a:solidFill>
                            <a:srgbClr val="DEFF9A"/>
                          </a:solidFill>
                          <a:latin typeface="Arial" pitchFamily="34" charset="0"/>
                          <a:ea typeface="Arial" pitchFamily="34" charset="-122"/>
                          <a:cs typeface="Arial" pitchFamily="34" charset="-120"/>
                        </a:rPr>
                        <a:t>Model Parameter Pool Target</a:t>
                      </a:r>
                      <a:endParaRPr lang="en-US" sz="11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11827"/>
                    </a:solidFill>
                  </a:tcPr>
                </a:tc>
                <a:tc>
                  <a:txBody>
                    <a:bodyPr/>
                    <a:lstStyle/>
                    <a:p>
                      <a:pPr marL="0" indent="0" algn="ctr">
                        <a:buNone/>
                      </a:pPr>
                      <a:r>
                        <a:rPr lang="en-US" sz="1100" b="1" dirty="0">
                          <a:solidFill>
                            <a:srgbClr val="DEFF9A"/>
                          </a:solidFill>
                          <a:latin typeface="Arial" pitchFamily="34" charset="0"/>
                          <a:ea typeface="Arial" pitchFamily="34" charset="-122"/>
                          <a:cs typeface="Arial" pitchFamily="34" charset="-120"/>
                        </a:rPr>
                        <a:t>Score (1-10)</a:t>
                      </a:r>
                      <a:endParaRPr lang="en-US" sz="11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11827"/>
                    </a:solidFill>
                  </a:tcPr>
                </a:tc>
                <a:tc>
                  <a:txBody>
                    <a:bodyPr/>
                    <a:lstStyle/>
                    <a:p>
                      <a:pPr marL="0" indent="0">
                        <a:buNone/>
                      </a:pPr>
                      <a:r>
                        <a:rPr lang="en-US" sz="1100" b="1" dirty="0">
                          <a:solidFill>
                            <a:srgbClr val="DEFF9A"/>
                          </a:solidFill>
                          <a:latin typeface="Arial" pitchFamily="34" charset="0"/>
                          <a:ea typeface="Arial" pitchFamily="34" charset="-122"/>
                          <a:cs typeface="Arial" pitchFamily="34" charset="-120"/>
                        </a:rPr>
                        <a:t>Key Strength / Linguistic Evaluation</a:t>
                      </a:r>
                      <a:endParaRPr lang="en-US" sz="11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11827"/>
                    </a:solidFill>
                  </a:tcPr>
                </a:tc>
                <a:tc>
                  <a:txBody>
                    <a:bodyPr/>
                    <a:lstStyle/>
                    <a:p>
                      <a:pPr marL="0" indent="0" algn="ctr">
                        <a:buNone/>
                      </a:pPr>
                      <a:r>
                        <a:rPr lang="en-US" sz="1100" b="1" dirty="0">
                          <a:solidFill>
                            <a:srgbClr val="DEFF9A"/>
                          </a:solidFill>
                          <a:latin typeface="Arial" pitchFamily="34" charset="0"/>
                          <a:ea typeface="Arial" pitchFamily="34" charset="-122"/>
                          <a:cs typeface="Arial" pitchFamily="34" charset="-120"/>
                        </a:rPr>
                        <a:t>Loops</a:t>
                      </a:r>
                      <a:endParaRPr lang="en-US" sz="11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11827"/>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FFFFFF"/>
                          </a:solidFill>
                          <a:latin typeface="Arial" pitchFamily="34" charset="0"/>
                          <a:ea typeface="Arial" pitchFamily="34" charset="-122"/>
                          <a:cs typeface="Arial" pitchFamily="34" charset="-120"/>
                        </a:rPr>
                        <a:t>Garden2006/whisper-large-v3-turbo-gurmukhi-lora</a:t>
                      </a:r>
                      <a:endParaRPr lang="en-US" sz="11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6</a:t>
                      </a:r>
                      <a:endParaRPr lang="en-US" sz="11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tc>
                  <a:txBody>
                    <a:bodyPr/>
                    <a:lstStyle/>
                    <a:p>
                      <a:pPr marL="0" indent="0">
                        <a:buNone/>
                      </a:pPr>
                      <a:r>
                        <a:rPr lang="en-US" sz="1100" dirty="0">
                          <a:solidFill>
                            <a:srgbClr val="FFFFFF"/>
                          </a:solidFill>
                          <a:latin typeface="Arial" pitchFamily="34" charset="0"/>
                          <a:ea typeface="Arial" pitchFamily="34" charset="-122"/>
                          <a:cs typeface="Arial" pitchFamily="34" charset="-120"/>
                        </a:rPr>
                        <a:t>Good overall grammar and structure. Captures content gist.</a:t>
                      </a:r>
                      <a:endParaRPr lang="en-US" sz="11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tc>
                  <a:txBody>
                    <a:bodyPr/>
                    <a:lstStyle/>
                    <a:p>
                      <a:pPr marL="0" indent="0" algn="ctr">
                        <a:buNone/>
                      </a:pPr>
                      <a:r>
                        <a:rPr lang="en-US" sz="1100" dirty="0">
                          <a:solidFill>
                            <a:srgbClr val="FFFFFF"/>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FFFFFF"/>
                          </a:solidFill>
                          <a:latin typeface="Arial" pitchFamily="34" charset="0"/>
                          <a:ea typeface="Arial" pitchFamily="34" charset="-122"/>
                          <a:cs typeface="Arial" pitchFamily="34" charset="-120"/>
                        </a:rPr>
                        <a:t>abhi8799/whisper-large-v3-turbo-gurmukhi-lora</a:t>
                      </a:r>
                      <a:endParaRPr lang="en-US" sz="11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tc>
                  <a:txBody>
                    <a:bodyPr/>
                    <a:lstStyle/>
                    <a:p>
                      <a:pPr marL="0" indent="0" algn="ctr">
                        <a:buNone/>
                      </a:pPr>
                      <a:r>
                        <a:rPr lang="en-US" sz="1100" dirty="0">
                          <a:solidFill>
                            <a:srgbClr val="FFFFFF"/>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tc>
                  <a:txBody>
                    <a:bodyPr/>
                    <a:lstStyle/>
                    <a:p>
                      <a:pPr marL="0" indent="0">
                        <a:buNone/>
                      </a:pPr>
                      <a:r>
                        <a:rPr lang="en-US" sz="1100" dirty="0">
                          <a:solidFill>
                            <a:srgbClr val="FFFFFF"/>
                          </a:solidFill>
                          <a:latin typeface="Arial" pitchFamily="34" charset="0"/>
                          <a:ea typeface="Arial" pitchFamily="34" charset="-122"/>
                          <a:cs typeface="Arial" pitchFamily="34" charset="-120"/>
                        </a:rPr>
                        <a:t>Lacks fluency, many repetition and grammatical errors.</a:t>
                      </a:r>
                      <a:endParaRPr lang="en-US" sz="11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tc>
                  <a:txBody>
                    <a:bodyPr/>
                    <a:lstStyle/>
                    <a:p>
                      <a:pPr marL="0" indent="0" algn="ctr">
                        <a:buNone/>
                      </a:pPr>
                      <a:r>
                        <a:rPr lang="en-US" sz="1100" b="1" dirty="0">
                          <a:solidFill>
                            <a:srgbClr val="FF8B8B"/>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FFFFFF"/>
                          </a:solidFill>
                          <a:latin typeface="Arial" pitchFamily="34" charset="0"/>
                          <a:ea typeface="Arial" pitchFamily="34" charset="-122"/>
                          <a:cs typeface="Arial" pitchFamily="34" charset="-120"/>
                        </a:rPr>
                        <a:t>abhi8799/whisper-small-gurmukhi-lora</a:t>
                      </a:r>
                      <a:endParaRPr lang="en-US" sz="11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tc>
                  <a:txBody>
                    <a:bodyPr/>
                    <a:lstStyle/>
                    <a:p>
                      <a:pPr marL="0" indent="0" algn="ctr">
                        <a:buNone/>
                      </a:pPr>
                      <a:r>
                        <a:rPr lang="en-US" sz="1100" dirty="0">
                          <a:solidFill>
                            <a:srgbClr val="FFFFFF"/>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tc>
                  <a:txBody>
                    <a:bodyPr/>
                    <a:lstStyle/>
                    <a:p>
                      <a:pPr marL="0" indent="0">
                        <a:buNone/>
                      </a:pPr>
                      <a:r>
                        <a:rPr lang="en-US" sz="1100" dirty="0">
                          <a:solidFill>
                            <a:srgbClr val="FFFFFF"/>
                          </a:solidFill>
                          <a:latin typeface="Arial" pitchFamily="34" charset="0"/>
                          <a:ea typeface="Arial" pitchFamily="34" charset="-122"/>
                          <a:cs typeface="Arial" pitchFamily="34" charset="-120"/>
                        </a:rPr>
                        <a:t>Very poor transcription with spelling and grammatical errors.</a:t>
                      </a:r>
                      <a:endParaRPr lang="en-US" sz="11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tc>
                  <a:txBody>
                    <a:bodyPr/>
                    <a:lstStyle/>
                    <a:p>
                      <a:pPr marL="0" indent="0" algn="ctr">
                        <a:buNone/>
                      </a:pPr>
                      <a:r>
                        <a:rPr lang="en-US" sz="1100" b="1" dirty="0">
                          <a:solidFill>
                            <a:srgbClr val="FF8B8B"/>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extLst>
                  <a:ext uri="{0D108BD9-81ED-4DB2-BD59-A6C34878D82A}">
                    <a16:rowId xmlns:a16="http://schemas.microsoft.com/office/drawing/2014/main" val="10003"/>
                  </a:ext>
                </a:extLst>
              </a:tr>
              <a:tr h="0">
                <a:tc>
                  <a:txBody>
                    <a:bodyPr/>
                    <a:lstStyle/>
                    <a:p>
                      <a:pPr marL="0" indent="0">
                        <a:buNone/>
                      </a:pPr>
                      <a:r>
                        <a:rPr lang="en-US" sz="1100" b="1" dirty="0">
                          <a:solidFill>
                            <a:srgbClr val="DEFF9A"/>
                          </a:solidFill>
                          <a:latin typeface="Arial" pitchFamily="34" charset="0"/>
                          <a:ea typeface="Arial" pitchFamily="34" charset="-122"/>
                          <a:cs typeface="Arial" pitchFamily="34" charset="-120"/>
                        </a:rPr>
                        <a:t>KaliNangia/whisper-large-v3-turbo-gurmukhi-lora</a:t>
                      </a:r>
                      <a:endParaRPr lang="en-US" sz="11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tc>
                  <a:txBody>
                    <a:bodyPr/>
                    <a:lstStyle/>
                    <a:p>
                      <a:pPr marL="0" indent="0" algn="ctr">
                        <a:buNone/>
                      </a:pPr>
                      <a:r>
                        <a:rPr lang="en-US" sz="1100" b="1" dirty="0">
                          <a:solidFill>
                            <a:srgbClr val="DEFF9A"/>
                          </a:solidFill>
                          <a:latin typeface="Arial" pitchFamily="34" charset="0"/>
                          <a:ea typeface="Arial" pitchFamily="34" charset="-122"/>
                          <a:cs typeface="Arial" pitchFamily="34" charset="-120"/>
                        </a:rPr>
                        <a:t>7</a:t>
                      </a:r>
                      <a:endParaRPr lang="en-US" sz="11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tc>
                  <a:txBody>
                    <a:bodyPr/>
                    <a:lstStyle/>
                    <a:p>
                      <a:pPr marL="0" indent="0">
                        <a:buNone/>
                      </a:pPr>
                      <a:r>
                        <a:rPr lang="en-US" sz="1100" dirty="0">
                          <a:solidFill>
                            <a:srgbClr val="FFFFFF"/>
                          </a:solidFill>
                          <a:latin typeface="Arial" pitchFamily="34" charset="0"/>
                          <a:ea typeface="Arial" pitchFamily="34" charset="-122"/>
                          <a:cs typeface="Arial" pitchFamily="34" charset="-120"/>
                        </a:rPr>
                        <a:t>Winner: Good vocabulary and captures the nuances of the transcript.</a:t>
                      </a:r>
                      <a:endParaRPr lang="en-US" sz="11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tc>
                  <a:txBody>
                    <a:bodyPr/>
                    <a:lstStyle/>
                    <a:p>
                      <a:pPr marL="0" indent="0" algn="ctr">
                        <a:buNone/>
                      </a:pPr>
                      <a:r>
                        <a:rPr lang="en-US" sz="1100" dirty="0">
                          <a:solidFill>
                            <a:srgbClr val="FFFFFF"/>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extLst>
                  <a:ext uri="{0D108BD9-81ED-4DB2-BD59-A6C34878D82A}">
                    <a16:rowId xmlns:a16="http://schemas.microsoft.com/office/drawing/2014/main" val="10004"/>
                  </a:ext>
                </a:extLst>
              </a:tr>
              <a:tr h="0">
                <a:tc>
                  <a:txBody>
                    <a:bodyPr/>
                    <a:lstStyle/>
                    <a:p>
                      <a:pPr marL="0" indent="0">
                        <a:buNone/>
                      </a:pPr>
                      <a:r>
                        <a:rPr lang="en-US" sz="1100" dirty="0">
                          <a:solidFill>
                            <a:srgbClr val="FFFFFF"/>
                          </a:solidFill>
                          <a:latin typeface="Arial" pitchFamily="34" charset="0"/>
                          <a:ea typeface="Arial" pitchFamily="34" charset="-122"/>
                          <a:cs typeface="Arial" pitchFamily="34" charset="-120"/>
                        </a:rPr>
                        <a:t>KaliNangia/whisper-medium-gurmukhi-lora</a:t>
                      </a:r>
                      <a:endParaRPr lang="en-US" sz="11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tc>
                  <a:txBody>
                    <a:bodyPr/>
                    <a:lstStyle/>
                    <a:p>
                      <a:pPr marL="0" indent="0" algn="ctr">
                        <a:buNone/>
                      </a:pPr>
                      <a:r>
                        <a:rPr lang="en-US" sz="1100" dirty="0">
                          <a:solidFill>
                            <a:srgbClr val="FFFFFF"/>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tc>
                  <a:txBody>
                    <a:bodyPr/>
                    <a:lstStyle/>
                    <a:p>
                      <a:pPr marL="0" indent="0">
                        <a:buNone/>
                      </a:pPr>
                      <a:r>
                        <a:rPr lang="en-US" sz="1100" dirty="0">
                          <a:solidFill>
                            <a:srgbClr val="FFFFFF"/>
                          </a:solidFill>
                          <a:latin typeface="Arial" pitchFamily="34" charset="0"/>
                          <a:ea typeface="Arial" pitchFamily="34" charset="-122"/>
                          <a:cs typeface="Arial" pitchFamily="34" charset="-120"/>
                        </a:rPr>
                        <a:t>Shows improvement over smaller model, but retains loops.</a:t>
                      </a:r>
                      <a:endParaRPr lang="en-US" sz="11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tc>
                  <a:txBody>
                    <a:bodyPr/>
                    <a:lstStyle/>
                    <a:p>
                      <a:pPr marL="0" indent="0" algn="ctr">
                        <a:buNone/>
                      </a:pPr>
                      <a:r>
                        <a:rPr lang="en-US" sz="1100" b="1" dirty="0">
                          <a:solidFill>
                            <a:srgbClr val="FF8B8B"/>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a:lnL w="12700" cap="flat" cmpd="sng" algn="ctr">
                      <a:solidFill>
                        <a:srgbClr val="2A3B5C"/>
                      </a:solidFill>
                      <a:prstDash val="solid"/>
                      <a:round/>
                      <a:headEnd type="none" w="med" len="med"/>
                      <a:tailEnd type="none" w="med" len="med"/>
                    </a:lnL>
                    <a:lnR w="12700" cap="flat" cmpd="sng" algn="ctr">
                      <a:solidFill>
                        <a:srgbClr val="2A3B5C"/>
                      </a:solidFill>
                      <a:prstDash val="solid"/>
                      <a:round/>
                      <a:headEnd type="none" w="med" len="med"/>
                      <a:tailEnd type="none" w="med" len="med"/>
                    </a:lnR>
                    <a:lnT w="12700" cap="flat" cmpd="sng" algn="ctr">
                      <a:solidFill>
                        <a:srgbClr val="2A3B5C"/>
                      </a:solidFill>
                      <a:prstDash val="solid"/>
                      <a:round/>
                      <a:headEnd type="none" w="med" len="med"/>
                      <a:tailEnd type="none" w="med" len="med"/>
                    </a:lnT>
                    <a:lnB w="12700" cap="flat" cmpd="sng" algn="ctr">
                      <a:solidFill>
                        <a:srgbClr val="2A3B5C"/>
                      </a:solidFill>
                      <a:prstDash val="solid"/>
                      <a:round/>
                      <a:headEnd type="none" w="med" len="med"/>
                      <a:tailEnd type="none" w="med" len="med"/>
                    </a:lnB>
                    <a:solidFill>
                      <a:srgbClr val="16223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7">
    <p:bg>
      <p:bgPr>
        <a:solidFill>
          <a:srgbClr val="0B0F19"/>
        </a:solidFill>
        <a:effectLst/>
      </p:bgPr>
    </p:bg>
    <p:spTree>
      <p:nvGrpSpPr>
        <p:cNvPr id="1" name=""/>
        <p:cNvGrpSpPr/>
        <p:nvPr/>
      </p:nvGrpSpPr>
      <p:grpSpPr>
        <a:xfrm>
          <a:off x="0" y="0"/>
          <a:ext cx="0" cy="0"/>
          <a:chOff x="0" y="0"/>
          <a:chExt cx="0" cy="0"/>
        </a:xfrm>
      </p:grpSpPr>
      <p:sp>
        <p:nvSpPr>
          <p:cNvPr id="2" name="Shape 0"/>
          <p:cNvSpPr/>
          <p:nvPr/>
        </p:nvSpPr>
        <p:spPr>
          <a:xfrm>
            <a:off x="731520" y="457200"/>
            <a:ext cx="73152" cy="548640"/>
          </a:xfrm>
          <a:prstGeom prst="rect">
            <a:avLst/>
          </a:prstGeom>
          <a:solidFill>
            <a:srgbClr val="DEFF9A"/>
          </a:solidFill>
          <a:ln/>
        </p:spPr>
        <p:txBody>
          <a:bodyPr/>
          <a:lstStyle/>
          <a:p>
            <a:endParaRPr lang="en-IN"/>
          </a:p>
        </p:txBody>
      </p:sp>
      <p:sp>
        <p:nvSpPr>
          <p:cNvPr id="3" name="Text 1"/>
          <p:cNvSpPr/>
          <p:nvPr/>
        </p:nvSpPr>
        <p:spPr>
          <a:xfrm>
            <a:off x="914400" y="457200"/>
            <a:ext cx="105156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Gemma High-Tier Model Scaling Workflow</a:t>
            </a:r>
            <a:endParaRPr lang="en-US" sz="2600" dirty="0"/>
          </a:p>
        </p:txBody>
      </p:sp>
      <p:sp>
        <p:nvSpPr>
          <p:cNvPr id="4" name="Shape 2"/>
          <p:cNvSpPr/>
          <p:nvPr/>
        </p:nvSpPr>
        <p:spPr>
          <a:xfrm>
            <a:off x="731520" y="6217920"/>
            <a:ext cx="10698480" cy="18288"/>
          </a:xfrm>
          <a:prstGeom prst="rect">
            <a:avLst/>
          </a:prstGeom>
          <a:solidFill>
            <a:srgbClr val="1A2948"/>
          </a:solidFill>
          <a:ln/>
        </p:spPr>
        <p:txBody>
          <a:bodyPr/>
          <a:lstStyle/>
          <a:p>
            <a:endParaRPr lang="en-IN"/>
          </a:p>
        </p:txBody>
      </p:sp>
      <p:sp>
        <p:nvSpPr>
          <p:cNvPr id="5" name="Shape 3"/>
          <p:cNvSpPr/>
          <p:nvPr/>
        </p:nvSpPr>
        <p:spPr>
          <a:xfrm>
            <a:off x="45720" y="1440180"/>
            <a:ext cx="3035808" cy="1828800"/>
          </a:xfrm>
          <a:prstGeom prst="rect">
            <a:avLst/>
          </a:prstGeom>
          <a:solidFill>
            <a:srgbClr val="162238"/>
          </a:solidFill>
          <a:ln w="25400">
            <a:solidFill>
              <a:srgbClr val="DEFF9A"/>
            </a:solidFill>
            <a:prstDash val="solid"/>
          </a:ln>
        </p:spPr>
        <p:txBody>
          <a:bodyPr/>
          <a:lstStyle/>
          <a:p>
            <a:endParaRPr lang="en-IN"/>
          </a:p>
        </p:txBody>
      </p:sp>
      <p:sp>
        <p:nvSpPr>
          <p:cNvPr id="6" name="Text 4"/>
          <p:cNvSpPr/>
          <p:nvPr/>
        </p:nvSpPr>
        <p:spPr>
          <a:xfrm>
            <a:off x="228600" y="1691640"/>
            <a:ext cx="2834640" cy="365760"/>
          </a:xfrm>
          <a:prstGeom prst="rect">
            <a:avLst/>
          </a:prstGeom>
          <a:noFill/>
          <a:ln/>
        </p:spPr>
        <p:txBody>
          <a:bodyPr wrap="square" rtlCol="0" anchor="ctr"/>
          <a:lstStyle/>
          <a:p>
            <a:pPr marL="0" indent="0" algn="ctr">
              <a:buNone/>
            </a:pPr>
            <a:r>
              <a:rPr lang="en-US" sz="1600" b="1" dirty="0">
                <a:solidFill>
                  <a:srgbClr val="DEFF9A"/>
                </a:solidFill>
                <a:latin typeface="Arial" pitchFamily="34" charset="0"/>
                <a:ea typeface="Arial" pitchFamily="34" charset="-122"/>
                <a:cs typeface="Arial" pitchFamily="34" charset="-120"/>
              </a:rPr>
              <a:t>Gemma 2B</a:t>
            </a:r>
            <a:endParaRPr lang="en-US" sz="1600" dirty="0"/>
          </a:p>
        </p:txBody>
      </p:sp>
      <p:sp>
        <p:nvSpPr>
          <p:cNvPr id="7" name="Text 5"/>
          <p:cNvSpPr/>
          <p:nvPr/>
        </p:nvSpPr>
        <p:spPr>
          <a:xfrm>
            <a:off x="228600" y="2091349"/>
            <a:ext cx="2834640" cy="1005840"/>
          </a:xfrm>
          <a:prstGeom prst="rect">
            <a:avLst/>
          </a:prstGeom>
          <a:noFill/>
          <a:ln/>
        </p:spPr>
        <p:txBody>
          <a:bodyPr wrap="square" rtlCol="0" anchor="ctr"/>
          <a:lstStyle/>
          <a:p>
            <a:pPr marL="0" indent="0" algn="ctr">
              <a:buNone/>
            </a:pPr>
            <a:r>
              <a:rPr lang="en-US" sz="1200" dirty="0">
                <a:solidFill>
                  <a:srgbClr val="CBD5E1"/>
                </a:solidFill>
                <a:latin typeface="Arial" pitchFamily="34" charset="0"/>
                <a:ea typeface="Arial" pitchFamily="34" charset="-122"/>
                <a:cs typeface="Arial" pitchFamily="34" charset="-120"/>
              </a:rPr>
              <a:t>Low memory footprint; sets structural validation limits.</a:t>
            </a:r>
            <a:endParaRPr lang="en-US" sz="1200" dirty="0"/>
          </a:p>
        </p:txBody>
      </p:sp>
      <p:sp>
        <p:nvSpPr>
          <p:cNvPr id="8" name="Shape 6"/>
          <p:cNvSpPr/>
          <p:nvPr/>
        </p:nvSpPr>
        <p:spPr>
          <a:xfrm>
            <a:off x="3209544" y="1463040"/>
            <a:ext cx="2871216" cy="1828800"/>
          </a:xfrm>
          <a:prstGeom prst="rect">
            <a:avLst/>
          </a:prstGeom>
          <a:solidFill>
            <a:srgbClr val="162238"/>
          </a:solidFill>
          <a:ln w="25400">
            <a:solidFill>
              <a:srgbClr val="DEFF9A"/>
            </a:solidFill>
            <a:prstDash val="solid"/>
          </a:ln>
        </p:spPr>
        <p:txBody>
          <a:bodyPr/>
          <a:lstStyle/>
          <a:p>
            <a:endParaRPr lang="en-IN" dirty="0"/>
          </a:p>
        </p:txBody>
      </p:sp>
      <p:sp>
        <p:nvSpPr>
          <p:cNvPr id="9" name="Text 7"/>
          <p:cNvSpPr/>
          <p:nvPr/>
        </p:nvSpPr>
        <p:spPr>
          <a:xfrm>
            <a:off x="3246120" y="1691640"/>
            <a:ext cx="2834640" cy="365760"/>
          </a:xfrm>
          <a:prstGeom prst="rect">
            <a:avLst/>
          </a:prstGeom>
          <a:noFill/>
          <a:ln/>
        </p:spPr>
        <p:txBody>
          <a:bodyPr wrap="square" rtlCol="0" anchor="ctr"/>
          <a:lstStyle/>
          <a:p>
            <a:pPr marL="0" indent="0" algn="ctr">
              <a:buNone/>
            </a:pPr>
            <a:r>
              <a:rPr lang="en-US" sz="1600" b="1" dirty="0">
                <a:solidFill>
                  <a:srgbClr val="DEFF9A"/>
                </a:solidFill>
                <a:latin typeface="Arial" pitchFamily="34" charset="0"/>
                <a:ea typeface="Arial" pitchFamily="34" charset="-122"/>
                <a:cs typeface="Arial" pitchFamily="34" charset="-120"/>
              </a:rPr>
              <a:t>Gemma 3 4B</a:t>
            </a:r>
            <a:endParaRPr lang="en-US" sz="1600" dirty="0"/>
          </a:p>
        </p:txBody>
      </p:sp>
      <p:sp>
        <p:nvSpPr>
          <p:cNvPr id="10" name="Text 8"/>
          <p:cNvSpPr/>
          <p:nvPr/>
        </p:nvSpPr>
        <p:spPr>
          <a:xfrm>
            <a:off x="3429000" y="2125639"/>
            <a:ext cx="2834640" cy="1005840"/>
          </a:xfrm>
          <a:prstGeom prst="rect">
            <a:avLst/>
          </a:prstGeom>
          <a:noFill/>
          <a:ln/>
        </p:spPr>
        <p:txBody>
          <a:bodyPr wrap="square" rtlCol="0" anchor="ctr"/>
          <a:lstStyle/>
          <a:p>
            <a:pPr marL="0" indent="0" algn="ctr">
              <a:buNone/>
            </a:pPr>
            <a:r>
              <a:rPr lang="en-US" sz="1200" dirty="0">
                <a:solidFill>
                  <a:srgbClr val="CBD5E1"/>
                </a:solidFill>
                <a:latin typeface="Arial" pitchFamily="34" charset="0"/>
                <a:ea typeface="Arial" pitchFamily="34" charset="-122"/>
                <a:cs typeface="Arial" pitchFamily="34" charset="-120"/>
              </a:rPr>
              <a:t>Balanced runtime efficiency; detects context gaps cleanly.</a:t>
            </a:r>
            <a:endParaRPr lang="en-US" sz="1200" dirty="0"/>
          </a:p>
        </p:txBody>
      </p:sp>
      <p:sp>
        <p:nvSpPr>
          <p:cNvPr id="11" name="Shape 9"/>
          <p:cNvSpPr/>
          <p:nvPr/>
        </p:nvSpPr>
        <p:spPr>
          <a:xfrm>
            <a:off x="6355080" y="1448709"/>
            <a:ext cx="2651760" cy="1828800"/>
          </a:xfrm>
          <a:prstGeom prst="rect">
            <a:avLst/>
          </a:prstGeom>
          <a:solidFill>
            <a:srgbClr val="162238"/>
          </a:solidFill>
          <a:ln w="25400">
            <a:solidFill>
              <a:srgbClr val="10B981"/>
            </a:solidFill>
            <a:prstDash val="solid"/>
          </a:ln>
        </p:spPr>
        <p:txBody>
          <a:bodyPr/>
          <a:lstStyle/>
          <a:p>
            <a:endParaRPr lang="en-IN" dirty="0"/>
          </a:p>
        </p:txBody>
      </p:sp>
      <p:sp>
        <p:nvSpPr>
          <p:cNvPr id="12" name="Text 10"/>
          <p:cNvSpPr/>
          <p:nvPr/>
        </p:nvSpPr>
        <p:spPr>
          <a:xfrm>
            <a:off x="6309360" y="1645920"/>
            <a:ext cx="2834640" cy="365760"/>
          </a:xfrm>
          <a:prstGeom prst="rect">
            <a:avLst/>
          </a:prstGeom>
          <a:noFill/>
          <a:ln/>
        </p:spPr>
        <p:txBody>
          <a:bodyPr wrap="square" rtlCol="0" anchor="ctr"/>
          <a:lstStyle/>
          <a:p>
            <a:pPr marL="0" indent="0" algn="ctr">
              <a:buNone/>
            </a:pPr>
            <a:r>
              <a:rPr lang="en-US" sz="1600" b="1" dirty="0">
                <a:solidFill>
                  <a:srgbClr val="10B981"/>
                </a:solidFill>
                <a:latin typeface="Arial" pitchFamily="34" charset="0"/>
                <a:ea typeface="Arial" pitchFamily="34" charset="-122"/>
                <a:cs typeface="Arial" pitchFamily="34" charset="-120"/>
              </a:rPr>
              <a:t>Gemma 9B (12B Class)</a:t>
            </a:r>
            <a:endParaRPr lang="en-US" sz="1600" dirty="0"/>
          </a:p>
        </p:txBody>
      </p:sp>
      <p:sp>
        <p:nvSpPr>
          <p:cNvPr id="13" name="Text 11"/>
          <p:cNvSpPr/>
          <p:nvPr/>
        </p:nvSpPr>
        <p:spPr>
          <a:xfrm>
            <a:off x="6355080" y="2107214"/>
            <a:ext cx="2834640" cy="1005840"/>
          </a:xfrm>
          <a:prstGeom prst="rect">
            <a:avLst/>
          </a:prstGeom>
          <a:noFill/>
          <a:ln/>
        </p:spPr>
        <p:txBody>
          <a:bodyPr wrap="square" rtlCol="0" anchor="ctr"/>
          <a:lstStyle/>
          <a:p>
            <a:pPr marL="0" indent="0" algn="ctr">
              <a:buNone/>
            </a:pPr>
            <a:r>
              <a:rPr lang="en-US" sz="1200" dirty="0">
                <a:solidFill>
                  <a:srgbClr val="CBD5E1"/>
                </a:solidFill>
                <a:latin typeface="Arial" pitchFamily="34" charset="0"/>
                <a:ea typeface="Arial" pitchFamily="34" charset="-122"/>
                <a:cs typeface="Arial" pitchFamily="34" charset="-120"/>
              </a:rPr>
              <a:t>Deep context layer processing; flags fine repetition loops.</a:t>
            </a:r>
            <a:endParaRPr lang="en-US" sz="1200" dirty="0"/>
          </a:p>
        </p:txBody>
      </p:sp>
      <p:sp>
        <p:nvSpPr>
          <p:cNvPr id="14" name="Text 12"/>
          <p:cNvSpPr/>
          <p:nvPr/>
        </p:nvSpPr>
        <p:spPr>
          <a:xfrm>
            <a:off x="88710" y="3574348"/>
            <a:ext cx="8966579" cy="1280160"/>
          </a:xfrm>
          <a:prstGeom prst="rect">
            <a:avLst/>
          </a:prstGeom>
          <a:solidFill>
            <a:srgbClr val="162238"/>
          </a:solidFill>
          <a:ln/>
        </p:spPr>
        <p:txBody>
          <a:bodyPr wrap="square" rtlCol="0" anchor="ctr"/>
          <a:lstStyle/>
          <a:p>
            <a:pPr marL="0" indent="0">
              <a:buNone/>
            </a:pPr>
            <a:endParaRPr lang="en-US" sz="1300" dirty="0"/>
          </a:p>
          <a:p>
            <a:pPr marL="0" indent="0" algn="ctr">
              <a:buNone/>
            </a:pPr>
            <a:r>
              <a:rPr lang="en-US" sz="1300" dirty="0">
                <a:solidFill>
                  <a:srgbClr val="FFFFFF"/>
                </a:solidFill>
                <a:latin typeface="Arial" pitchFamily="34" charset="0"/>
                <a:ea typeface="Arial" pitchFamily="34" charset="-122"/>
                <a:cs typeface="Arial" pitchFamily="34" charset="-120"/>
              </a:rPr>
              <a:t>                         Critical Benchmarking Shift: While Gemma 2B and 4B identified Garden2006 as the most stable baseline, the high-capacity **Gemma 9B** runtime exposed hidden loop anomalies, declaring **KaliNangia/whisper-large-v3-turbo** the actual winner due to nuance tracking.</a:t>
            </a:r>
            <a:endParaRPr lang="en-US" sz="1300" dirty="0"/>
          </a:p>
          <a:p>
            <a:pPr marL="0" indent="0">
              <a:buNone/>
            </a:pPr>
            <a:r>
              <a:rPr lang="en-US" sz="1300" dirty="0">
                <a:solidFill>
                  <a:srgbClr val="FFFFFF"/>
                </a:solidFill>
                <a:latin typeface="Arial" pitchFamily="34" charset="0"/>
                <a:ea typeface="Arial" pitchFamily="34" charset="-122"/>
                <a:cs typeface="Arial" pitchFamily="34" charset="-120"/>
              </a:rPr>
              <a:t>                    </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8">
    <p:bg>
      <p:bgPr>
        <a:solidFill>
          <a:srgbClr val="0B0F19"/>
        </a:solidFill>
        <a:effectLst/>
      </p:bgPr>
    </p:bg>
    <p:spTree>
      <p:nvGrpSpPr>
        <p:cNvPr id="1" name=""/>
        <p:cNvGrpSpPr/>
        <p:nvPr/>
      </p:nvGrpSpPr>
      <p:grpSpPr>
        <a:xfrm>
          <a:off x="0" y="0"/>
          <a:ext cx="0" cy="0"/>
          <a:chOff x="0" y="0"/>
          <a:chExt cx="0" cy="0"/>
        </a:xfrm>
      </p:grpSpPr>
      <p:sp>
        <p:nvSpPr>
          <p:cNvPr id="2" name="Shape 0"/>
          <p:cNvSpPr/>
          <p:nvPr/>
        </p:nvSpPr>
        <p:spPr>
          <a:xfrm>
            <a:off x="731520" y="457200"/>
            <a:ext cx="73152" cy="548640"/>
          </a:xfrm>
          <a:prstGeom prst="rect">
            <a:avLst/>
          </a:prstGeom>
          <a:solidFill>
            <a:srgbClr val="DEFF9A"/>
          </a:solidFill>
          <a:ln/>
        </p:spPr>
        <p:txBody>
          <a:bodyPr/>
          <a:lstStyle/>
          <a:p>
            <a:endParaRPr lang="en-IN"/>
          </a:p>
        </p:txBody>
      </p:sp>
      <p:sp>
        <p:nvSpPr>
          <p:cNvPr id="3" name="Text 1"/>
          <p:cNvSpPr/>
          <p:nvPr/>
        </p:nvSpPr>
        <p:spPr>
          <a:xfrm>
            <a:off x="914400" y="457200"/>
            <a:ext cx="105156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Preventing T4 OOM Errors During Scaling</a:t>
            </a:r>
            <a:endParaRPr lang="en-US" sz="2600" dirty="0"/>
          </a:p>
        </p:txBody>
      </p:sp>
      <p:sp>
        <p:nvSpPr>
          <p:cNvPr id="4" name="Shape 2"/>
          <p:cNvSpPr/>
          <p:nvPr/>
        </p:nvSpPr>
        <p:spPr>
          <a:xfrm>
            <a:off x="731520" y="6217920"/>
            <a:ext cx="10698480" cy="18288"/>
          </a:xfrm>
          <a:prstGeom prst="rect">
            <a:avLst/>
          </a:prstGeom>
          <a:solidFill>
            <a:srgbClr val="1A2948"/>
          </a:solidFill>
          <a:ln/>
        </p:spPr>
        <p:txBody>
          <a:bodyPr/>
          <a:lstStyle/>
          <a:p>
            <a:endParaRPr lang="en-IN"/>
          </a:p>
        </p:txBody>
      </p:sp>
      <p:sp>
        <p:nvSpPr>
          <p:cNvPr id="5" name="Text 3"/>
          <p:cNvSpPr/>
          <p:nvPr/>
        </p:nvSpPr>
        <p:spPr>
          <a:xfrm>
            <a:off x="365761" y="1425509"/>
            <a:ext cx="5120640" cy="457200"/>
          </a:xfrm>
          <a:prstGeom prst="rect">
            <a:avLst/>
          </a:prstGeom>
          <a:noFill/>
          <a:ln/>
        </p:spPr>
        <p:txBody>
          <a:bodyPr wrap="square" rtlCol="0" anchor="ctr"/>
          <a:lstStyle/>
          <a:p>
            <a:pPr marL="0" indent="0">
              <a:buNone/>
            </a:pPr>
            <a:r>
              <a:rPr lang="en-US" sz="2000" b="1" dirty="0">
                <a:solidFill>
                  <a:srgbClr val="DEFF9A"/>
                </a:solidFill>
                <a:latin typeface="Arial" pitchFamily="34" charset="0"/>
                <a:ea typeface="Arial" pitchFamily="34" charset="-122"/>
                <a:cs typeface="Arial" pitchFamily="34" charset="-120"/>
              </a:rPr>
              <a:t>Memory Allocation Mechanics</a:t>
            </a:r>
            <a:endParaRPr lang="en-US" sz="2000" dirty="0"/>
          </a:p>
        </p:txBody>
      </p:sp>
      <p:sp>
        <p:nvSpPr>
          <p:cNvPr id="6" name="Text 4"/>
          <p:cNvSpPr/>
          <p:nvPr/>
        </p:nvSpPr>
        <p:spPr>
          <a:xfrm>
            <a:off x="212905" y="1463040"/>
            <a:ext cx="4249913" cy="3474720"/>
          </a:xfrm>
          <a:prstGeom prst="rect">
            <a:avLst/>
          </a:prstGeom>
          <a:noFill/>
          <a:ln/>
        </p:spPr>
        <p:txBody>
          <a:bodyPr wrap="square" rtlCol="0" anchor="ctr"/>
          <a:lstStyle/>
          <a:p>
            <a:pPr marL="0" indent="0">
              <a:buNone/>
            </a:pPr>
            <a:r>
              <a:rPr lang="en-US" sz="1300" dirty="0">
                <a:solidFill>
                  <a:srgbClr val="CBD5E1"/>
                </a:solidFill>
                <a:latin typeface="Arial" pitchFamily="34" charset="0"/>
                <a:ea typeface="Arial" pitchFamily="34" charset="-122"/>
                <a:cs typeface="Arial" pitchFamily="34" charset="-120"/>
              </a:rPr>
              <a:t>Loading the unified class Gemma 9B layer directly after processing 2B/4B models causes instant memory collision errors on free Google Colab nodes.</a:t>
            </a:r>
            <a:endParaRPr lang="en-US" sz="1300" dirty="0"/>
          </a:p>
          <a:p>
            <a:pPr marL="0" indent="0">
              <a:buNone/>
            </a:pPr>
            <a:endParaRPr lang="en-US" sz="1300" dirty="0"/>
          </a:p>
          <a:p>
            <a:pPr marL="0" indent="0">
              <a:buNone/>
            </a:pPr>
            <a:r>
              <a:rPr lang="en-US" sz="1300" dirty="0">
                <a:solidFill>
                  <a:srgbClr val="CBD5E1"/>
                </a:solidFill>
                <a:latin typeface="Arial" pitchFamily="34" charset="0"/>
                <a:ea typeface="Arial" pitchFamily="34" charset="-122"/>
                <a:cs typeface="Arial" pitchFamily="34" charset="-120"/>
              </a:rPr>
              <a:t>The notebook resolves this by executing a structured teardown pipeline between inference blocks to keep active VRAM allocation under **5.8 GB**.</a:t>
            </a:r>
            <a:endParaRPr lang="en-US" sz="1300" dirty="0"/>
          </a:p>
        </p:txBody>
      </p:sp>
      <p:sp>
        <p:nvSpPr>
          <p:cNvPr id="7" name="Shape 5"/>
          <p:cNvSpPr/>
          <p:nvPr/>
        </p:nvSpPr>
        <p:spPr>
          <a:xfrm>
            <a:off x="4462818" y="1463040"/>
            <a:ext cx="4315421" cy="3515868"/>
          </a:xfrm>
          <a:prstGeom prst="rect">
            <a:avLst/>
          </a:prstGeom>
          <a:solidFill>
            <a:srgbClr val="162238"/>
          </a:solidFill>
          <a:ln/>
        </p:spPr>
        <p:txBody>
          <a:bodyPr/>
          <a:lstStyle/>
          <a:p>
            <a:endParaRPr lang="en-IN"/>
          </a:p>
        </p:txBody>
      </p:sp>
      <p:sp>
        <p:nvSpPr>
          <p:cNvPr id="8" name="Text 6"/>
          <p:cNvSpPr/>
          <p:nvPr/>
        </p:nvSpPr>
        <p:spPr>
          <a:xfrm>
            <a:off x="4572000" y="1595628"/>
            <a:ext cx="4663440" cy="365760"/>
          </a:xfrm>
          <a:prstGeom prst="rect">
            <a:avLst/>
          </a:prstGeom>
          <a:noFill/>
          <a:ln/>
        </p:spPr>
        <p:txBody>
          <a:bodyPr wrap="square" rtlCol="0" anchor="ctr"/>
          <a:lstStyle/>
          <a:p>
            <a:pPr marL="0" indent="0">
              <a:buNone/>
            </a:pPr>
            <a:r>
              <a:rPr lang="en-US" sz="1600" b="1" dirty="0">
                <a:solidFill>
                  <a:srgbClr val="FF8B8B"/>
                </a:solidFill>
                <a:latin typeface="Arial" pitchFamily="34" charset="0"/>
                <a:ea typeface="Arial" pitchFamily="34" charset="-122"/>
                <a:cs typeface="Arial" pitchFamily="34" charset="-120"/>
              </a:rPr>
              <a:t> Garbage Collection &amp; Cache Purge</a:t>
            </a:r>
            <a:endParaRPr lang="en-US" sz="1600" dirty="0"/>
          </a:p>
        </p:txBody>
      </p:sp>
      <p:sp>
        <p:nvSpPr>
          <p:cNvPr id="9" name="Text 7"/>
          <p:cNvSpPr/>
          <p:nvPr/>
        </p:nvSpPr>
        <p:spPr>
          <a:xfrm>
            <a:off x="4572000" y="2027580"/>
            <a:ext cx="3603009" cy="2658720"/>
          </a:xfrm>
          <a:prstGeom prst="rect">
            <a:avLst/>
          </a:prstGeom>
          <a:solidFill>
            <a:srgbClr val="000000"/>
          </a:solidFill>
          <a:ln/>
        </p:spPr>
        <p:txBody>
          <a:bodyPr wrap="square"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import gc</a:t>
            </a:r>
            <a:endParaRPr lang="en-US" sz="1100" dirty="0"/>
          </a:p>
          <a:p>
            <a:pPr marL="0" indent="0">
              <a:buNone/>
            </a:pPr>
            <a:r>
              <a:rPr lang="en-US" sz="1100" dirty="0">
                <a:solidFill>
                  <a:srgbClr val="FFFFFF"/>
                </a:solidFill>
                <a:latin typeface="Courier New" pitchFamily="34" charset="0"/>
                <a:ea typeface="Courier New" pitchFamily="34" charset="-122"/>
                <a:cs typeface="Courier New" pitchFamily="34" charset="-120"/>
              </a:rPr>
              <a:t>import torch</a:t>
            </a:r>
            <a:endParaRPr lang="en-US" sz="1100" dirty="0"/>
          </a:p>
          <a:p>
            <a:pPr marL="0" indent="0">
              <a:buNone/>
            </a:pPr>
            <a:endParaRPr lang="en-US" sz="1100" dirty="0"/>
          </a:p>
          <a:p>
            <a:pPr marL="0" indent="0">
              <a:buNone/>
            </a:pPr>
            <a:r>
              <a:rPr lang="en-US" sz="1100" dirty="0">
                <a:solidFill>
                  <a:srgbClr val="FFFFFF"/>
                </a:solidFill>
                <a:latin typeface="Courier New" pitchFamily="34" charset="0"/>
                <a:ea typeface="Courier New" pitchFamily="34" charset="-122"/>
                <a:cs typeface="Courier New" pitchFamily="34" charset="-120"/>
              </a:rPr>
              <a:t># Delete variables and break links</a:t>
            </a:r>
            <a:endParaRPr lang="en-US" sz="1100" dirty="0"/>
          </a:p>
          <a:p>
            <a:pPr marL="0" indent="0">
              <a:buNone/>
            </a:pPr>
            <a:r>
              <a:rPr lang="en-US" sz="1100" dirty="0">
                <a:solidFill>
                  <a:srgbClr val="FFFFFF"/>
                </a:solidFill>
                <a:latin typeface="Courier New" pitchFamily="34" charset="0"/>
                <a:ea typeface="Courier New" pitchFamily="34" charset="-122"/>
                <a:cs typeface="Courier New" pitchFamily="34" charset="-120"/>
              </a:rPr>
              <a:t>del model, tokenizer, trainer</a:t>
            </a:r>
            <a:endParaRPr lang="en-US" sz="1100" dirty="0"/>
          </a:p>
          <a:p>
            <a:pPr marL="0" indent="0">
              <a:buNone/>
            </a:pPr>
            <a:r>
              <a:rPr lang="en-US" sz="1100" dirty="0">
                <a:solidFill>
                  <a:srgbClr val="FFFFFF"/>
                </a:solidFill>
                <a:latin typeface="Courier New" pitchFamily="34" charset="0"/>
                <a:ea typeface="Courier New" pitchFamily="34" charset="-122"/>
                <a:cs typeface="Courier New" pitchFamily="34" charset="-120"/>
              </a:rPr>
              <a:t>gc.collect()</a:t>
            </a:r>
            <a:endParaRPr lang="en-US" sz="1100" dirty="0"/>
          </a:p>
          <a:p>
            <a:pPr marL="0" indent="0">
              <a:buNone/>
            </a:pPr>
            <a:endParaRPr lang="en-US" sz="1100" dirty="0"/>
          </a:p>
          <a:p>
            <a:pPr marL="0" indent="0">
              <a:buNone/>
            </a:pPr>
            <a:r>
              <a:rPr lang="en-US" sz="1100" dirty="0">
                <a:solidFill>
                  <a:srgbClr val="FFFFFF"/>
                </a:solidFill>
                <a:latin typeface="Courier New" pitchFamily="34" charset="0"/>
                <a:ea typeface="Courier New" pitchFamily="34" charset="-122"/>
                <a:cs typeface="Courier New" pitchFamily="34" charset="-120"/>
              </a:rPr>
              <a:t># Hard purge unallocated VRAM segments</a:t>
            </a:r>
            <a:endParaRPr lang="en-US" sz="1100" dirty="0"/>
          </a:p>
          <a:p>
            <a:pPr marL="0" indent="0">
              <a:buNone/>
            </a:pPr>
            <a:r>
              <a:rPr lang="en-US" sz="1100" dirty="0">
                <a:solidFill>
                  <a:srgbClr val="FFFFFF"/>
                </a:solidFill>
                <a:latin typeface="Courier New" pitchFamily="34" charset="0"/>
                <a:ea typeface="Courier New" pitchFamily="34" charset="-122"/>
                <a:cs typeface="Courier New" pitchFamily="34" charset="-120"/>
              </a:rPr>
              <a:t>torch.cuda.empty_cache()</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9">
    <p:bg>
      <p:bgPr>
        <a:solidFill>
          <a:srgbClr val="0B0F19"/>
        </a:solidFill>
        <a:effectLst/>
      </p:bgPr>
    </p:bg>
    <p:spTree>
      <p:nvGrpSpPr>
        <p:cNvPr id="1" name=""/>
        <p:cNvGrpSpPr/>
        <p:nvPr/>
      </p:nvGrpSpPr>
      <p:grpSpPr>
        <a:xfrm>
          <a:off x="0" y="0"/>
          <a:ext cx="0" cy="0"/>
          <a:chOff x="0" y="0"/>
          <a:chExt cx="0" cy="0"/>
        </a:xfrm>
      </p:grpSpPr>
      <p:sp>
        <p:nvSpPr>
          <p:cNvPr id="2" name="Text 0"/>
          <p:cNvSpPr/>
          <p:nvPr/>
        </p:nvSpPr>
        <p:spPr>
          <a:xfrm>
            <a:off x="914400" y="1645920"/>
            <a:ext cx="10332720" cy="1828800"/>
          </a:xfrm>
          <a:prstGeom prst="rect">
            <a:avLst/>
          </a:prstGeom>
          <a:noFill/>
          <a:ln/>
        </p:spPr>
        <p:txBody>
          <a:bodyPr wrap="square" rtlCol="0" anchor="ctr"/>
          <a:lstStyle/>
          <a:p>
            <a:pPr marL="0" indent="0" algn="ctr">
              <a:buNone/>
            </a:pPr>
            <a:endParaRPr lang="en-US" sz="5600" dirty="0"/>
          </a:p>
        </p:txBody>
      </p:sp>
      <p:sp>
        <p:nvSpPr>
          <p:cNvPr id="3" name="Text 1"/>
          <p:cNvSpPr/>
          <p:nvPr/>
        </p:nvSpPr>
        <p:spPr>
          <a:xfrm>
            <a:off x="914400" y="3474720"/>
            <a:ext cx="10332720" cy="731520"/>
          </a:xfrm>
          <a:prstGeom prst="rect">
            <a:avLst/>
          </a:prstGeom>
          <a:noFill/>
          <a:ln/>
        </p:spPr>
        <p:txBody>
          <a:bodyPr wrap="square" rtlCol="0" anchor="ctr"/>
          <a:lstStyle/>
          <a:p>
            <a:pPr marL="0" indent="0" algn="ctr">
              <a:buNone/>
            </a:pPr>
            <a:endParaRPr lang="en-US" sz="2000" dirty="0"/>
          </a:p>
        </p:txBody>
      </p:sp>
      <p:sp>
        <p:nvSpPr>
          <p:cNvPr id="4" name="Text 2"/>
          <p:cNvSpPr/>
          <p:nvPr/>
        </p:nvSpPr>
        <p:spPr>
          <a:xfrm>
            <a:off x="320040" y="346840"/>
            <a:ext cx="8503920" cy="590419"/>
          </a:xfrm>
          <a:prstGeom prst="rect">
            <a:avLst/>
          </a:prstGeom>
          <a:noFill/>
          <a:ln w="19050">
            <a:solidFill>
              <a:srgbClr val="DEFF9A"/>
            </a:solidFill>
            <a:prstDash val="dash"/>
          </a:ln>
        </p:spPr>
        <p:txBody>
          <a:bodyPr wrap="square" rtlCol="0" anchor="ctr"/>
          <a:lstStyle/>
          <a:p>
            <a:pPr marL="0" indent="0" algn="ctr">
              <a:buNone/>
            </a:pPr>
            <a:r>
              <a:rPr lang="en-US" sz="2800" dirty="0">
                <a:solidFill>
                  <a:schemeClr val="bg1"/>
                </a:solidFill>
              </a:rPr>
              <a:t>Using Sarvam Models</a:t>
            </a:r>
          </a:p>
        </p:txBody>
      </p:sp>
      <p:sp>
        <p:nvSpPr>
          <p:cNvPr id="5" name="TextBox 4">
            <a:extLst>
              <a:ext uri="{FF2B5EF4-FFF2-40B4-BE49-F238E27FC236}">
                <a16:creationId xmlns:a16="http://schemas.microsoft.com/office/drawing/2014/main" id="{9E6ECB8F-DC25-266C-8BD4-5775209D7760}"/>
              </a:ext>
            </a:extLst>
          </p:cNvPr>
          <p:cNvSpPr txBox="1"/>
          <p:nvPr/>
        </p:nvSpPr>
        <p:spPr>
          <a:xfrm>
            <a:off x="320040" y="1082566"/>
            <a:ext cx="8503920" cy="1477328"/>
          </a:xfrm>
          <a:prstGeom prst="rect">
            <a:avLst/>
          </a:prstGeom>
          <a:noFill/>
        </p:spPr>
        <p:txBody>
          <a:bodyPr wrap="square" rtlCol="0">
            <a:spAutoFit/>
          </a:bodyPr>
          <a:lstStyle/>
          <a:p>
            <a:pPr marL="285750" indent="-285750">
              <a:buFont typeface="Arial" panose="020B0604020202020204" pitchFamily="34" charset="0"/>
              <a:buChar char="•"/>
            </a:pPr>
            <a:r>
              <a:rPr lang="en-IN" dirty="0">
                <a:solidFill>
                  <a:schemeClr val="bg1"/>
                </a:solidFill>
              </a:rPr>
              <a:t>Used Sarvam models 2B,24B(Sarvam-M), Sarvam 30B.</a:t>
            </a:r>
          </a:p>
          <a:p>
            <a:pPr marL="285750" indent="-285750">
              <a:buFont typeface="Arial" panose="020B0604020202020204" pitchFamily="34" charset="0"/>
              <a:buChar char="•"/>
            </a:pPr>
            <a:r>
              <a:rPr lang="en-IN" dirty="0">
                <a:solidFill>
                  <a:schemeClr val="bg1"/>
                </a:solidFill>
              </a:rPr>
              <a:t>The models Sarvam 24B, Sarvam 30B took large amount of storage and showed OOM so the two models failed.</a:t>
            </a:r>
          </a:p>
          <a:p>
            <a:pPr marL="285750" indent="-285750">
              <a:buFont typeface="Arial" panose="020B0604020202020204" pitchFamily="34" charset="0"/>
              <a:buChar char="•"/>
            </a:pPr>
            <a:r>
              <a:rPr lang="en-IN" dirty="0">
                <a:solidFill>
                  <a:schemeClr val="bg1"/>
                </a:solidFill>
              </a:rPr>
              <a:t>Only Sarvam 2B showed an output and gave a report.</a:t>
            </a:r>
          </a:p>
          <a:p>
            <a:pPr marL="285750" indent="-285750">
              <a:buFont typeface="Arial" panose="020B0604020202020204" pitchFamily="34" charset="0"/>
              <a:buChar char="•"/>
            </a:pPr>
            <a:r>
              <a:rPr lang="en-IN" dirty="0">
                <a:solidFill>
                  <a:schemeClr val="bg1"/>
                </a:solidFill>
              </a:rPr>
              <a:t>The report did not show what it represent.</a:t>
            </a:r>
          </a:p>
        </p:txBody>
      </p:sp>
      <p:sp>
        <p:nvSpPr>
          <p:cNvPr id="6" name="Shape 0">
            <a:extLst>
              <a:ext uri="{FF2B5EF4-FFF2-40B4-BE49-F238E27FC236}">
                <a16:creationId xmlns:a16="http://schemas.microsoft.com/office/drawing/2014/main" id="{5DAA0CAB-FBE7-CDD1-4B20-996C3EB77622}"/>
              </a:ext>
            </a:extLst>
          </p:cNvPr>
          <p:cNvSpPr/>
          <p:nvPr/>
        </p:nvSpPr>
        <p:spPr>
          <a:xfrm>
            <a:off x="552845" y="339904"/>
            <a:ext cx="73152" cy="548640"/>
          </a:xfrm>
          <a:prstGeom prst="rect">
            <a:avLst/>
          </a:prstGeom>
          <a:solidFill>
            <a:srgbClr val="DEFF9A"/>
          </a:solidFill>
          <a:ln/>
        </p:spPr>
        <p:txBody>
          <a:bodyPr/>
          <a:lstStyle/>
          <a:p>
            <a:endParaRPr lang="en-IN"/>
          </a:p>
        </p:txBody>
      </p:sp>
      <p:pic>
        <p:nvPicPr>
          <p:cNvPr id="8" name="Picture 7">
            <a:extLst>
              <a:ext uri="{FF2B5EF4-FFF2-40B4-BE49-F238E27FC236}">
                <a16:creationId xmlns:a16="http://schemas.microsoft.com/office/drawing/2014/main" id="{E27E03A2-5F4F-4B53-4A0D-D8F0F937D79B}"/>
              </a:ext>
            </a:extLst>
          </p:cNvPr>
          <p:cNvPicPr>
            <a:picLocks noChangeAspect="1"/>
          </p:cNvPicPr>
          <p:nvPr/>
        </p:nvPicPr>
        <p:blipFill>
          <a:blip r:embed="rId3"/>
          <a:stretch>
            <a:fillRect/>
          </a:stretch>
        </p:blipFill>
        <p:spPr>
          <a:xfrm>
            <a:off x="793199" y="2936482"/>
            <a:ext cx="7116168" cy="107647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a:extLst>
            <a:ext uri="{FF2B5EF4-FFF2-40B4-BE49-F238E27FC236}">
              <a16:creationId xmlns:a16="http://schemas.microsoft.com/office/drawing/2014/main" id="{AF8F54F8-F087-F93A-3E2A-8E629C22D82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933D05B-7161-1790-A3ED-7D2BBFDD0061}"/>
              </a:ext>
            </a:extLst>
          </p:cNvPr>
          <p:cNvSpPr/>
          <p:nvPr/>
        </p:nvSpPr>
        <p:spPr>
          <a:xfrm>
            <a:off x="914400" y="1645920"/>
            <a:ext cx="10332720" cy="1828800"/>
          </a:xfrm>
          <a:prstGeom prst="rect">
            <a:avLst/>
          </a:prstGeom>
          <a:noFill/>
          <a:ln/>
        </p:spPr>
        <p:txBody>
          <a:bodyPr wrap="square" rtlCol="0" anchor="ctr"/>
          <a:lstStyle/>
          <a:p>
            <a:pPr marL="0" indent="0" algn="ctr">
              <a:buNone/>
            </a:pPr>
            <a:endParaRPr lang="en-US" sz="5600" dirty="0"/>
          </a:p>
        </p:txBody>
      </p:sp>
      <p:sp>
        <p:nvSpPr>
          <p:cNvPr id="3" name="Text 1">
            <a:extLst>
              <a:ext uri="{FF2B5EF4-FFF2-40B4-BE49-F238E27FC236}">
                <a16:creationId xmlns:a16="http://schemas.microsoft.com/office/drawing/2014/main" id="{99281370-4836-F74D-1954-C623A820D2F7}"/>
              </a:ext>
            </a:extLst>
          </p:cNvPr>
          <p:cNvSpPr/>
          <p:nvPr/>
        </p:nvSpPr>
        <p:spPr>
          <a:xfrm>
            <a:off x="914400" y="3474720"/>
            <a:ext cx="10332720" cy="731520"/>
          </a:xfrm>
          <a:prstGeom prst="rect">
            <a:avLst/>
          </a:prstGeom>
          <a:noFill/>
          <a:ln/>
        </p:spPr>
        <p:txBody>
          <a:bodyPr wrap="square" rtlCol="0" anchor="ctr"/>
          <a:lstStyle/>
          <a:p>
            <a:pPr marL="0" indent="0" algn="ctr">
              <a:buNone/>
            </a:pPr>
            <a:endParaRPr lang="en-US" sz="2000" dirty="0"/>
          </a:p>
        </p:txBody>
      </p:sp>
      <p:sp>
        <p:nvSpPr>
          <p:cNvPr id="4" name="Text 2">
            <a:extLst>
              <a:ext uri="{FF2B5EF4-FFF2-40B4-BE49-F238E27FC236}">
                <a16:creationId xmlns:a16="http://schemas.microsoft.com/office/drawing/2014/main" id="{6115A0FA-69B3-FCFB-67BD-1BBAB0163655}"/>
              </a:ext>
            </a:extLst>
          </p:cNvPr>
          <p:cNvSpPr/>
          <p:nvPr/>
        </p:nvSpPr>
        <p:spPr>
          <a:xfrm>
            <a:off x="320040" y="336075"/>
            <a:ext cx="8503920" cy="548640"/>
          </a:xfrm>
          <a:prstGeom prst="rect">
            <a:avLst/>
          </a:prstGeom>
          <a:noFill/>
          <a:ln w="19050">
            <a:solidFill>
              <a:srgbClr val="DEFF9A"/>
            </a:solidFill>
            <a:prstDash val="dash"/>
          </a:ln>
        </p:spPr>
        <p:txBody>
          <a:bodyPr wrap="square" rtlCol="0" anchor="ctr"/>
          <a:lstStyle/>
          <a:p>
            <a:pPr marL="0" indent="0" algn="ctr">
              <a:buNone/>
            </a:pPr>
            <a:endParaRPr lang="en-US" sz="1100" dirty="0"/>
          </a:p>
        </p:txBody>
      </p:sp>
      <p:sp>
        <p:nvSpPr>
          <p:cNvPr id="6" name="Shape 3">
            <a:extLst>
              <a:ext uri="{FF2B5EF4-FFF2-40B4-BE49-F238E27FC236}">
                <a16:creationId xmlns:a16="http://schemas.microsoft.com/office/drawing/2014/main" id="{E7EF68E2-2EA3-81E8-FDCA-41CCCBC8F58C}"/>
              </a:ext>
            </a:extLst>
          </p:cNvPr>
          <p:cNvSpPr/>
          <p:nvPr/>
        </p:nvSpPr>
        <p:spPr>
          <a:xfrm>
            <a:off x="200722" y="1463040"/>
            <a:ext cx="8623238" cy="3543858"/>
          </a:xfrm>
          <a:prstGeom prst="rect">
            <a:avLst/>
          </a:prstGeom>
          <a:solidFill>
            <a:srgbClr val="162238"/>
          </a:solidFill>
          <a:ln/>
        </p:spPr>
        <p:txBody>
          <a:bodyPr/>
          <a:lstStyle/>
          <a:p>
            <a:r>
              <a:rPr lang="en-IN" sz="2400" dirty="0">
                <a:solidFill>
                  <a:srgbClr val="FFFF00"/>
                </a:solidFill>
              </a:rPr>
              <a:t>Sarvam 30B and Sarvam 24B :</a:t>
            </a:r>
          </a:p>
          <a:p>
            <a:endParaRPr lang="en-IN" sz="2400" dirty="0">
              <a:solidFill>
                <a:srgbClr val="FFFF00"/>
              </a:solidFill>
            </a:endParaRPr>
          </a:p>
          <a:p>
            <a:pPr marL="285750" indent="-285750">
              <a:buFont typeface="Arial" panose="020B0604020202020204" pitchFamily="34" charset="0"/>
              <a:buChar char="•"/>
            </a:pPr>
            <a:r>
              <a:rPr lang="en-IN" dirty="0">
                <a:solidFill>
                  <a:schemeClr val="bg2"/>
                </a:solidFill>
              </a:rPr>
              <a:t>These models were a failure because it showed CUDA Out of Memory.</a:t>
            </a:r>
          </a:p>
          <a:p>
            <a:pPr marL="285750" indent="-285750">
              <a:buFont typeface="Arial" panose="020B0604020202020204" pitchFamily="34" charset="0"/>
              <a:buChar char="•"/>
            </a:pPr>
            <a:r>
              <a:rPr lang="en-IN" dirty="0">
                <a:solidFill>
                  <a:schemeClr val="bg2"/>
                </a:solidFill>
              </a:rPr>
              <a:t>The storage already reached its limit by downloading the files and the models required more memory.</a:t>
            </a:r>
          </a:p>
          <a:p>
            <a:pPr marL="285750" indent="-285750">
              <a:buFont typeface="Arial" panose="020B0604020202020204" pitchFamily="34" charset="0"/>
              <a:buChar char="•"/>
            </a:pPr>
            <a:r>
              <a:rPr lang="en-IN" dirty="0">
                <a:solidFill>
                  <a:schemeClr val="bg2"/>
                </a:solidFill>
              </a:rPr>
              <a:t>So tried to run it in 4bit quantization but we couldn’t  do because quantization of 30B is not possible so used pre quantized model and tried to run it but couldn’t solve the issue.</a:t>
            </a:r>
          </a:p>
          <a:p>
            <a:pPr marL="285750" indent="-285750">
              <a:buFont typeface="Arial" panose="020B0604020202020204" pitchFamily="34" charset="0"/>
              <a:buChar char="•"/>
            </a:pPr>
            <a:r>
              <a:rPr lang="en-IN" dirty="0">
                <a:solidFill>
                  <a:schemeClr val="bg2"/>
                </a:solidFill>
              </a:rPr>
              <a:t>For Sarvam 24b tried with 4 bit quantization but still it couldn’t run the complete code.</a:t>
            </a:r>
            <a:endParaRPr lang="en-IN" dirty="0">
              <a:solidFill>
                <a:schemeClr val="bg1"/>
              </a:solidFill>
            </a:endParaRPr>
          </a:p>
        </p:txBody>
      </p:sp>
    </p:spTree>
    <p:extLst>
      <p:ext uri="{BB962C8B-B14F-4D97-AF65-F5344CB8AC3E}">
        <p14:creationId xmlns:p14="http://schemas.microsoft.com/office/powerpoint/2010/main" val="6506480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a:extLst>
            <a:ext uri="{FF2B5EF4-FFF2-40B4-BE49-F238E27FC236}">
              <a16:creationId xmlns:a16="http://schemas.microsoft.com/office/drawing/2014/main" id="{623B1B11-0CE7-8DEA-1C48-F17E14F5EF4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7E30B57-F7BA-1E7F-2877-49EB253E91AA}"/>
              </a:ext>
            </a:extLst>
          </p:cNvPr>
          <p:cNvSpPr/>
          <p:nvPr/>
        </p:nvSpPr>
        <p:spPr>
          <a:xfrm>
            <a:off x="914400" y="1645920"/>
            <a:ext cx="10332720" cy="1828800"/>
          </a:xfrm>
          <a:prstGeom prst="rect">
            <a:avLst/>
          </a:prstGeom>
          <a:noFill/>
          <a:ln/>
        </p:spPr>
        <p:txBody>
          <a:bodyPr wrap="square" rtlCol="0" anchor="ctr"/>
          <a:lstStyle/>
          <a:p>
            <a:pPr marL="0" indent="0" algn="ctr">
              <a:buNone/>
            </a:pPr>
            <a:endParaRPr lang="en-US" sz="5600" dirty="0"/>
          </a:p>
        </p:txBody>
      </p:sp>
      <p:sp>
        <p:nvSpPr>
          <p:cNvPr id="3" name="Text 1">
            <a:extLst>
              <a:ext uri="{FF2B5EF4-FFF2-40B4-BE49-F238E27FC236}">
                <a16:creationId xmlns:a16="http://schemas.microsoft.com/office/drawing/2014/main" id="{A2184F1F-C187-DBAA-B448-7096A8B63182}"/>
              </a:ext>
            </a:extLst>
          </p:cNvPr>
          <p:cNvSpPr/>
          <p:nvPr/>
        </p:nvSpPr>
        <p:spPr>
          <a:xfrm>
            <a:off x="914400" y="3474720"/>
            <a:ext cx="10332720" cy="731520"/>
          </a:xfrm>
          <a:prstGeom prst="rect">
            <a:avLst/>
          </a:prstGeom>
          <a:noFill/>
          <a:ln/>
        </p:spPr>
        <p:txBody>
          <a:bodyPr wrap="square" rtlCol="0" anchor="ctr"/>
          <a:lstStyle/>
          <a:p>
            <a:pPr marL="0" indent="0" algn="ctr">
              <a:buNone/>
            </a:pPr>
            <a:endParaRPr lang="en-US" sz="2000" dirty="0"/>
          </a:p>
        </p:txBody>
      </p:sp>
      <p:sp>
        <p:nvSpPr>
          <p:cNvPr id="4" name="Text 2">
            <a:extLst>
              <a:ext uri="{FF2B5EF4-FFF2-40B4-BE49-F238E27FC236}">
                <a16:creationId xmlns:a16="http://schemas.microsoft.com/office/drawing/2014/main" id="{F7C634C4-DD82-0EA6-972E-64CED97ACC85}"/>
              </a:ext>
            </a:extLst>
          </p:cNvPr>
          <p:cNvSpPr/>
          <p:nvPr/>
        </p:nvSpPr>
        <p:spPr>
          <a:xfrm>
            <a:off x="320040" y="318925"/>
            <a:ext cx="8503920" cy="548640"/>
          </a:xfrm>
          <a:prstGeom prst="rect">
            <a:avLst/>
          </a:prstGeom>
          <a:noFill/>
          <a:ln w="19050">
            <a:solidFill>
              <a:srgbClr val="DEFF9A"/>
            </a:solidFill>
            <a:prstDash val="dash"/>
          </a:ln>
        </p:spPr>
        <p:txBody>
          <a:bodyPr wrap="square" rtlCol="0" anchor="ctr"/>
          <a:lstStyle/>
          <a:p>
            <a:pPr marL="0" indent="0" algn="ctr">
              <a:buNone/>
            </a:pPr>
            <a:endParaRPr lang="en-US" sz="1100" dirty="0"/>
          </a:p>
        </p:txBody>
      </p:sp>
      <p:sp>
        <p:nvSpPr>
          <p:cNvPr id="5" name="Shape 3">
            <a:extLst>
              <a:ext uri="{FF2B5EF4-FFF2-40B4-BE49-F238E27FC236}">
                <a16:creationId xmlns:a16="http://schemas.microsoft.com/office/drawing/2014/main" id="{B5E008B5-82A8-0D6D-7FC3-4F97D39793FB}"/>
              </a:ext>
            </a:extLst>
          </p:cNvPr>
          <p:cNvSpPr/>
          <p:nvPr/>
        </p:nvSpPr>
        <p:spPr>
          <a:xfrm>
            <a:off x="331189" y="1376061"/>
            <a:ext cx="4040089" cy="2464419"/>
          </a:xfrm>
          <a:prstGeom prst="rect">
            <a:avLst/>
          </a:prstGeom>
          <a:solidFill>
            <a:srgbClr val="162238"/>
          </a:solidFill>
          <a:ln/>
        </p:spPr>
        <p:txBody>
          <a:bodyPr/>
          <a:lstStyle/>
          <a:p>
            <a:pPr marL="285750" indent="-285750">
              <a:buFont typeface="Arial" panose="020B0604020202020204" pitchFamily="34" charset="0"/>
              <a:buChar char="•"/>
            </a:pPr>
            <a:r>
              <a:rPr lang="en-IN" dirty="0">
                <a:solidFill>
                  <a:schemeClr val="bg2"/>
                </a:solidFill>
              </a:rPr>
              <a:t>Next made transcription using Indic whisper and Faster whisper.</a:t>
            </a:r>
          </a:p>
          <a:p>
            <a:pPr marL="285750" indent="-285750">
              <a:buFont typeface="Arial" panose="020B0604020202020204" pitchFamily="34" charset="0"/>
              <a:buChar char="•"/>
            </a:pPr>
            <a:r>
              <a:rPr lang="en-IN" dirty="0">
                <a:solidFill>
                  <a:schemeClr val="bg2"/>
                </a:solidFill>
              </a:rPr>
              <a:t>Then used LLM as judge using model </a:t>
            </a:r>
            <a:r>
              <a:rPr lang="en-IN" dirty="0">
                <a:solidFill>
                  <a:schemeClr val="bg1"/>
                </a:solidFill>
              </a:rPr>
              <a:t>Qwen2.5-7B-Instruct and checked the final report.</a:t>
            </a:r>
          </a:p>
          <a:p>
            <a:pPr marL="285750" indent="-285750">
              <a:buFont typeface="Arial" panose="020B0604020202020204" pitchFamily="34" charset="0"/>
              <a:buChar char="•"/>
            </a:pPr>
            <a:r>
              <a:rPr lang="en-IN" dirty="0">
                <a:solidFill>
                  <a:schemeClr val="bg1"/>
                </a:solidFill>
              </a:rPr>
              <a:t>This is done by using a 5 seconds audio sample file.</a:t>
            </a:r>
          </a:p>
          <a:p>
            <a:pPr marL="285750" indent="-285750">
              <a:buFont typeface="Arial" panose="020B0604020202020204" pitchFamily="34" charset="0"/>
              <a:buChar char="•"/>
            </a:pPr>
            <a:endParaRPr lang="en-IN" dirty="0">
              <a:solidFill>
                <a:schemeClr val="bg1"/>
              </a:solidFill>
            </a:endParaRPr>
          </a:p>
          <a:p>
            <a:pPr marL="285750" indent="-285750">
              <a:buFont typeface="Arial" panose="020B0604020202020204" pitchFamily="34" charset="0"/>
              <a:buChar char="•"/>
            </a:pPr>
            <a:endParaRPr lang="en-IN" dirty="0">
              <a:solidFill>
                <a:schemeClr val="bg2"/>
              </a:solidFill>
            </a:endParaRPr>
          </a:p>
        </p:txBody>
      </p:sp>
      <p:sp>
        <p:nvSpPr>
          <p:cNvPr id="6" name="Text 7">
            <a:extLst>
              <a:ext uri="{FF2B5EF4-FFF2-40B4-BE49-F238E27FC236}">
                <a16:creationId xmlns:a16="http://schemas.microsoft.com/office/drawing/2014/main" id="{F07A586C-0B25-A436-F877-FB6A1FF0B709}"/>
              </a:ext>
            </a:extLst>
          </p:cNvPr>
          <p:cNvSpPr/>
          <p:nvPr/>
        </p:nvSpPr>
        <p:spPr>
          <a:xfrm>
            <a:off x="4572000" y="1376061"/>
            <a:ext cx="3803733" cy="2658720"/>
          </a:xfrm>
          <a:prstGeom prst="rect">
            <a:avLst/>
          </a:prstGeom>
          <a:solidFill>
            <a:srgbClr val="000000"/>
          </a:solidFill>
          <a:ln/>
        </p:spPr>
        <p:txBody>
          <a:bodyPr wrap="square" rtlCol="0" anchor="ctr"/>
          <a:lstStyle/>
          <a:p>
            <a:r>
              <a:rPr lang="en-IN" sz="1400" dirty="0" err="1">
                <a:solidFill>
                  <a:schemeClr val="bg1"/>
                </a:solidFill>
              </a:rPr>
              <a:t>judge_pipeline</a:t>
            </a:r>
            <a:r>
              <a:rPr lang="en-IN" sz="1400" dirty="0">
                <a:solidFill>
                  <a:schemeClr val="bg1"/>
                </a:solidFill>
              </a:rPr>
              <a:t> = pipeline(</a:t>
            </a:r>
          </a:p>
          <a:p>
            <a:r>
              <a:rPr lang="en-IN" sz="1400" dirty="0">
                <a:solidFill>
                  <a:schemeClr val="bg1"/>
                </a:solidFill>
              </a:rPr>
              <a:t>    "text-generation",</a:t>
            </a:r>
          </a:p>
          <a:p>
            <a:r>
              <a:rPr lang="en-IN" sz="1400" dirty="0">
                <a:solidFill>
                  <a:schemeClr val="bg1"/>
                </a:solidFill>
              </a:rPr>
              <a:t>    model="Qwen/Qwen2.5-7B-Instruct",</a:t>
            </a:r>
          </a:p>
          <a:p>
            <a:r>
              <a:rPr lang="en-IN" sz="1400" dirty="0">
                <a:solidFill>
                  <a:schemeClr val="bg1"/>
                </a:solidFill>
              </a:rPr>
              <a:t>    </a:t>
            </a:r>
          </a:p>
          <a:p>
            <a:r>
              <a:rPr lang="en-IN" sz="1400" dirty="0" err="1">
                <a:solidFill>
                  <a:schemeClr val="bg1"/>
                </a:solidFill>
              </a:rPr>
              <a:t>model_kwargs</a:t>
            </a:r>
            <a:r>
              <a:rPr lang="en-IN" sz="1400" dirty="0">
                <a:solidFill>
                  <a:schemeClr val="bg1"/>
                </a:solidFill>
              </a:rPr>
              <a:t>={ "</a:t>
            </a:r>
            <a:r>
              <a:rPr lang="en-IN" sz="1400" dirty="0" err="1">
                <a:solidFill>
                  <a:schemeClr val="bg1"/>
                </a:solidFill>
              </a:rPr>
              <a:t>quantization_config</a:t>
            </a:r>
            <a:r>
              <a:rPr lang="en-IN" sz="1400" dirty="0">
                <a:solidFill>
                  <a:schemeClr val="bg1"/>
                </a:solidFill>
              </a:rPr>
              <a:t>": </a:t>
            </a:r>
            <a:r>
              <a:rPr lang="en-IN" sz="1400" dirty="0" err="1">
                <a:solidFill>
                  <a:schemeClr val="bg1"/>
                </a:solidFill>
              </a:rPr>
              <a:t>quantization_config</a:t>
            </a:r>
            <a:r>
              <a:rPr lang="en-IN" sz="1400" dirty="0">
                <a:solidFill>
                  <a:schemeClr val="bg1"/>
                </a:solidFill>
              </a:rPr>
              <a:t> }</a:t>
            </a:r>
          </a:p>
        </p:txBody>
      </p:sp>
    </p:spTree>
    <p:extLst>
      <p:ext uri="{BB962C8B-B14F-4D97-AF65-F5344CB8AC3E}">
        <p14:creationId xmlns:p14="http://schemas.microsoft.com/office/powerpoint/2010/main" val="16536908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a:extLst>
            <a:ext uri="{FF2B5EF4-FFF2-40B4-BE49-F238E27FC236}">
              <a16:creationId xmlns:a16="http://schemas.microsoft.com/office/drawing/2014/main" id="{17E47CA2-9415-7CFC-231E-3D681E76982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2B9F230-B52E-93D6-56F2-F9559370B131}"/>
              </a:ext>
            </a:extLst>
          </p:cNvPr>
          <p:cNvSpPr/>
          <p:nvPr/>
        </p:nvSpPr>
        <p:spPr>
          <a:xfrm>
            <a:off x="914400" y="1645920"/>
            <a:ext cx="10332720" cy="1828800"/>
          </a:xfrm>
          <a:prstGeom prst="rect">
            <a:avLst/>
          </a:prstGeom>
          <a:noFill/>
          <a:ln/>
        </p:spPr>
        <p:txBody>
          <a:bodyPr wrap="square" rtlCol="0" anchor="ctr"/>
          <a:lstStyle/>
          <a:p>
            <a:pPr marL="0" indent="0" algn="ctr">
              <a:buNone/>
            </a:pPr>
            <a:endParaRPr lang="en-US" sz="5600" dirty="0"/>
          </a:p>
        </p:txBody>
      </p:sp>
      <p:sp>
        <p:nvSpPr>
          <p:cNvPr id="3" name="Text 1">
            <a:extLst>
              <a:ext uri="{FF2B5EF4-FFF2-40B4-BE49-F238E27FC236}">
                <a16:creationId xmlns:a16="http://schemas.microsoft.com/office/drawing/2014/main" id="{0522E404-B3E2-59F8-1F74-CEFEFA82F83D}"/>
              </a:ext>
            </a:extLst>
          </p:cNvPr>
          <p:cNvSpPr/>
          <p:nvPr/>
        </p:nvSpPr>
        <p:spPr>
          <a:xfrm>
            <a:off x="914400" y="3474720"/>
            <a:ext cx="10332720" cy="731520"/>
          </a:xfrm>
          <a:prstGeom prst="rect">
            <a:avLst/>
          </a:prstGeom>
          <a:noFill/>
          <a:ln/>
        </p:spPr>
        <p:txBody>
          <a:bodyPr wrap="square" rtlCol="0" anchor="ctr"/>
          <a:lstStyle/>
          <a:p>
            <a:pPr marL="0" indent="0" algn="ctr">
              <a:buNone/>
            </a:pPr>
            <a:endParaRPr lang="en-US" sz="2000" dirty="0"/>
          </a:p>
        </p:txBody>
      </p:sp>
      <p:sp>
        <p:nvSpPr>
          <p:cNvPr id="4" name="Text 2">
            <a:extLst>
              <a:ext uri="{FF2B5EF4-FFF2-40B4-BE49-F238E27FC236}">
                <a16:creationId xmlns:a16="http://schemas.microsoft.com/office/drawing/2014/main" id="{45852DB9-7700-D267-555C-CC0B8FF3CF98}"/>
              </a:ext>
            </a:extLst>
          </p:cNvPr>
          <p:cNvSpPr/>
          <p:nvPr/>
        </p:nvSpPr>
        <p:spPr>
          <a:xfrm>
            <a:off x="399393" y="365760"/>
            <a:ext cx="8503920" cy="548640"/>
          </a:xfrm>
          <a:prstGeom prst="rect">
            <a:avLst/>
          </a:prstGeom>
          <a:noFill/>
          <a:ln w="19050">
            <a:solidFill>
              <a:srgbClr val="DEFF9A"/>
            </a:solidFill>
            <a:prstDash val="dash"/>
          </a:ln>
        </p:spPr>
        <p:txBody>
          <a:bodyPr wrap="square" rtlCol="0" anchor="ctr"/>
          <a:lstStyle/>
          <a:p>
            <a:pPr marL="0" indent="0">
              <a:buNone/>
            </a:pPr>
            <a:r>
              <a:rPr lang="en-US" sz="2400" dirty="0">
                <a:solidFill>
                  <a:schemeClr val="bg1"/>
                </a:solidFill>
              </a:rPr>
              <a:t>Report</a:t>
            </a:r>
          </a:p>
        </p:txBody>
      </p:sp>
      <p:pic>
        <p:nvPicPr>
          <p:cNvPr id="8" name="Picture 7">
            <a:extLst>
              <a:ext uri="{FF2B5EF4-FFF2-40B4-BE49-F238E27FC236}">
                <a16:creationId xmlns:a16="http://schemas.microsoft.com/office/drawing/2014/main" id="{211F4D85-15A8-989D-FDC9-27C595E73D77}"/>
              </a:ext>
            </a:extLst>
          </p:cNvPr>
          <p:cNvPicPr>
            <a:picLocks noChangeAspect="1"/>
          </p:cNvPicPr>
          <p:nvPr/>
        </p:nvPicPr>
        <p:blipFill>
          <a:blip r:embed="rId3"/>
          <a:stretch>
            <a:fillRect/>
          </a:stretch>
        </p:blipFill>
        <p:spPr>
          <a:xfrm>
            <a:off x="758283" y="1126273"/>
            <a:ext cx="7950819" cy="3838934"/>
          </a:xfrm>
          <a:prstGeom prst="rect">
            <a:avLst/>
          </a:prstGeom>
        </p:spPr>
      </p:pic>
    </p:spTree>
    <p:extLst>
      <p:ext uri="{BB962C8B-B14F-4D97-AF65-F5344CB8AC3E}">
        <p14:creationId xmlns:p14="http://schemas.microsoft.com/office/powerpoint/2010/main" val="31748805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365760"/>
          </a:xfrm>
          <a:prstGeom prst="rect">
            <a:avLst/>
          </a:prstGeom>
          <a:noFill/>
        </p:spPr>
        <p:txBody>
          <a:bodyPr wrap="square" lIns="0" tIns="0" rIns="0" bIns="0">
            <a:spAutoFit/>
          </a:bodyPr>
          <a:lstStyle/>
          <a:p>
            <a:r>
              <a:rPr sz="1000" b="1">
                <a:solidFill>
                  <a:srgbClr val="0D9488"/>
                </a:solidFill>
                <a:latin typeface="Calibri"/>
              </a:rPr>
              <a:t>TECHNICAL DEEP DIVE</a:t>
            </a:r>
          </a:p>
        </p:txBody>
      </p:sp>
      <p:sp>
        <p:nvSpPr>
          <p:cNvPr id="3" name="TextBox 2"/>
          <p:cNvSpPr txBox="1"/>
          <p:nvPr/>
        </p:nvSpPr>
        <p:spPr>
          <a:xfrm>
            <a:off x="548640" y="594360"/>
            <a:ext cx="11064240" cy="731520"/>
          </a:xfrm>
          <a:prstGeom prst="rect">
            <a:avLst/>
          </a:prstGeom>
          <a:noFill/>
        </p:spPr>
        <p:txBody>
          <a:bodyPr wrap="square" lIns="0" tIns="0" rIns="0" bIns="0">
            <a:spAutoFit/>
          </a:bodyPr>
          <a:lstStyle/>
          <a:p>
            <a:r>
              <a:rPr lang="en-IN" sz="2800" b="1" dirty="0">
                <a:solidFill>
                  <a:srgbClr val="FFFFFF"/>
                </a:solidFill>
                <a:latin typeface="Trebuchet MS"/>
              </a:rPr>
              <a:t>Machine</a:t>
            </a:r>
            <a:r>
              <a:rPr sz="2800" b="1" dirty="0">
                <a:solidFill>
                  <a:srgbClr val="FFFFFF"/>
                </a:solidFill>
                <a:latin typeface="Trebuchet MS"/>
              </a:rPr>
              <a:t> Translation &amp; Transliteration</a:t>
            </a:r>
          </a:p>
        </p:txBody>
      </p:sp>
      <p:sp>
        <p:nvSpPr>
          <p:cNvPr id="4" name="Rounded Rectangle 3"/>
          <p:cNvSpPr/>
          <p:nvPr/>
        </p:nvSpPr>
        <p:spPr>
          <a:xfrm>
            <a:off x="148641" y="1425200"/>
            <a:ext cx="2988259" cy="2689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98639" y="1877740"/>
            <a:ext cx="2685861" cy="1143903"/>
          </a:xfrm>
          <a:prstGeom prst="rect">
            <a:avLst/>
          </a:prstGeom>
          <a:noFill/>
        </p:spPr>
        <p:txBody>
          <a:bodyPr wrap="square" lIns="0" tIns="0" rIns="0" bIns="0">
            <a:spAutoFit/>
          </a:bodyPr>
          <a:lstStyle/>
          <a:p>
            <a:pPr>
              <a:spcAft>
                <a:spcPts val="1000"/>
              </a:spcAft>
            </a:pPr>
            <a:r>
              <a:rPr sz="1400" b="1" dirty="0">
                <a:solidFill>
                  <a:srgbClr val="FFFFFF"/>
                </a:solidFill>
                <a:latin typeface="Trebuchet MS"/>
              </a:rPr>
              <a:t>Transliteration Layer</a:t>
            </a:r>
          </a:p>
          <a:p>
            <a:pPr>
              <a:spcAft>
                <a:spcPts val="600"/>
              </a:spcAft>
            </a:pPr>
            <a:r>
              <a:rPr sz="1050" dirty="0">
                <a:solidFill>
                  <a:srgbClr val="CBD5E1"/>
                </a:solidFill>
                <a:latin typeface="Calibri"/>
              </a:rPr>
              <a:t>•  Utilized Indic NLP Library.</a:t>
            </a:r>
          </a:p>
          <a:p>
            <a:pPr>
              <a:spcAft>
                <a:spcPts val="600"/>
              </a:spcAft>
            </a:pPr>
            <a:r>
              <a:rPr sz="1050" dirty="0">
                <a:solidFill>
                  <a:srgbClr val="CBD5E1"/>
                </a:solidFill>
                <a:latin typeface="Calibri"/>
              </a:rPr>
              <a:t>•  Mapped Punjabi Gurmukhi script to Devanagari (Hindi) </a:t>
            </a:r>
            <a:r>
              <a:rPr sz="1050" dirty="0" err="1">
                <a:solidFill>
                  <a:srgbClr val="CBD5E1"/>
                </a:solidFill>
                <a:latin typeface="Calibri"/>
              </a:rPr>
              <a:t>unicode</a:t>
            </a:r>
            <a:r>
              <a:rPr sz="1050" dirty="0">
                <a:solidFill>
                  <a:srgbClr val="CBD5E1"/>
                </a:solidFill>
                <a:latin typeface="Calibri"/>
              </a:rPr>
              <a:t> characters.</a:t>
            </a:r>
          </a:p>
          <a:p>
            <a:pPr>
              <a:spcAft>
                <a:spcPts val="600"/>
              </a:spcAft>
            </a:pPr>
            <a:r>
              <a:rPr sz="1050" dirty="0">
                <a:solidFill>
                  <a:srgbClr val="CBD5E1"/>
                </a:solidFill>
                <a:latin typeface="Calibri"/>
              </a:rPr>
              <a:t>•  Enabled phonetic consistency across models.</a:t>
            </a:r>
          </a:p>
        </p:txBody>
      </p:sp>
      <p:sp>
        <p:nvSpPr>
          <p:cNvPr id="6" name="Rounded Rectangle 5"/>
          <p:cNvSpPr/>
          <p:nvPr/>
        </p:nvSpPr>
        <p:spPr>
          <a:xfrm>
            <a:off x="3286897" y="1439700"/>
            <a:ext cx="2834503" cy="2689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435017" y="1815200"/>
            <a:ext cx="2584783" cy="1305486"/>
          </a:xfrm>
          <a:prstGeom prst="rect">
            <a:avLst/>
          </a:prstGeom>
          <a:noFill/>
        </p:spPr>
        <p:txBody>
          <a:bodyPr wrap="square" lIns="0" tIns="0" rIns="0" bIns="0">
            <a:spAutoFit/>
          </a:bodyPr>
          <a:lstStyle/>
          <a:p>
            <a:pPr>
              <a:spcAft>
                <a:spcPts val="1000"/>
              </a:spcAft>
            </a:pPr>
            <a:r>
              <a:rPr sz="1400" b="1" dirty="0">
                <a:solidFill>
                  <a:srgbClr val="FFFFFF"/>
                </a:solidFill>
                <a:latin typeface="Trebuchet MS"/>
              </a:rPr>
              <a:t>Sarvam AI Models</a:t>
            </a:r>
          </a:p>
          <a:p>
            <a:pPr>
              <a:spcAft>
                <a:spcPts val="600"/>
              </a:spcAft>
            </a:pPr>
            <a:r>
              <a:rPr sz="1050" dirty="0">
                <a:solidFill>
                  <a:srgbClr val="CBD5E1"/>
                </a:solidFill>
                <a:latin typeface="Calibri"/>
              </a:rPr>
              <a:t>•  Tested Sarvam 2B and 30B models.</a:t>
            </a:r>
          </a:p>
          <a:p>
            <a:pPr>
              <a:spcAft>
                <a:spcPts val="600"/>
              </a:spcAft>
            </a:pPr>
            <a:r>
              <a:rPr sz="1050" dirty="0">
                <a:solidFill>
                  <a:srgbClr val="CBD5E1"/>
                </a:solidFill>
                <a:latin typeface="Calibri"/>
              </a:rPr>
              <a:t>•  Experienced high hallucination rates on raw audio API passes.</a:t>
            </a:r>
          </a:p>
          <a:p>
            <a:pPr>
              <a:spcAft>
                <a:spcPts val="600"/>
              </a:spcAft>
            </a:pPr>
            <a:r>
              <a:rPr sz="1050" dirty="0">
                <a:solidFill>
                  <a:srgbClr val="CBD5E1"/>
                </a:solidFill>
                <a:latin typeface="Calibri"/>
              </a:rPr>
              <a:t>•  Scale testing: Sarvam 24B/30B hit OOM errors on standard configurations.</a:t>
            </a:r>
          </a:p>
        </p:txBody>
      </p:sp>
      <p:sp>
        <p:nvSpPr>
          <p:cNvPr id="8" name="Rounded Rectangle 7"/>
          <p:cNvSpPr/>
          <p:nvPr/>
        </p:nvSpPr>
        <p:spPr>
          <a:xfrm>
            <a:off x="6269520" y="1439700"/>
            <a:ext cx="2725839" cy="2689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TextBox 8"/>
          <p:cNvSpPr txBox="1"/>
          <p:nvPr/>
        </p:nvSpPr>
        <p:spPr>
          <a:xfrm>
            <a:off x="6418686" y="1815200"/>
            <a:ext cx="2426675" cy="1066959"/>
          </a:xfrm>
          <a:prstGeom prst="rect">
            <a:avLst/>
          </a:prstGeom>
          <a:noFill/>
        </p:spPr>
        <p:txBody>
          <a:bodyPr wrap="square" lIns="0" tIns="0" rIns="0" bIns="0">
            <a:spAutoFit/>
          </a:bodyPr>
          <a:lstStyle/>
          <a:p>
            <a:pPr>
              <a:spcAft>
                <a:spcPts val="1000"/>
              </a:spcAft>
            </a:pPr>
            <a:r>
              <a:rPr sz="1400" b="1" dirty="0">
                <a:solidFill>
                  <a:srgbClr val="FFFFFF"/>
                </a:solidFill>
                <a:latin typeface="Trebuchet MS"/>
              </a:rPr>
              <a:t>LLM APIs vs. Local NMT</a:t>
            </a:r>
          </a:p>
          <a:p>
            <a:pPr>
              <a:spcAft>
                <a:spcPts val="600"/>
              </a:spcAft>
            </a:pPr>
            <a:r>
              <a:rPr sz="1050" dirty="0">
                <a:solidFill>
                  <a:srgbClr val="CBD5E1"/>
                </a:solidFill>
                <a:latin typeface="Calibri"/>
              </a:rPr>
              <a:t>•  Tested Qwen 2.5 local model and local Punjabi NMT.</a:t>
            </a:r>
          </a:p>
          <a:p>
            <a:pPr>
              <a:spcAft>
                <a:spcPts val="600"/>
              </a:spcAft>
            </a:pPr>
            <a:r>
              <a:rPr sz="1050" dirty="0">
                <a:solidFill>
                  <a:srgbClr val="CBD5E1"/>
                </a:solidFill>
                <a:latin typeface="Calibri"/>
              </a:rPr>
              <a:t>•  Addressed API traffic locks by adding exponential backoff in pipeline code.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a:extLst>
            <a:ext uri="{FF2B5EF4-FFF2-40B4-BE49-F238E27FC236}">
              <a16:creationId xmlns:a16="http://schemas.microsoft.com/office/drawing/2014/main" id="{8690EE75-75E1-18C2-B0E6-20F6B7583ED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86C6CE2-D16E-64F8-B1ED-523BF60FB955}"/>
              </a:ext>
            </a:extLst>
          </p:cNvPr>
          <p:cNvSpPr/>
          <p:nvPr/>
        </p:nvSpPr>
        <p:spPr>
          <a:xfrm>
            <a:off x="230830" y="1668780"/>
            <a:ext cx="8709970" cy="2700020"/>
          </a:xfrm>
          <a:prstGeom prst="rect">
            <a:avLst/>
          </a:prstGeom>
          <a:noFill/>
          <a:ln/>
        </p:spPr>
        <p:txBody>
          <a:bodyPr wrap="square" rtlCol="0" anchor="ctr"/>
          <a:lstStyle/>
          <a:p>
            <a:pPr marL="0" indent="0" algn="ctr">
              <a:buNone/>
            </a:pPr>
            <a:endParaRPr lang="en-US" sz="4400" dirty="0"/>
          </a:p>
        </p:txBody>
      </p:sp>
      <p:sp>
        <p:nvSpPr>
          <p:cNvPr id="3" name="Text 1">
            <a:extLst>
              <a:ext uri="{FF2B5EF4-FFF2-40B4-BE49-F238E27FC236}">
                <a16:creationId xmlns:a16="http://schemas.microsoft.com/office/drawing/2014/main" id="{32566902-DBC6-7C18-EA50-9F04AE4D8337}"/>
              </a:ext>
            </a:extLst>
          </p:cNvPr>
          <p:cNvSpPr/>
          <p:nvPr/>
        </p:nvSpPr>
        <p:spPr>
          <a:xfrm>
            <a:off x="914400" y="3474720"/>
            <a:ext cx="10332720" cy="731520"/>
          </a:xfrm>
          <a:prstGeom prst="rect">
            <a:avLst/>
          </a:prstGeom>
          <a:noFill/>
          <a:ln/>
        </p:spPr>
        <p:txBody>
          <a:bodyPr wrap="square" rtlCol="0" anchor="ctr"/>
          <a:lstStyle/>
          <a:p>
            <a:pPr marL="0" indent="0" algn="ctr">
              <a:buNone/>
            </a:pPr>
            <a:endParaRPr lang="en-US" sz="1800" dirty="0"/>
          </a:p>
        </p:txBody>
      </p:sp>
      <p:sp>
        <p:nvSpPr>
          <p:cNvPr id="4" name="Text 2">
            <a:extLst>
              <a:ext uri="{FF2B5EF4-FFF2-40B4-BE49-F238E27FC236}">
                <a16:creationId xmlns:a16="http://schemas.microsoft.com/office/drawing/2014/main" id="{FEC9DA1D-B58C-5C25-5DB5-3E4354210A5E}"/>
              </a:ext>
            </a:extLst>
          </p:cNvPr>
          <p:cNvSpPr/>
          <p:nvPr/>
        </p:nvSpPr>
        <p:spPr>
          <a:xfrm>
            <a:off x="230830" y="491490"/>
            <a:ext cx="8503920" cy="548640"/>
          </a:xfrm>
          <a:prstGeom prst="rect">
            <a:avLst/>
          </a:prstGeom>
          <a:solidFill>
            <a:srgbClr val="162238"/>
          </a:solidFill>
          <a:ln/>
        </p:spPr>
        <p:txBody>
          <a:bodyPr wrap="square" rtlCol="0" anchor="ctr"/>
          <a:lstStyle/>
          <a:p>
            <a:pPr marL="0" indent="0">
              <a:buNone/>
            </a:pPr>
            <a:r>
              <a:rPr lang="en-US" sz="2400" dirty="0">
                <a:solidFill>
                  <a:schemeClr val="bg1"/>
                </a:solidFill>
              </a:rPr>
              <a:t>Translation API</a:t>
            </a:r>
          </a:p>
        </p:txBody>
      </p:sp>
      <p:sp>
        <p:nvSpPr>
          <p:cNvPr id="5" name="TextBox 4">
            <a:extLst>
              <a:ext uri="{FF2B5EF4-FFF2-40B4-BE49-F238E27FC236}">
                <a16:creationId xmlns:a16="http://schemas.microsoft.com/office/drawing/2014/main" id="{4DF7BBA1-9E95-E779-6CDC-C18DFBA99D7A}"/>
              </a:ext>
            </a:extLst>
          </p:cNvPr>
          <p:cNvSpPr txBox="1"/>
          <p:nvPr/>
        </p:nvSpPr>
        <p:spPr>
          <a:xfrm>
            <a:off x="329609" y="1531088"/>
            <a:ext cx="8304027" cy="3139321"/>
          </a:xfrm>
          <a:prstGeom prst="rect">
            <a:avLst/>
          </a:prstGeom>
          <a:noFill/>
        </p:spPr>
        <p:txBody>
          <a:bodyPr wrap="square" rtlCol="0">
            <a:spAutoFit/>
          </a:bodyPr>
          <a:lstStyle/>
          <a:p>
            <a:pPr marL="285750" indent="-285750">
              <a:buFont typeface="Arial" panose="020B0604020202020204" pitchFamily="34" charset="0"/>
              <a:buChar char="•"/>
            </a:pPr>
            <a:r>
              <a:rPr lang="en-IN" dirty="0">
                <a:solidFill>
                  <a:schemeClr val="bg1"/>
                </a:solidFill>
              </a:rPr>
              <a:t>Checked few models for translations using API because locally the output was very bad.</a:t>
            </a:r>
          </a:p>
          <a:p>
            <a:pPr marL="285750" indent="-285750">
              <a:buFont typeface="Arial" panose="020B0604020202020204" pitchFamily="34" charset="0"/>
              <a:buChar char="•"/>
            </a:pPr>
            <a:r>
              <a:rPr lang="en-IN" dirty="0">
                <a:solidFill>
                  <a:schemeClr val="bg1"/>
                </a:solidFill>
              </a:rPr>
              <a:t>Models selected for testing:</a:t>
            </a:r>
          </a:p>
          <a:p>
            <a:r>
              <a:rPr lang="en-IN" dirty="0">
                <a:solidFill>
                  <a:schemeClr val="bg1"/>
                </a:solidFill>
              </a:rPr>
              <a:t>	1. Gemini 2.5 Flash Lite.</a:t>
            </a:r>
          </a:p>
          <a:p>
            <a:r>
              <a:rPr lang="en-IN" dirty="0">
                <a:solidFill>
                  <a:schemeClr val="bg1"/>
                </a:solidFill>
              </a:rPr>
              <a:t>	2. Gemini 2.5 Flash.</a:t>
            </a:r>
          </a:p>
          <a:p>
            <a:r>
              <a:rPr lang="en-IN" dirty="0">
                <a:solidFill>
                  <a:schemeClr val="bg1"/>
                </a:solidFill>
              </a:rPr>
              <a:t>	3. Llama 3.1 70B instruct.</a:t>
            </a:r>
          </a:p>
          <a:p>
            <a:r>
              <a:rPr lang="en-IN" dirty="0">
                <a:solidFill>
                  <a:schemeClr val="bg1"/>
                </a:solidFill>
              </a:rPr>
              <a:t>	4. GPT 4o mini.</a:t>
            </a:r>
          </a:p>
          <a:p>
            <a:r>
              <a:rPr lang="en-IN" dirty="0">
                <a:solidFill>
                  <a:schemeClr val="bg1"/>
                </a:solidFill>
              </a:rPr>
              <a:t>	5. Qwen 3 8B.</a:t>
            </a:r>
          </a:p>
          <a:p>
            <a:r>
              <a:rPr lang="en-IN" dirty="0">
                <a:solidFill>
                  <a:schemeClr val="bg1"/>
                </a:solidFill>
              </a:rPr>
              <a:t>	6. </a:t>
            </a:r>
            <a:r>
              <a:rPr lang="en-IN" dirty="0" err="1">
                <a:solidFill>
                  <a:schemeClr val="bg1"/>
                </a:solidFill>
              </a:rPr>
              <a:t>Deepseek</a:t>
            </a:r>
            <a:r>
              <a:rPr lang="en-IN" dirty="0">
                <a:solidFill>
                  <a:schemeClr val="bg1"/>
                </a:solidFill>
              </a:rPr>
              <a:t> V4 Flash.</a:t>
            </a:r>
          </a:p>
          <a:p>
            <a:pPr marL="285750" indent="-285750">
              <a:buFont typeface="Arial" panose="020B0604020202020204" pitchFamily="34" charset="0"/>
              <a:buChar char="•"/>
            </a:pPr>
            <a:r>
              <a:rPr lang="en-IN" dirty="0">
                <a:solidFill>
                  <a:schemeClr val="bg1"/>
                </a:solidFill>
              </a:rPr>
              <a:t>Mostly Llama gave better output, but Gemini 2.5 Flash Lite models is very good but couldn’t create transcript every time.</a:t>
            </a:r>
          </a:p>
        </p:txBody>
      </p:sp>
    </p:spTree>
    <p:extLst>
      <p:ext uri="{BB962C8B-B14F-4D97-AF65-F5344CB8AC3E}">
        <p14:creationId xmlns:p14="http://schemas.microsoft.com/office/powerpoint/2010/main" val="8436481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365760"/>
          </a:xfrm>
          <a:prstGeom prst="rect">
            <a:avLst/>
          </a:prstGeom>
          <a:noFill/>
        </p:spPr>
        <p:txBody>
          <a:bodyPr wrap="square" lIns="0" tIns="0" rIns="0" bIns="0">
            <a:spAutoFit/>
          </a:bodyPr>
          <a:lstStyle/>
          <a:p>
            <a:r>
              <a:rPr sz="1000" b="1">
                <a:solidFill>
                  <a:srgbClr val="0D9488"/>
                </a:solidFill>
                <a:latin typeface="Calibri"/>
              </a:rPr>
              <a:t>PIPELINE EFFICIENCY</a:t>
            </a:r>
          </a:p>
        </p:txBody>
      </p:sp>
      <p:sp>
        <p:nvSpPr>
          <p:cNvPr id="3" name="TextBox 2"/>
          <p:cNvSpPr txBox="1"/>
          <p:nvPr/>
        </p:nvSpPr>
        <p:spPr>
          <a:xfrm>
            <a:off x="98640" y="594360"/>
            <a:ext cx="11064240" cy="731520"/>
          </a:xfrm>
          <a:prstGeom prst="rect">
            <a:avLst/>
          </a:prstGeom>
          <a:noFill/>
        </p:spPr>
        <p:txBody>
          <a:bodyPr wrap="square" lIns="0" tIns="0" rIns="0" bIns="0">
            <a:spAutoFit/>
          </a:bodyPr>
          <a:lstStyle/>
          <a:p>
            <a:r>
              <a:rPr sz="2800" b="1" dirty="0">
                <a:solidFill>
                  <a:srgbClr val="FFFFFF"/>
                </a:solidFill>
                <a:latin typeface="Trebuchet MS"/>
              </a:rPr>
              <a:t>Architecture Optimization: Two-Stage vs. Single-Stage</a:t>
            </a:r>
          </a:p>
        </p:txBody>
      </p:sp>
      <p:sp>
        <p:nvSpPr>
          <p:cNvPr id="4" name="Rounded Rectangle 3"/>
          <p:cNvSpPr/>
          <p:nvPr/>
        </p:nvSpPr>
        <p:spPr>
          <a:xfrm>
            <a:off x="98640" y="1476000"/>
            <a:ext cx="4473360" cy="26642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203340" y="1877740"/>
            <a:ext cx="4178160" cy="1544012"/>
          </a:xfrm>
          <a:prstGeom prst="rect">
            <a:avLst/>
          </a:prstGeom>
          <a:noFill/>
        </p:spPr>
        <p:txBody>
          <a:bodyPr wrap="square" lIns="0" tIns="0" rIns="0" bIns="0">
            <a:spAutoFit/>
          </a:bodyPr>
          <a:lstStyle/>
          <a:p>
            <a:pPr>
              <a:spcAft>
                <a:spcPts val="1000"/>
              </a:spcAft>
            </a:pPr>
            <a:r>
              <a:rPr sz="1400" b="1" dirty="0">
                <a:solidFill>
                  <a:srgbClr val="FFFFFF"/>
                </a:solidFill>
                <a:latin typeface="Trebuchet MS"/>
              </a:rPr>
              <a:t>Method A: Two-Stage Pipeline</a:t>
            </a:r>
          </a:p>
          <a:p>
            <a:pPr>
              <a:spcAft>
                <a:spcPts val="600"/>
              </a:spcAft>
            </a:pPr>
            <a:r>
              <a:rPr sz="1050" dirty="0">
                <a:solidFill>
                  <a:srgbClr val="CBD5E1"/>
                </a:solidFill>
                <a:latin typeface="Calibri"/>
              </a:rPr>
              <a:t>•  Workflow: Punjabi Audio -&gt; Whisper ASR -&gt; Punjabi Text -&gt; Translation LLM -&gt; Hindi </a:t>
            </a:r>
            <a:r>
              <a:rPr sz="1050" dirty="0" err="1">
                <a:solidFill>
                  <a:srgbClr val="CBD5E1"/>
                </a:solidFill>
                <a:latin typeface="Calibri"/>
              </a:rPr>
              <a:t>Translit</a:t>
            </a:r>
            <a:r>
              <a:rPr sz="1050" dirty="0">
                <a:solidFill>
                  <a:srgbClr val="CBD5E1"/>
                </a:solidFill>
                <a:latin typeface="Calibri"/>
              </a:rPr>
              <a:t> -&gt; Quality Check.</a:t>
            </a:r>
          </a:p>
          <a:p>
            <a:pPr>
              <a:spcAft>
                <a:spcPts val="600"/>
              </a:spcAft>
            </a:pPr>
            <a:r>
              <a:rPr sz="1050" dirty="0">
                <a:solidFill>
                  <a:srgbClr val="CBD5E1"/>
                </a:solidFill>
                <a:latin typeface="Calibri"/>
              </a:rPr>
              <a:t>•  Token Footprint: Extremely high (multiple model prompts).</a:t>
            </a:r>
          </a:p>
          <a:p>
            <a:pPr>
              <a:spcAft>
                <a:spcPts val="600"/>
              </a:spcAft>
            </a:pPr>
            <a:r>
              <a:rPr sz="1050" dirty="0">
                <a:solidFill>
                  <a:srgbClr val="CBD5E1"/>
                </a:solidFill>
                <a:latin typeface="Calibri"/>
              </a:rPr>
              <a:t>•  Latency Profile: High (serialization overhead between models).</a:t>
            </a:r>
          </a:p>
          <a:p>
            <a:pPr>
              <a:spcAft>
                <a:spcPts val="600"/>
              </a:spcAft>
            </a:pPr>
            <a:r>
              <a:rPr sz="1050" dirty="0">
                <a:solidFill>
                  <a:srgbClr val="CBD5E1"/>
                </a:solidFill>
                <a:latin typeface="Calibri"/>
              </a:rPr>
              <a:t>•  Error Propagation: Failures in Whisper transcribe directly corrupted translation stages.</a:t>
            </a:r>
          </a:p>
        </p:txBody>
      </p:sp>
      <p:sp>
        <p:nvSpPr>
          <p:cNvPr id="6" name="Rounded Rectangle 5"/>
          <p:cNvSpPr/>
          <p:nvPr/>
        </p:nvSpPr>
        <p:spPr>
          <a:xfrm>
            <a:off x="4882860" y="1476000"/>
            <a:ext cx="4162500" cy="2664200"/>
          </a:xfrm>
          <a:prstGeom prst="roundRect">
            <a:avLst/>
          </a:prstGeom>
          <a:solidFill>
            <a:srgbClr val="132A3A"/>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80000" y="1876740"/>
            <a:ext cx="3965360" cy="1620957"/>
          </a:xfrm>
          <a:prstGeom prst="rect">
            <a:avLst/>
          </a:prstGeom>
          <a:noFill/>
        </p:spPr>
        <p:txBody>
          <a:bodyPr wrap="square" lIns="0" tIns="0" rIns="0" bIns="0">
            <a:spAutoFit/>
          </a:bodyPr>
          <a:lstStyle/>
          <a:p>
            <a:pPr>
              <a:spcAft>
                <a:spcPts val="1000"/>
              </a:spcAft>
            </a:pPr>
            <a:r>
              <a:rPr sz="1400" b="1" dirty="0">
                <a:solidFill>
                  <a:srgbClr val="FFFFFF"/>
                </a:solidFill>
                <a:latin typeface="Trebuchet MS"/>
              </a:rPr>
              <a:t>Method B: Single-Stage Direct Flow (WINNER)</a:t>
            </a:r>
          </a:p>
          <a:p>
            <a:pPr>
              <a:spcAft>
                <a:spcPts val="600"/>
              </a:spcAft>
            </a:pPr>
            <a:r>
              <a:rPr sz="1050" dirty="0">
                <a:solidFill>
                  <a:srgbClr val="CBD5E1"/>
                </a:solidFill>
                <a:latin typeface="Calibri"/>
              </a:rPr>
              <a:t>•  Workflow: Punjabi Audio -&gt; Whisper ASR -&gt; Punjabi Text -&gt; Direct Native Hindi Diagnostic Report (Single Pass).</a:t>
            </a:r>
          </a:p>
          <a:p>
            <a:pPr>
              <a:spcAft>
                <a:spcPts val="600"/>
              </a:spcAft>
            </a:pPr>
            <a:r>
              <a:rPr sz="1050" dirty="0">
                <a:solidFill>
                  <a:srgbClr val="CBD5E1"/>
                </a:solidFill>
                <a:latin typeface="Calibri"/>
              </a:rPr>
              <a:t>•  Token Footprint: Optimized (consolidated context prompts).</a:t>
            </a:r>
          </a:p>
          <a:p>
            <a:pPr>
              <a:spcAft>
                <a:spcPts val="600"/>
              </a:spcAft>
            </a:pPr>
            <a:r>
              <a:rPr sz="1050" dirty="0">
                <a:solidFill>
                  <a:srgbClr val="CBD5E1"/>
                </a:solidFill>
                <a:latin typeface="Calibri"/>
              </a:rPr>
              <a:t>•  Latency Profile: Low (single LLM inference hop).</a:t>
            </a:r>
          </a:p>
          <a:p>
            <a:pPr>
              <a:spcAft>
                <a:spcPts val="600"/>
              </a:spcAft>
            </a:pPr>
            <a:r>
              <a:rPr sz="1050" dirty="0">
                <a:solidFill>
                  <a:srgbClr val="CBD5E1"/>
                </a:solidFill>
                <a:latin typeface="Calibri"/>
              </a:rPr>
              <a:t>•  Robustness: Direct evaluation reduces cascading failures.</a:t>
            </a:r>
          </a:p>
          <a:p>
            <a:pPr>
              <a:spcAft>
                <a:spcPts val="600"/>
              </a:spcAft>
            </a:pPr>
            <a:r>
              <a:rPr sz="1050" dirty="0">
                <a:solidFill>
                  <a:srgbClr val="CBD5E1"/>
                </a:solidFill>
                <a:latin typeface="Calibri"/>
              </a:rPr>
              <a:t>•  Cost Profile: Highly economical, minimizing LLM API traffic.</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a:extLst>
            <a:ext uri="{FF2B5EF4-FFF2-40B4-BE49-F238E27FC236}">
              <a16:creationId xmlns:a16="http://schemas.microsoft.com/office/drawing/2014/main" id="{96EE59E8-E837-4D89-1D86-52AFE5E591B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B14A043-F7D5-CCCB-C712-F226349CB069}"/>
              </a:ext>
            </a:extLst>
          </p:cNvPr>
          <p:cNvSpPr/>
          <p:nvPr/>
        </p:nvSpPr>
        <p:spPr>
          <a:xfrm>
            <a:off x="230830" y="1668780"/>
            <a:ext cx="8709970" cy="2700020"/>
          </a:xfrm>
          <a:prstGeom prst="rect">
            <a:avLst/>
          </a:prstGeom>
          <a:noFill/>
          <a:ln/>
        </p:spPr>
        <p:txBody>
          <a:bodyPr wrap="square" rtlCol="0" anchor="ctr"/>
          <a:lstStyle/>
          <a:p>
            <a:pPr marL="0" indent="0" algn="ctr">
              <a:buNone/>
            </a:pPr>
            <a:endParaRPr lang="en-US" sz="4400" dirty="0"/>
          </a:p>
        </p:txBody>
      </p:sp>
      <p:sp>
        <p:nvSpPr>
          <p:cNvPr id="3" name="Text 1">
            <a:extLst>
              <a:ext uri="{FF2B5EF4-FFF2-40B4-BE49-F238E27FC236}">
                <a16:creationId xmlns:a16="http://schemas.microsoft.com/office/drawing/2014/main" id="{0948A4CB-F6A3-D797-E9CC-3021B11D00D4}"/>
              </a:ext>
            </a:extLst>
          </p:cNvPr>
          <p:cNvSpPr/>
          <p:nvPr/>
        </p:nvSpPr>
        <p:spPr>
          <a:xfrm>
            <a:off x="914400" y="3474720"/>
            <a:ext cx="10332720" cy="731520"/>
          </a:xfrm>
          <a:prstGeom prst="rect">
            <a:avLst/>
          </a:prstGeom>
          <a:noFill/>
          <a:ln/>
        </p:spPr>
        <p:txBody>
          <a:bodyPr wrap="square" rtlCol="0" anchor="ctr"/>
          <a:lstStyle/>
          <a:p>
            <a:pPr marL="0" indent="0" algn="ctr">
              <a:buNone/>
            </a:pPr>
            <a:endParaRPr lang="en-US" sz="1800" dirty="0"/>
          </a:p>
        </p:txBody>
      </p:sp>
      <p:sp>
        <p:nvSpPr>
          <p:cNvPr id="4" name="Text 2">
            <a:extLst>
              <a:ext uri="{FF2B5EF4-FFF2-40B4-BE49-F238E27FC236}">
                <a16:creationId xmlns:a16="http://schemas.microsoft.com/office/drawing/2014/main" id="{4FB1094F-EE4B-C7E2-4F62-2E1949F7BA36}"/>
              </a:ext>
            </a:extLst>
          </p:cNvPr>
          <p:cNvSpPr/>
          <p:nvPr/>
        </p:nvSpPr>
        <p:spPr>
          <a:xfrm>
            <a:off x="230830" y="491490"/>
            <a:ext cx="8503920" cy="548640"/>
          </a:xfrm>
          <a:prstGeom prst="rect">
            <a:avLst/>
          </a:prstGeom>
          <a:solidFill>
            <a:srgbClr val="162238"/>
          </a:solidFill>
          <a:ln/>
        </p:spPr>
        <p:txBody>
          <a:bodyPr wrap="square" rtlCol="0" anchor="ctr"/>
          <a:lstStyle/>
          <a:p>
            <a:pPr marL="0" indent="0">
              <a:buNone/>
            </a:pPr>
            <a:r>
              <a:rPr lang="en-US" sz="2400" dirty="0">
                <a:solidFill>
                  <a:schemeClr val="bg1"/>
                </a:solidFill>
              </a:rPr>
              <a:t>Translation API Token Report</a:t>
            </a:r>
          </a:p>
        </p:txBody>
      </p:sp>
      <p:pic>
        <p:nvPicPr>
          <p:cNvPr id="7" name="Picture 6">
            <a:extLst>
              <a:ext uri="{FF2B5EF4-FFF2-40B4-BE49-F238E27FC236}">
                <a16:creationId xmlns:a16="http://schemas.microsoft.com/office/drawing/2014/main" id="{18EEEA7A-0BAC-B920-6712-944E1E3B2B7D}"/>
              </a:ext>
            </a:extLst>
          </p:cNvPr>
          <p:cNvPicPr>
            <a:picLocks noChangeAspect="1"/>
          </p:cNvPicPr>
          <p:nvPr/>
        </p:nvPicPr>
        <p:blipFill>
          <a:blip r:embed="rId3"/>
          <a:stretch>
            <a:fillRect/>
          </a:stretch>
        </p:blipFill>
        <p:spPr>
          <a:xfrm>
            <a:off x="445777" y="1432656"/>
            <a:ext cx="3758660" cy="2146885"/>
          </a:xfrm>
          <a:prstGeom prst="rect">
            <a:avLst/>
          </a:prstGeom>
        </p:spPr>
      </p:pic>
      <p:pic>
        <p:nvPicPr>
          <p:cNvPr id="9" name="Picture 8">
            <a:extLst>
              <a:ext uri="{FF2B5EF4-FFF2-40B4-BE49-F238E27FC236}">
                <a16:creationId xmlns:a16="http://schemas.microsoft.com/office/drawing/2014/main" id="{080742FB-BF47-38DB-A427-52266B0FD45A}"/>
              </a:ext>
            </a:extLst>
          </p:cNvPr>
          <p:cNvPicPr>
            <a:picLocks noChangeAspect="1"/>
          </p:cNvPicPr>
          <p:nvPr/>
        </p:nvPicPr>
        <p:blipFill>
          <a:blip r:embed="rId4"/>
          <a:stretch>
            <a:fillRect/>
          </a:stretch>
        </p:blipFill>
        <p:spPr>
          <a:xfrm>
            <a:off x="4888007" y="1432655"/>
            <a:ext cx="3758660" cy="2146885"/>
          </a:xfrm>
          <a:prstGeom prst="rect">
            <a:avLst/>
          </a:prstGeom>
        </p:spPr>
      </p:pic>
    </p:spTree>
    <p:extLst>
      <p:ext uri="{BB962C8B-B14F-4D97-AF65-F5344CB8AC3E}">
        <p14:creationId xmlns:p14="http://schemas.microsoft.com/office/powerpoint/2010/main" val="3330964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365760"/>
          </a:xfrm>
          <a:prstGeom prst="rect">
            <a:avLst/>
          </a:prstGeom>
          <a:noFill/>
        </p:spPr>
        <p:txBody>
          <a:bodyPr wrap="square" lIns="0" tIns="0" rIns="0" bIns="0">
            <a:spAutoFit/>
          </a:bodyPr>
          <a:lstStyle/>
          <a:p>
            <a:r>
              <a:rPr sz="1000" b="1">
                <a:solidFill>
                  <a:srgbClr val="0D9488"/>
                </a:solidFill>
                <a:latin typeface="Calibri"/>
              </a:rPr>
              <a:t>CONCLUSIONS</a:t>
            </a:r>
          </a:p>
        </p:txBody>
      </p:sp>
      <p:sp>
        <p:nvSpPr>
          <p:cNvPr id="3" name="TextBox 2"/>
          <p:cNvSpPr txBox="1"/>
          <p:nvPr/>
        </p:nvSpPr>
        <p:spPr>
          <a:xfrm>
            <a:off x="548640" y="594360"/>
            <a:ext cx="11064240" cy="731520"/>
          </a:xfrm>
          <a:prstGeom prst="rect">
            <a:avLst/>
          </a:prstGeom>
          <a:noFill/>
        </p:spPr>
        <p:txBody>
          <a:bodyPr wrap="square" lIns="0" tIns="0" rIns="0" bIns="0">
            <a:spAutoFit/>
          </a:bodyPr>
          <a:lstStyle/>
          <a:p>
            <a:r>
              <a:rPr sz="2800" b="1">
                <a:solidFill>
                  <a:srgbClr val="FFFFFF"/>
                </a:solidFill>
                <a:latin typeface="Trebuchet MS"/>
              </a:rPr>
              <a:t>Project Summary &amp; Deliverables</a:t>
            </a:r>
          </a:p>
        </p:txBody>
      </p:sp>
      <p:sp>
        <p:nvSpPr>
          <p:cNvPr id="4" name="Rounded Rectangle 3"/>
          <p:cNvSpPr/>
          <p:nvPr/>
        </p:nvSpPr>
        <p:spPr>
          <a:xfrm>
            <a:off x="98640" y="1476000"/>
            <a:ext cx="4701960" cy="18895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3340" y="1650000"/>
            <a:ext cx="5022360" cy="2900000"/>
          </a:xfrm>
          <a:prstGeom prst="rect">
            <a:avLst/>
          </a:prstGeom>
          <a:noFill/>
        </p:spPr>
        <p:txBody>
          <a:bodyPr wrap="square" lIns="0" tIns="0" rIns="0" bIns="0">
            <a:spAutoFit/>
          </a:bodyPr>
          <a:lstStyle/>
          <a:p>
            <a:pPr>
              <a:spcAft>
                <a:spcPts val="1000"/>
              </a:spcAft>
            </a:pPr>
            <a:r>
              <a:rPr sz="1400" b="1">
                <a:solidFill>
                  <a:srgbClr val="FFFFFF"/>
                </a:solidFill>
                <a:latin typeface="Trebuchet MS"/>
              </a:rPr>
              <a:t>Key Accomplishments</a:t>
            </a:r>
          </a:p>
          <a:p>
            <a:pPr>
              <a:spcAft>
                <a:spcPts val="600"/>
              </a:spcAft>
            </a:pPr>
            <a:r>
              <a:rPr sz="1050">
                <a:solidFill>
                  <a:srgbClr val="CBD5E1"/>
                </a:solidFill>
                <a:latin typeface="Calibri"/>
              </a:rPr>
              <a:t>•  Built end-to-end audio ingestion, transcription, and translation pipeline.</a:t>
            </a:r>
          </a:p>
          <a:p>
            <a:pPr>
              <a:spcAft>
                <a:spcPts val="600"/>
              </a:spcAft>
            </a:pPr>
            <a:r>
              <a:rPr sz="1050">
                <a:solidFill>
                  <a:srgbClr val="CBD5E1"/>
                </a:solidFill>
                <a:latin typeface="Calibri"/>
              </a:rPr>
              <a:t>•  Resolved Colab GPU OOM constraints by migrating to Kaggle T4 GPUs.</a:t>
            </a:r>
          </a:p>
          <a:p>
            <a:pPr>
              <a:spcAft>
                <a:spcPts val="600"/>
              </a:spcAft>
            </a:pPr>
            <a:r>
              <a:rPr sz="1050">
                <a:solidFill>
                  <a:srgbClr val="CBD5E1"/>
                </a:solidFill>
                <a:latin typeface="Calibri"/>
              </a:rPr>
              <a:t>•  Fine-tuned Whisper Turbo and compared its performance against Whisper Large.</a:t>
            </a:r>
          </a:p>
          <a:p>
            <a:pPr>
              <a:spcAft>
                <a:spcPts val="600"/>
              </a:spcAft>
            </a:pPr>
            <a:r>
              <a:rPr sz="1050">
                <a:solidFill>
                  <a:srgbClr val="CBD5E1"/>
                </a:solidFill>
                <a:latin typeface="Calibri"/>
              </a:rPr>
              <a:t>•  Designed reference-free 'LLM-as-a-Judge' quality framework using Gemma 9B.</a:t>
            </a:r>
          </a:p>
        </p:txBody>
      </p:sp>
      <p:sp>
        <p:nvSpPr>
          <p:cNvPr id="6" name="Rounded Rectangle 5"/>
          <p:cNvSpPr/>
          <p:nvPr/>
        </p:nvSpPr>
        <p:spPr>
          <a:xfrm>
            <a:off x="4905300" y="1476000"/>
            <a:ext cx="4140060" cy="18895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35900" y="1650000"/>
            <a:ext cx="5022360" cy="2900000"/>
          </a:xfrm>
          <a:prstGeom prst="rect">
            <a:avLst/>
          </a:prstGeom>
          <a:noFill/>
        </p:spPr>
        <p:txBody>
          <a:bodyPr wrap="square" lIns="0" tIns="0" rIns="0" bIns="0">
            <a:spAutoFit/>
          </a:bodyPr>
          <a:lstStyle/>
          <a:p>
            <a:pPr>
              <a:spcAft>
                <a:spcPts val="1000"/>
              </a:spcAft>
            </a:pPr>
            <a:r>
              <a:rPr sz="1400" b="1" dirty="0">
                <a:solidFill>
                  <a:srgbClr val="FFFFFF"/>
                </a:solidFill>
                <a:latin typeface="Trebuchet MS"/>
              </a:rPr>
              <a:t>Edge Deployment &amp; Next Steps</a:t>
            </a:r>
          </a:p>
          <a:p>
            <a:pPr>
              <a:spcAft>
                <a:spcPts val="600"/>
              </a:spcAft>
            </a:pPr>
            <a:r>
              <a:rPr sz="1050" dirty="0">
                <a:solidFill>
                  <a:srgbClr val="CBD5E1"/>
                </a:solidFill>
                <a:latin typeface="Calibri"/>
              </a:rPr>
              <a:t>•  Mapped frontend microphone capture directly to Raspberry Pi.</a:t>
            </a:r>
          </a:p>
          <a:p>
            <a:pPr>
              <a:spcAft>
                <a:spcPts val="600"/>
              </a:spcAft>
            </a:pPr>
            <a:r>
              <a:rPr sz="1050" dirty="0">
                <a:solidFill>
                  <a:srgbClr val="CBD5E1"/>
                </a:solidFill>
                <a:latin typeface="Calibri"/>
              </a:rPr>
              <a:t>•  Updated SRS specifications to cover edge-node offline capture.</a:t>
            </a:r>
          </a:p>
          <a:p>
            <a:pPr>
              <a:spcAft>
                <a:spcPts val="600"/>
              </a:spcAft>
            </a:pPr>
            <a:r>
              <a:rPr sz="1050" dirty="0">
                <a:solidFill>
                  <a:srgbClr val="CBD5E1"/>
                </a:solidFill>
                <a:latin typeface="Calibri"/>
              </a:rPr>
              <a:t>•  Future Roadmap: Deploy Faster Whisper natively on Raspberry Pi.</a:t>
            </a:r>
          </a:p>
          <a:p>
            <a:pPr>
              <a:spcAft>
                <a:spcPts val="600"/>
              </a:spcAft>
            </a:pPr>
            <a:r>
              <a:rPr sz="1050" dirty="0">
                <a:solidFill>
                  <a:srgbClr val="CBD5E1"/>
                </a:solidFill>
                <a:latin typeface="Calibri"/>
              </a:rPr>
              <a:t>•  Implement automated rate-limiting checks for translation APIs.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a:extLst>
            <a:ext uri="{FF2B5EF4-FFF2-40B4-BE49-F238E27FC236}">
              <a16:creationId xmlns:a16="http://schemas.microsoft.com/office/drawing/2014/main" id="{2DA1F56A-FA22-8409-E7AF-FC642D27AEE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C815C0B-119C-09BB-ABAE-4AB7CA5BBA92}"/>
              </a:ext>
            </a:extLst>
          </p:cNvPr>
          <p:cNvSpPr/>
          <p:nvPr/>
        </p:nvSpPr>
        <p:spPr>
          <a:xfrm>
            <a:off x="122663" y="1285466"/>
            <a:ext cx="8701297" cy="1828800"/>
          </a:xfrm>
          <a:prstGeom prst="rect">
            <a:avLst/>
          </a:prstGeom>
          <a:noFill/>
          <a:ln/>
        </p:spPr>
        <p:txBody>
          <a:bodyPr wrap="square" rtlCol="0" anchor="ctr"/>
          <a:lstStyle/>
          <a:p>
            <a:pPr marL="0" indent="0" algn="ctr">
              <a:buNone/>
            </a:pPr>
            <a:endParaRPr lang="en-US" sz="5600" dirty="0"/>
          </a:p>
        </p:txBody>
      </p:sp>
      <p:sp>
        <p:nvSpPr>
          <p:cNvPr id="3" name="Text 1">
            <a:extLst>
              <a:ext uri="{FF2B5EF4-FFF2-40B4-BE49-F238E27FC236}">
                <a16:creationId xmlns:a16="http://schemas.microsoft.com/office/drawing/2014/main" id="{94C4F2B6-7BEA-A6FD-17B0-671C005C8800}"/>
              </a:ext>
            </a:extLst>
          </p:cNvPr>
          <p:cNvSpPr/>
          <p:nvPr/>
        </p:nvSpPr>
        <p:spPr>
          <a:xfrm>
            <a:off x="914400" y="3474720"/>
            <a:ext cx="10332720" cy="731520"/>
          </a:xfrm>
          <a:prstGeom prst="rect">
            <a:avLst/>
          </a:prstGeom>
          <a:noFill/>
          <a:ln/>
        </p:spPr>
        <p:txBody>
          <a:bodyPr wrap="square" rtlCol="0" anchor="ctr"/>
          <a:lstStyle/>
          <a:p>
            <a:pPr marL="0" indent="0" algn="ctr">
              <a:buNone/>
            </a:pPr>
            <a:endParaRPr lang="en-US" sz="2000" dirty="0"/>
          </a:p>
        </p:txBody>
      </p:sp>
      <p:sp>
        <p:nvSpPr>
          <p:cNvPr id="4" name="Text 2">
            <a:extLst>
              <a:ext uri="{FF2B5EF4-FFF2-40B4-BE49-F238E27FC236}">
                <a16:creationId xmlns:a16="http://schemas.microsoft.com/office/drawing/2014/main" id="{D05C1D4D-D62C-8094-5F64-B57489016207}"/>
              </a:ext>
            </a:extLst>
          </p:cNvPr>
          <p:cNvSpPr/>
          <p:nvPr/>
        </p:nvSpPr>
        <p:spPr>
          <a:xfrm>
            <a:off x="320040" y="324923"/>
            <a:ext cx="8503920" cy="548640"/>
          </a:xfrm>
          <a:prstGeom prst="rect">
            <a:avLst/>
          </a:prstGeom>
          <a:noFill/>
          <a:ln w="19050">
            <a:solidFill>
              <a:srgbClr val="DEFF9A"/>
            </a:solidFill>
            <a:prstDash val="dash"/>
          </a:ln>
        </p:spPr>
        <p:txBody>
          <a:bodyPr wrap="square" rtlCol="0" anchor="ctr"/>
          <a:lstStyle/>
          <a:p>
            <a:pPr marL="0" indent="0" algn="ctr">
              <a:buNone/>
            </a:pPr>
            <a:endParaRPr lang="en-US" sz="2400" dirty="0">
              <a:solidFill>
                <a:schemeClr val="bg1"/>
              </a:solidFill>
            </a:endParaRPr>
          </a:p>
        </p:txBody>
      </p:sp>
      <p:sp>
        <p:nvSpPr>
          <p:cNvPr id="5" name="Shape 0">
            <a:extLst>
              <a:ext uri="{FF2B5EF4-FFF2-40B4-BE49-F238E27FC236}">
                <a16:creationId xmlns:a16="http://schemas.microsoft.com/office/drawing/2014/main" id="{6BCA8437-DD9F-EF0E-F47D-9D7F6F4DF044}"/>
              </a:ext>
            </a:extLst>
          </p:cNvPr>
          <p:cNvSpPr/>
          <p:nvPr/>
        </p:nvSpPr>
        <p:spPr>
          <a:xfrm>
            <a:off x="552845" y="339904"/>
            <a:ext cx="73152" cy="548640"/>
          </a:xfrm>
          <a:prstGeom prst="rect">
            <a:avLst/>
          </a:prstGeom>
          <a:solidFill>
            <a:srgbClr val="DEFF9A"/>
          </a:solidFill>
          <a:ln/>
        </p:spPr>
        <p:txBody>
          <a:bodyPr/>
          <a:lstStyle/>
          <a:p>
            <a:endParaRPr lang="en-IN"/>
          </a:p>
        </p:txBody>
      </p:sp>
    </p:spTree>
    <p:extLst>
      <p:ext uri="{BB962C8B-B14F-4D97-AF65-F5344CB8AC3E}">
        <p14:creationId xmlns:p14="http://schemas.microsoft.com/office/powerpoint/2010/main" val="20443775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a:extLst>
            <a:ext uri="{FF2B5EF4-FFF2-40B4-BE49-F238E27FC236}">
              <a16:creationId xmlns:a16="http://schemas.microsoft.com/office/drawing/2014/main" id="{8EE3C354-329B-7496-21E7-1B1CF0222A8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89E491F-12D8-1BF0-6937-DC8354FD69BF}"/>
              </a:ext>
            </a:extLst>
          </p:cNvPr>
          <p:cNvSpPr/>
          <p:nvPr/>
        </p:nvSpPr>
        <p:spPr>
          <a:xfrm>
            <a:off x="-420414" y="1668780"/>
            <a:ext cx="10332720" cy="1828800"/>
          </a:xfrm>
          <a:prstGeom prst="rect">
            <a:avLst/>
          </a:prstGeom>
          <a:noFill/>
          <a:ln/>
        </p:spPr>
        <p:txBody>
          <a:bodyPr wrap="square" rtlCol="0" anchor="ctr"/>
          <a:lstStyle/>
          <a:p>
            <a:pPr marL="0" indent="0" algn="ctr">
              <a:buNone/>
            </a:pPr>
            <a:endParaRPr lang="en-US" sz="4400" dirty="0"/>
          </a:p>
        </p:txBody>
      </p:sp>
      <p:sp>
        <p:nvSpPr>
          <p:cNvPr id="3" name="Text 1">
            <a:extLst>
              <a:ext uri="{FF2B5EF4-FFF2-40B4-BE49-F238E27FC236}">
                <a16:creationId xmlns:a16="http://schemas.microsoft.com/office/drawing/2014/main" id="{63C8D132-0F33-FF4F-486B-3AF0AC70B181}"/>
              </a:ext>
            </a:extLst>
          </p:cNvPr>
          <p:cNvSpPr/>
          <p:nvPr/>
        </p:nvSpPr>
        <p:spPr>
          <a:xfrm>
            <a:off x="914400" y="3474720"/>
            <a:ext cx="10332720" cy="731520"/>
          </a:xfrm>
          <a:prstGeom prst="rect">
            <a:avLst/>
          </a:prstGeom>
          <a:noFill/>
          <a:ln/>
        </p:spPr>
        <p:txBody>
          <a:bodyPr wrap="square" rtlCol="0" anchor="ctr"/>
          <a:lstStyle/>
          <a:p>
            <a:pPr marL="0" indent="0" algn="ctr">
              <a:buNone/>
            </a:pPr>
            <a:endParaRPr lang="en-US" sz="1800" dirty="0"/>
          </a:p>
        </p:txBody>
      </p:sp>
      <p:sp>
        <p:nvSpPr>
          <p:cNvPr id="4" name="Text 2">
            <a:extLst>
              <a:ext uri="{FF2B5EF4-FFF2-40B4-BE49-F238E27FC236}">
                <a16:creationId xmlns:a16="http://schemas.microsoft.com/office/drawing/2014/main" id="{EF6E96AD-2A5F-BFF8-1E81-9F8B84383FE9}"/>
              </a:ext>
            </a:extLst>
          </p:cNvPr>
          <p:cNvSpPr/>
          <p:nvPr/>
        </p:nvSpPr>
        <p:spPr>
          <a:xfrm>
            <a:off x="320040" y="4070753"/>
            <a:ext cx="8503920" cy="548640"/>
          </a:xfrm>
          <a:prstGeom prst="rect">
            <a:avLst/>
          </a:prstGeom>
          <a:solidFill>
            <a:srgbClr val="162238"/>
          </a:solidFill>
          <a:ln/>
        </p:spPr>
        <p:txBody>
          <a:bodyPr wrap="square" rtlCol="0" anchor="ctr"/>
          <a:lstStyle/>
          <a:p>
            <a:pPr marL="0" indent="0" algn="ctr">
              <a:buNone/>
            </a:pPr>
            <a:endParaRPr lang="en-US" sz="1200" dirty="0"/>
          </a:p>
          <a:p>
            <a:pPr marL="0" indent="0" algn="ctr">
              <a:buNone/>
            </a:pPr>
            <a:r>
              <a:rPr lang="en-US" sz="1200" b="1" dirty="0">
                <a:solidFill>
                  <a:srgbClr val="DEFF9A"/>
                </a:solidFill>
                <a:latin typeface="Courier New" pitchFamily="34" charset="0"/>
                <a:ea typeface="Courier New" pitchFamily="34" charset="-122"/>
                <a:cs typeface="Courier New" pitchFamily="34" charset="-120"/>
              </a:rPr>
              <a:t>                             </a:t>
            </a:r>
            <a:endParaRPr lang="en-US" sz="1200" dirty="0"/>
          </a:p>
        </p:txBody>
      </p:sp>
      <p:sp>
        <p:nvSpPr>
          <p:cNvPr id="6" name="TextBox 5">
            <a:extLst>
              <a:ext uri="{FF2B5EF4-FFF2-40B4-BE49-F238E27FC236}">
                <a16:creationId xmlns:a16="http://schemas.microsoft.com/office/drawing/2014/main" id="{D256EC90-05F9-7105-F3CF-8AE633359244}"/>
              </a:ext>
            </a:extLst>
          </p:cNvPr>
          <p:cNvSpPr txBox="1"/>
          <p:nvPr/>
        </p:nvSpPr>
        <p:spPr>
          <a:xfrm>
            <a:off x="2495086" y="2385690"/>
            <a:ext cx="5837662" cy="369332"/>
          </a:xfrm>
          <a:prstGeom prst="rect">
            <a:avLst/>
          </a:prstGeom>
          <a:noFill/>
        </p:spPr>
        <p:txBody>
          <a:bodyPr wrap="square">
            <a:spAutoFit/>
          </a:bodyPr>
          <a:lstStyle/>
          <a:p>
            <a:r>
              <a:rPr lang="en-IN" b="0" dirty="0">
                <a:effectLst/>
              </a:rPr>
              <a:t> </a:t>
            </a:r>
            <a:endParaRPr lang="en-IN" dirty="0"/>
          </a:p>
        </p:txBody>
      </p:sp>
      <p:sp>
        <p:nvSpPr>
          <p:cNvPr id="8" name="TextBox 7">
            <a:extLst>
              <a:ext uri="{FF2B5EF4-FFF2-40B4-BE49-F238E27FC236}">
                <a16:creationId xmlns:a16="http://schemas.microsoft.com/office/drawing/2014/main" id="{C54116F7-9600-ACA9-673B-735B2CF3406D}"/>
              </a:ext>
            </a:extLst>
          </p:cNvPr>
          <p:cNvSpPr txBox="1"/>
          <p:nvPr/>
        </p:nvSpPr>
        <p:spPr>
          <a:xfrm>
            <a:off x="2495086" y="2385690"/>
            <a:ext cx="5837662" cy="369332"/>
          </a:xfrm>
          <a:prstGeom prst="rect">
            <a:avLst/>
          </a:prstGeom>
          <a:noFill/>
        </p:spPr>
        <p:txBody>
          <a:bodyPr wrap="square">
            <a:spAutoFit/>
          </a:bodyPr>
          <a:lstStyle/>
          <a:p>
            <a:r>
              <a:rPr lang="en-IN" b="0" dirty="0">
                <a:effectLst/>
              </a:rPr>
              <a:t> </a:t>
            </a:r>
            <a:endParaRPr lang="en-IN" dirty="0"/>
          </a:p>
        </p:txBody>
      </p:sp>
      <p:sp>
        <p:nvSpPr>
          <p:cNvPr id="10" name="TextBox 9">
            <a:extLst>
              <a:ext uri="{FF2B5EF4-FFF2-40B4-BE49-F238E27FC236}">
                <a16:creationId xmlns:a16="http://schemas.microsoft.com/office/drawing/2014/main" id="{D647CBC2-4CB9-B438-5C5C-0837970656DF}"/>
              </a:ext>
            </a:extLst>
          </p:cNvPr>
          <p:cNvSpPr txBox="1"/>
          <p:nvPr/>
        </p:nvSpPr>
        <p:spPr>
          <a:xfrm>
            <a:off x="2495086" y="2385690"/>
            <a:ext cx="5837662" cy="369332"/>
          </a:xfrm>
          <a:prstGeom prst="rect">
            <a:avLst/>
          </a:prstGeom>
          <a:noFill/>
        </p:spPr>
        <p:txBody>
          <a:bodyPr wrap="square">
            <a:spAutoFit/>
          </a:bodyPr>
          <a:lstStyle/>
          <a:p>
            <a:r>
              <a:rPr lang="en-IN" b="0" dirty="0">
                <a:effectLst/>
              </a:rPr>
              <a:t> </a:t>
            </a:r>
            <a:endParaRPr lang="en-IN" dirty="0"/>
          </a:p>
        </p:txBody>
      </p:sp>
    </p:spTree>
    <p:extLst>
      <p:ext uri="{BB962C8B-B14F-4D97-AF65-F5344CB8AC3E}">
        <p14:creationId xmlns:p14="http://schemas.microsoft.com/office/powerpoint/2010/main" val="16551949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a:extLst>
            <a:ext uri="{FF2B5EF4-FFF2-40B4-BE49-F238E27FC236}">
              <a16:creationId xmlns:a16="http://schemas.microsoft.com/office/drawing/2014/main" id="{C6277A22-D397-7864-595F-AB65FDB4A0D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077F048-FB69-3BE7-6904-3D99109A9AE1}"/>
              </a:ext>
            </a:extLst>
          </p:cNvPr>
          <p:cNvSpPr/>
          <p:nvPr/>
        </p:nvSpPr>
        <p:spPr>
          <a:xfrm>
            <a:off x="914400" y="1645920"/>
            <a:ext cx="10332720" cy="1828800"/>
          </a:xfrm>
          <a:prstGeom prst="rect">
            <a:avLst/>
          </a:prstGeom>
          <a:noFill/>
          <a:ln/>
        </p:spPr>
        <p:txBody>
          <a:bodyPr wrap="square" rtlCol="0" anchor="ctr"/>
          <a:lstStyle/>
          <a:p>
            <a:pPr marL="0" indent="0" algn="ctr">
              <a:buNone/>
            </a:pPr>
            <a:endParaRPr lang="en-US" sz="5600" dirty="0"/>
          </a:p>
        </p:txBody>
      </p:sp>
      <p:sp>
        <p:nvSpPr>
          <p:cNvPr id="3" name="Text 1">
            <a:extLst>
              <a:ext uri="{FF2B5EF4-FFF2-40B4-BE49-F238E27FC236}">
                <a16:creationId xmlns:a16="http://schemas.microsoft.com/office/drawing/2014/main" id="{DF28E83E-CD15-1745-0D2D-D1A59B04B421}"/>
              </a:ext>
            </a:extLst>
          </p:cNvPr>
          <p:cNvSpPr/>
          <p:nvPr/>
        </p:nvSpPr>
        <p:spPr>
          <a:xfrm>
            <a:off x="914400" y="3474720"/>
            <a:ext cx="10332720" cy="731520"/>
          </a:xfrm>
          <a:prstGeom prst="rect">
            <a:avLst/>
          </a:prstGeom>
          <a:noFill/>
          <a:ln/>
        </p:spPr>
        <p:txBody>
          <a:bodyPr wrap="square" rtlCol="0" anchor="ctr"/>
          <a:lstStyle/>
          <a:p>
            <a:pPr marL="0" indent="0" algn="ctr">
              <a:buNone/>
            </a:pPr>
            <a:endParaRPr lang="en-US" sz="2000" dirty="0"/>
          </a:p>
        </p:txBody>
      </p:sp>
      <p:sp>
        <p:nvSpPr>
          <p:cNvPr id="4" name="Text 2">
            <a:extLst>
              <a:ext uri="{FF2B5EF4-FFF2-40B4-BE49-F238E27FC236}">
                <a16:creationId xmlns:a16="http://schemas.microsoft.com/office/drawing/2014/main" id="{32DFBB9B-6714-95FB-69EF-8AE36DF3DE8B}"/>
              </a:ext>
            </a:extLst>
          </p:cNvPr>
          <p:cNvSpPr/>
          <p:nvPr/>
        </p:nvSpPr>
        <p:spPr>
          <a:xfrm>
            <a:off x="399393" y="4363895"/>
            <a:ext cx="8503920" cy="548640"/>
          </a:xfrm>
          <a:prstGeom prst="rect">
            <a:avLst/>
          </a:prstGeom>
          <a:noFill/>
          <a:ln w="19050">
            <a:solidFill>
              <a:srgbClr val="DEFF9A"/>
            </a:solidFill>
            <a:prstDash val="dash"/>
          </a:ln>
        </p:spPr>
        <p:txBody>
          <a:bodyPr wrap="square" rtlCol="0" anchor="ctr"/>
          <a:lstStyle/>
          <a:p>
            <a:pPr marL="0" indent="0" algn="ctr">
              <a:buNone/>
            </a:pPr>
            <a:endParaRPr lang="en-US" sz="1100" dirty="0"/>
          </a:p>
        </p:txBody>
      </p:sp>
    </p:spTree>
    <p:extLst>
      <p:ext uri="{BB962C8B-B14F-4D97-AF65-F5344CB8AC3E}">
        <p14:creationId xmlns:p14="http://schemas.microsoft.com/office/powerpoint/2010/main" val="4105531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a:extLst>
            <a:ext uri="{FF2B5EF4-FFF2-40B4-BE49-F238E27FC236}">
              <a16:creationId xmlns:a16="http://schemas.microsoft.com/office/drawing/2014/main" id="{1AA83DD2-D3E2-A39C-E275-9C92BB76820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18C9F8F-2477-C131-7C15-D9B9C6B5C2AF}"/>
              </a:ext>
            </a:extLst>
          </p:cNvPr>
          <p:cNvSpPr/>
          <p:nvPr/>
        </p:nvSpPr>
        <p:spPr>
          <a:xfrm>
            <a:off x="914400" y="1645920"/>
            <a:ext cx="10332720" cy="1828800"/>
          </a:xfrm>
          <a:prstGeom prst="rect">
            <a:avLst/>
          </a:prstGeom>
          <a:noFill/>
          <a:ln/>
        </p:spPr>
        <p:txBody>
          <a:bodyPr wrap="square" rtlCol="0" anchor="ctr"/>
          <a:lstStyle/>
          <a:p>
            <a:pPr marL="0" indent="0" algn="ctr">
              <a:buNone/>
            </a:pPr>
            <a:endParaRPr lang="en-US" sz="5600" dirty="0"/>
          </a:p>
        </p:txBody>
      </p:sp>
      <p:sp>
        <p:nvSpPr>
          <p:cNvPr id="3" name="Text 1">
            <a:extLst>
              <a:ext uri="{FF2B5EF4-FFF2-40B4-BE49-F238E27FC236}">
                <a16:creationId xmlns:a16="http://schemas.microsoft.com/office/drawing/2014/main" id="{2A44164C-E791-87D2-2BD9-C4799E2856DF}"/>
              </a:ext>
            </a:extLst>
          </p:cNvPr>
          <p:cNvSpPr/>
          <p:nvPr/>
        </p:nvSpPr>
        <p:spPr>
          <a:xfrm>
            <a:off x="914400" y="3474720"/>
            <a:ext cx="10332720" cy="731520"/>
          </a:xfrm>
          <a:prstGeom prst="rect">
            <a:avLst/>
          </a:prstGeom>
          <a:noFill/>
          <a:ln/>
        </p:spPr>
        <p:txBody>
          <a:bodyPr wrap="square" rtlCol="0" anchor="ctr"/>
          <a:lstStyle/>
          <a:p>
            <a:pPr marL="0" indent="0" algn="ctr">
              <a:buNone/>
            </a:pPr>
            <a:endParaRPr lang="en-US" sz="2000" dirty="0"/>
          </a:p>
        </p:txBody>
      </p:sp>
      <p:sp>
        <p:nvSpPr>
          <p:cNvPr id="4" name="Text 2">
            <a:extLst>
              <a:ext uri="{FF2B5EF4-FFF2-40B4-BE49-F238E27FC236}">
                <a16:creationId xmlns:a16="http://schemas.microsoft.com/office/drawing/2014/main" id="{6B1FF6B8-ECFE-B47C-4A74-03F6D4D4A4CD}"/>
              </a:ext>
            </a:extLst>
          </p:cNvPr>
          <p:cNvSpPr/>
          <p:nvPr/>
        </p:nvSpPr>
        <p:spPr>
          <a:xfrm>
            <a:off x="399393" y="4363895"/>
            <a:ext cx="8503920" cy="548640"/>
          </a:xfrm>
          <a:prstGeom prst="rect">
            <a:avLst/>
          </a:prstGeom>
          <a:noFill/>
          <a:ln w="19050">
            <a:solidFill>
              <a:srgbClr val="DEFF9A"/>
            </a:solidFill>
            <a:prstDash val="dash"/>
          </a:ln>
        </p:spPr>
        <p:txBody>
          <a:bodyPr wrap="square" rtlCol="0" anchor="ctr"/>
          <a:lstStyle/>
          <a:p>
            <a:pPr marL="0" indent="0" algn="ctr">
              <a:buNone/>
            </a:pPr>
            <a:endParaRPr lang="en-US" sz="1100" dirty="0"/>
          </a:p>
        </p:txBody>
      </p:sp>
    </p:spTree>
    <p:extLst>
      <p:ext uri="{BB962C8B-B14F-4D97-AF65-F5344CB8AC3E}">
        <p14:creationId xmlns:p14="http://schemas.microsoft.com/office/powerpoint/2010/main" val="41273337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8456</TotalTime>
  <Words>2938</Words>
  <Application>Microsoft Office PowerPoint</Application>
  <PresentationFormat>On-screen Show (16:9)</PresentationFormat>
  <Paragraphs>408</Paragraphs>
  <Slides>42</Slides>
  <Notes>33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Calibri</vt:lpstr>
      <vt:lpstr>Courier New</vt:lpstr>
      <vt:lpstr>Trebuchet MS</vt:lpstr>
      <vt:lpstr>Urbanist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Mekala Akshay Kumar</cp:lastModifiedBy>
  <cp:revision>5</cp:revision>
  <dcterms:created xsi:type="dcterms:W3CDTF">2026-06-29T12:22:10Z</dcterms:created>
  <dcterms:modified xsi:type="dcterms:W3CDTF">2026-07-14T09:14:13Z</dcterms:modified>
</cp:coreProperties>
</file>